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5.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6.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7.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8.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charts/chart9.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ableau de bord" id="{e7ca6a5f-668b-d312-63dc-8b0625305f88}">
          <p14:sldIdLst>
            <p14:sldId id="256"/>
            <p14:sldId id="257"/>
            <p14:sldId id="258"/>
          </p14:sldIdLst>
        </p14:section>
        <p14:section name="Pauvreté · Introduction" id="{ffadac51-ed67-da5b-1c67-9027699fec28}">
          <p14:sldIdLst>
            <p14:sldId id="259"/>
            <p14:sldId id="260"/>
            <p14:sldId id="261"/>
          </p14:sldIdLst>
        </p14:section>
        <p14:section name="Pauvreté · Trois points de vue" id="{0f29993e-fe6d-8349-d016-46c476d01d4a}">
          <p14:sldIdLst>
            <p14:sldId id="262"/>
            <p14:sldId id="263"/>
            <p14:sldId id="264"/>
            <p14:sldId id="265"/>
          </p14:sldIdLst>
        </p14:section>
        <p14:section name="Pauvreté · Conclusion" id="{d9a0cfee-ae2a-568d-ccc7-5592c622b057}">
          <p14:sldIdLst>
            <p14:sldId id="266"/>
            <p14:sldId id="267"/>
          </p14:sldIdLst>
        </p14:section>
        <p14:section name="Taxe Zucman · Introduction" id="{648b684a-8e19-b881-0ff5-540abb7a3f1c}">
          <p14:sldIdLst>
            <p14:sldId id="268"/>
            <p14:sldId id="269"/>
          </p14:sldIdLst>
        </p14:section>
        <p14:section name="Taxe Zucman · Trois positions" id="{f5a41dbe-0b4c-9bae-d0e3-11bed1157f16}">
          <p14:sldIdLst>
            <p14:sldId id="270"/>
            <p14:sldId id="271"/>
            <p14:sldId id="272"/>
            <p14:sldId id="273"/>
          </p14:sldIdLst>
        </p14:section>
        <p14:section name="Taxe Zucman · Conclusion" id="{5bcfa2b6-dd9a-60a7-e41a-73670cdd0910}">
          <p14:sldIdLst>
            <p14:sldId id="274"/>
            <p14:sldId id="275"/>
          </p14:sldIdLst>
        </p14:section>
        <p14:section name="Retraites · Introduction" id="{fe791bfd-1441-3e05-427b-423de8ba9eae}">
          <p14:sldIdLst>
            <p14:sldId id="276"/>
            <p14:sldId id="277"/>
            <p14:sldId id="278"/>
          </p14:sldIdLst>
        </p14:section>
        <p14:section name="Retraites · Trois positions" id="{96726c13-e034-e3a9-f663-1b54e104e177}">
          <p14:sldIdLst>
            <p14:sldId id="279"/>
            <p14:sldId id="280"/>
            <p14:sldId id="281"/>
            <p14:sldId id="282"/>
          </p14:sldIdLst>
        </p14:section>
        <p14:section name="Retraites · Conclusion" id="{1eeed4c1-6b9b-34c9-991c-e5b0f0014edf}">
          <p14:sldIdLst>
            <p14:sldId id="283"/>
            <p14:sldId id="28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Croissance du PIB</c:v>
                </c:pt>
              </c:strCache>
            </c:strRef>
          </c:tx>
          <c:spPr>
            <a:solidFill>
              <a:srgbClr val="12805A"/>
            </a:solidFill>
            <a:effectLst/>
          </c:spPr>
          <c:invertIfNegative val="0"/>
          <c:dLbls>
            <c:numFmt formatCode="0&quot;,&quot;0&quot; %&quot;" sourceLinked="0"/>
            <c:txPr>
              <a:bodyPr/>
              <a:lstStyle/>
              <a:p>
                <a:pPr>
                  <a:defRPr b="1" i="0" strike="noStrike" sz="1200" u="none">
                    <a:solidFill>
                      <a:srgbClr val="1A1A1A"/>
                    </a:solidFill>
                    <a:latin typeface="+mn-lt"/>
                  </a:defRPr>
                </a:pPr>
              </a:p>
            </c:txPr>
            <c:showLegendKey val="0"/>
            <c:showVal val="1"/>
            <c:showCatName val="0"/>
            <c:showSerName val="0"/>
            <c:showPercent val="0"/>
            <c:showBubbleSize val="0"/>
            <c:showLeaderLines val="0"/>
          </c:dLbls>
          <c:dPt>
            <c:idx val="0"/>
            <c:invertIfNegative val="0"/>
            <c:bubble3D val="0"/>
            <c:spPr>
              <a:solidFill>
                <a:srgbClr val="12805A"/>
              </a:solidFill>
              <a:effectLst/>
            </c:spPr>
          </c:dPt>
          <c:dPt>
            <c:idx val="1"/>
            <c:invertIfNegative val="0"/>
            <c:bubble3D val="0"/>
            <c:spPr>
              <a:solidFill>
                <a:srgbClr val="C9C8C2"/>
              </a:solidFill>
              <a:effectLst/>
            </c:spPr>
          </c:dPt>
          <c:dPt>
            <c:idx val="2"/>
            <c:invertIfNegative val="0"/>
            <c:bubble3D val="0"/>
            <c:spPr>
              <a:solidFill>
                <a:srgbClr val="1F2A44"/>
              </a:solidFill>
              <a:effectLst/>
            </c:spPr>
          </c:dPt>
          <c:cat>
            <c:multiLvlStrRef>
              <c:f>Sheet1!$A$2:$A$4</c:f>
              <c:multiLvlStrCache>
                <c:ptCount val="3"/>
                <c:lvl>
                  <c:pt idx="0">
                    <c:v>Potentiel</c:v>
                  </c:pt>
                  <c:pt idx="1">
                    <c:v>2025</c:v>
                  </c:pt>
                  <c:pt idx="2">
                    <c:v>2026 (prév.)</c:v>
                  </c:pt>
                </c:lvl>
              </c:multiLvlStrCache>
            </c:multiLvlStrRef>
          </c:cat>
          <c:val>
            <c:numRef>
              <c:f>Sheet1!$B$2:$B$4</c:f>
              <c:numCache>
                <c:formatCode>General</c:formatCode>
                <c:ptCount val="3"/>
                <c:pt idx="0">
                  <c:v>12</c:v>
                </c:pt>
                <c:pt idx="1">
                  <c:v>8</c:v>
                </c:pt>
                <c:pt idx="2">
                  <c:v>4</c:v>
                </c:pt>
              </c:numCache>
            </c:numRef>
          </c:val>
        </c:ser>
        <c:dLbls>
          <c:numFmt formatCode="0&quot;,&quot;0&quot; %&quot;" sourceLinked="0"/>
          <c:txPr>
            <a:bodyPr/>
            <a:lstStyle/>
            <a:p>
              <a:pPr>
                <a:defRPr b="1" i="0" strike="noStrike" sz="1200" u="none">
                  <a:solidFill>
                    <a:srgbClr val="1A1A1A"/>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9C8C2"/>
            </a:solidFill>
            <a:prstDash val="solid"/>
            <a:round/>
          </a:ln>
        </c:spPr>
        <c:txPr>
          <a:bodyPr/>
          <a:lstStyle/>
          <a:p>
            <a:pPr>
              <a:defRPr sz="900" b="0" i="0" u="none" strike="noStrike">
                <a:solidFill>
                  <a:srgbClr val="5A5955"/>
                </a:solidFill>
                <a:latin typeface="+mn-lt"/>
              </a:defRPr>
            </a:pPr>
            <a:endParaRPr lang="en-US"/>
          </a:p>
        </c:txPr>
        <c:crossAx val="2094734552"/>
        <c:crosses val="autoZero"/>
        <c:auto val="1"/>
        <c:lblAlgn val="ctr"/>
        <c:noMultiLvlLbl val="1"/>
      </c:catAx>
      <c:valAx>
        <c:axId val="2094734552"/>
        <c:scaling>
          <c:orientation val="minMax"/>
          <c:max val="15"/>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A595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Plein emploi (chômage)</c:v>
                </c:pt>
              </c:strCache>
            </c:strRef>
          </c:tx>
          <c:spPr>
            <a:solidFill>
              <a:srgbClr val="12805A"/>
            </a:solidFill>
            <a:effectLst/>
          </c:spPr>
          <c:invertIfNegative val="0"/>
          <c:dLbls>
            <c:numFmt formatCode="0&quot;,&quot;0&quot; %&quot;" sourceLinked="0"/>
            <c:txPr>
              <a:bodyPr/>
              <a:lstStyle/>
              <a:p>
                <a:pPr>
                  <a:defRPr b="1" i="0" strike="noStrike" sz="1200" u="none">
                    <a:solidFill>
                      <a:srgbClr val="1A1A1A"/>
                    </a:solidFill>
                    <a:latin typeface="+mn-lt"/>
                  </a:defRPr>
                </a:pPr>
              </a:p>
            </c:txPr>
            <c:showLegendKey val="0"/>
            <c:showVal val="1"/>
            <c:showCatName val="0"/>
            <c:showSerName val="0"/>
            <c:showPercent val="0"/>
            <c:showBubbleSize val="0"/>
            <c:showLeaderLines val="0"/>
          </c:dLbls>
          <c:dPt>
            <c:idx val="0"/>
            <c:invertIfNegative val="0"/>
            <c:bubble3D val="0"/>
            <c:spPr>
              <a:solidFill>
                <a:srgbClr val="12805A"/>
              </a:solidFill>
              <a:effectLst/>
            </c:spPr>
          </c:dPt>
          <c:dPt>
            <c:idx val="1"/>
            <c:invertIfNegative val="0"/>
            <c:bubble3D val="0"/>
            <c:spPr>
              <a:solidFill>
                <a:srgbClr val="C9C8C2"/>
              </a:solidFill>
              <a:effectLst/>
            </c:spPr>
          </c:dPt>
          <c:dPt>
            <c:idx val="2"/>
            <c:invertIfNegative val="0"/>
            <c:bubble3D val="0"/>
            <c:spPr>
              <a:solidFill>
                <a:srgbClr val="1F2A44"/>
              </a:solidFill>
              <a:effectLst/>
            </c:spPr>
          </c:dPt>
          <c:cat>
            <c:multiLvlStrRef>
              <c:f>Sheet1!$A$2:$A$4</c:f>
              <c:multiLvlStrCache>
                <c:ptCount val="3"/>
                <c:lvl>
                  <c:pt idx="0">
                    <c:v>Structurel</c:v>
                  </c:pt>
                  <c:pt idx="1">
                    <c:v>T2 2025</c:v>
                  </c:pt>
                  <c:pt idx="2">
                    <c:v>T2 2026</c:v>
                  </c:pt>
                </c:lvl>
              </c:multiLvlStrCache>
            </c:multiLvlStrRef>
          </c:cat>
          <c:val>
            <c:numRef>
              <c:f>Sheet1!$B$2:$B$4</c:f>
              <c:numCache>
                <c:formatCode>General</c:formatCode>
                <c:ptCount val="3"/>
                <c:pt idx="0">
                  <c:v>78</c:v>
                </c:pt>
                <c:pt idx="1">
                  <c:v>76</c:v>
                </c:pt>
                <c:pt idx="2">
                  <c:v>83</c:v>
                </c:pt>
              </c:numCache>
            </c:numRef>
          </c:val>
        </c:ser>
        <c:dLbls>
          <c:numFmt formatCode="0&quot;,&quot;0&quot; %&quot;" sourceLinked="0"/>
          <c:txPr>
            <a:bodyPr/>
            <a:lstStyle/>
            <a:p>
              <a:pPr>
                <a:defRPr b="1" i="0" strike="noStrike" sz="1200" u="none">
                  <a:solidFill>
                    <a:srgbClr val="1A1A1A"/>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9C8C2"/>
            </a:solidFill>
            <a:prstDash val="solid"/>
            <a:round/>
          </a:ln>
        </c:spPr>
        <c:txPr>
          <a:bodyPr/>
          <a:lstStyle/>
          <a:p>
            <a:pPr>
              <a:defRPr sz="900" b="0" i="0" u="none" strike="noStrike">
                <a:solidFill>
                  <a:srgbClr val="5A5955"/>
                </a:solidFill>
                <a:latin typeface="+mn-lt"/>
              </a:defRPr>
            </a:pPr>
            <a:endParaRPr lang="en-US"/>
          </a:p>
        </c:txPr>
        <c:crossAx val="2094734552"/>
        <c:crosses val="autoZero"/>
        <c:auto val="1"/>
        <c:lblAlgn val="ctr"/>
        <c:noMultiLvlLbl val="1"/>
      </c:catAx>
      <c:valAx>
        <c:axId val="2094734552"/>
        <c:scaling>
          <c:orientation val="minMax"/>
          <c:max val="10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A595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Stabilité des prix (inflation)</c:v>
                </c:pt>
              </c:strCache>
            </c:strRef>
          </c:tx>
          <c:spPr>
            <a:solidFill>
              <a:srgbClr val="12805A"/>
            </a:solidFill>
            <a:effectLst/>
          </c:spPr>
          <c:invertIfNegative val="0"/>
          <c:dLbls>
            <c:numFmt formatCode="0&quot;,&quot;0&quot; %&quot;" sourceLinked="0"/>
            <c:txPr>
              <a:bodyPr/>
              <a:lstStyle/>
              <a:p>
                <a:pPr>
                  <a:defRPr b="1" i="0" strike="noStrike" sz="1200" u="none">
                    <a:solidFill>
                      <a:srgbClr val="1A1A1A"/>
                    </a:solidFill>
                    <a:latin typeface="+mn-lt"/>
                  </a:defRPr>
                </a:pPr>
              </a:p>
            </c:txPr>
            <c:showLegendKey val="0"/>
            <c:showVal val="1"/>
            <c:showCatName val="0"/>
            <c:showSerName val="0"/>
            <c:showPercent val="0"/>
            <c:showBubbleSize val="0"/>
            <c:showLeaderLines val="0"/>
          </c:dLbls>
          <c:dPt>
            <c:idx val="0"/>
            <c:invertIfNegative val="0"/>
            <c:bubble3D val="0"/>
            <c:spPr>
              <a:solidFill>
                <a:srgbClr val="12805A"/>
              </a:solidFill>
              <a:effectLst/>
            </c:spPr>
          </c:dPt>
          <c:dPt>
            <c:idx val="1"/>
            <c:invertIfNegative val="0"/>
            <c:bubble3D val="0"/>
            <c:spPr>
              <a:solidFill>
                <a:srgbClr val="C9C8C2"/>
              </a:solidFill>
              <a:effectLst/>
            </c:spPr>
          </c:dPt>
          <c:dPt>
            <c:idx val="2"/>
            <c:invertIfNegative val="0"/>
            <c:bubble3D val="0"/>
            <c:spPr>
              <a:solidFill>
                <a:srgbClr val="1F2A44"/>
              </a:solidFill>
              <a:effectLst/>
            </c:spPr>
          </c:dPt>
          <c:cat>
            <c:multiLvlStrRef>
              <c:f>Sheet1!$A$2:$A$4</c:f>
              <c:multiLvlStrCache>
                <c:ptCount val="3"/>
                <c:lvl>
                  <c:pt idx="0">
                    <c:v>Cible BCE</c:v>
                  </c:pt>
                  <c:pt idx="1">
                    <c:v>Sept. 2025</c:v>
                  </c:pt>
                  <c:pt idx="2">
                    <c:v>Sept. 2026</c:v>
                  </c:pt>
                </c:lvl>
              </c:multiLvlStrCache>
            </c:multiLvlStrRef>
          </c:cat>
          <c:val>
            <c:numRef>
              <c:f>Sheet1!$B$2:$B$4</c:f>
              <c:numCache>
                <c:formatCode>General</c:formatCode>
                <c:ptCount val="3"/>
                <c:pt idx="0">
                  <c:v>20</c:v>
                </c:pt>
                <c:pt idx="1">
                  <c:v>12</c:v>
                </c:pt>
                <c:pt idx="2">
                  <c:v>31</c:v>
                </c:pt>
              </c:numCache>
            </c:numRef>
          </c:val>
        </c:ser>
        <c:dLbls>
          <c:numFmt formatCode="0&quot;,&quot;0&quot; %&quot;" sourceLinked="0"/>
          <c:txPr>
            <a:bodyPr/>
            <a:lstStyle/>
            <a:p>
              <a:pPr>
                <a:defRPr b="1" i="0" strike="noStrike" sz="1200" u="none">
                  <a:solidFill>
                    <a:srgbClr val="1A1A1A"/>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9C8C2"/>
            </a:solidFill>
            <a:prstDash val="solid"/>
            <a:round/>
          </a:ln>
        </c:spPr>
        <c:txPr>
          <a:bodyPr/>
          <a:lstStyle/>
          <a:p>
            <a:pPr>
              <a:defRPr sz="900" b="0" i="0" u="none" strike="noStrike">
                <a:solidFill>
                  <a:srgbClr val="5A5955"/>
                </a:solidFill>
                <a:latin typeface="+mn-lt"/>
              </a:defRPr>
            </a:pPr>
            <a:endParaRPr lang="en-US"/>
          </a:p>
        </c:txPr>
        <c:crossAx val="2094734552"/>
        <c:crosses val="autoZero"/>
        <c:auto val="1"/>
        <c:lblAlgn val="ctr"/>
        <c:noMultiLvlLbl val="1"/>
      </c:catAx>
      <c:valAx>
        <c:axId val="2094734552"/>
        <c:scaling>
          <c:orientation val="minMax"/>
          <c:max val="36"/>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A595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Équilibre extérieur (balance courante)</c:v>
                </c:pt>
              </c:strCache>
            </c:strRef>
          </c:tx>
          <c:spPr>
            <a:solidFill>
              <a:srgbClr val="12805A"/>
            </a:solidFill>
            <a:effectLst/>
          </c:spPr>
          <c:invertIfNegative val="0"/>
          <c:dLbls>
            <c:numFmt formatCode="[=0]&quot;0&quot;;&quot;− &quot;0" sourceLinked="0"/>
            <c:txPr>
              <a:bodyPr/>
              <a:lstStyle/>
              <a:p>
                <a:pPr>
                  <a:defRPr b="1" i="0" strike="noStrike" sz="1200" u="none">
                    <a:solidFill>
                      <a:srgbClr val="1A1A1A"/>
                    </a:solidFill>
                    <a:latin typeface="+mn-lt"/>
                  </a:defRPr>
                </a:pPr>
              </a:p>
            </c:txPr>
            <c:showLegendKey val="0"/>
            <c:showVal val="1"/>
            <c:showCatName val="0"/>
            <c:showSerName val="0"/>
            <c:showPercent val="0"/>
            <c:showBubbleSize val="0"/>
            <c:showLeaderLines val="0"/>
          </c:dLbls>
          <c:dPt>
            <c:idx val="0"/>
            <c:invertIfNegative val="0"/>
            <c:bubble3D val="0"/>
            <c:spPr>
              <a:solidFill>
                <a:srgbClr val="12805A"/>
              </a:solidFill>
              <a:effectLst/>
            </c:spPr>
          </c:dPt>
          <c:dPt>
            <c:idx val="1"/>
            <c:invertIfNegative val="0"/>
            <c:bubble3D val="0"/>
            <c:spPr>
              <a:solidFill>
                <a:srgbClr val="C9C8C2"/>
              </a:solidFill>
              <a:effectLst/>
            </c:spPr>
          </c:dPt>
          <c:dPt>
            <c:idx val="2"/>
            <c:invertIfNegative val="0"/>
            <c:bubble3D val="0"/>
            <c:spPr>
              <a:solidFill>
                <a:srgbClr val="1F2A44"/>
              </a:solidFill>
              <a:effectLst/>
            </c:spPr>
          </c:dPt>
          <c:cat>
            <c:multiLvlStrRef>
              <c:f>Sheet1!$A$2:$A$4</c:f>
              <c:multiLvlStrCache>
                <c:ptCount val="3"/>
                <c:lvl>
                  <c:pt idx="0">
                    <c:v>Équilibre</c:v>
                  </c:pt>
                  <c:pt idx="1">
                    <c:v>1 an avant</c:v>
                  </c:pt>
                  <c:pt idx="2">
                    <c:v>12 mois à août 26</c:v>
                  </c:pt>
                </c:lvl>
              </c:multiLvlStrCache>
            </c:multiLvlStrRef>
          </c:cat>
          <c:val>
            <c:numRef>
              <c:f>Sheet1!$B$2:$B$4</c:f>
              <c:numCache>
                <c:formatCode>General</c:formatCode>
                <c:ptCount val="3"/>
                <c:pt idx="0">
                  <c:v>0</c:v>
                </c:pt>
                <c:pt idx="1">
                  <c:v>17</c:v>
                </c:pt>
                <c:pt idx="2">
                  <c:v>10</c:v>
                </c:pt>
              </c:numCache>
            </c:numRef>
          </c:val>
        </c:ser>
        <c:dLbls>
          <c:numFmt formatCode="[=0]&quot;0&quot;;&quot;− &quot;0" sourceLinked="0"/>
          <c:txPr>
            <a:bodyPr/>
            <a:lstStyle/>
            <a:p>
              <a:pPr>
                <a:defRPr b="1" i="0" strike="noStrike" sz="1200" u="none">
                  <a:solidFill>
                    <a:srgbClr val="1A1A1A"/>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9C8C2"/>
            </a:solidFill>
            <a:prstDash val="solid"/>
            <a:round/>
          </a:ln>
        </c:spPr>
        <c:txPr>
          <a:bodyPr/>
          <a:lstStyle/>
          <a:p>
            <a:pPr>
              <a:defRPr sz="900" b="0" i="0" u="none" strike="noStrike">
                <a:solidFill>
                  <a:srgbClr val="5A5955"/>
                </a:solidFill>
                <a:latin typeface="+mn-lt"/>
              </a:defRPr>
            </a:pPr>
            <a:endParaRPr lang="en-US"/>
          </a:p>
        </c:txPr>
        <c:crossAx val="2094734552"/>
        <c:crosses val="autoZero"/>
        <c:auto val="1"/>
        <c:lblAlgn val="ctr"/>
        <c:noMultiLvlLbl val="1"/>
      </c:catAx>
      <c:valAx>
        <c:axId val="2094734552"/>
        <c:scaling>
          <c:orientation val="minMax"/>
          <c:max val="22"/>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A595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5A5955"/>
                </a:solidFill>
                <a:latin typeface="+mn-lt"/>
              </a:defRPr>
            </a:pPr>
            <a:r>
              <a:rPr sz="1400" b="0" i="0" u="none" strike="noStrike">
                <a:solidFill>
                  <a:srgbClr val="5A5955"/>
                </a:solidFill>
                <a:latin typeface="+mn-lt"/>
              </a:rPr>
              <a:t>Taux de pauvreté en France (en % de la population)</a:t>
            </a:r>
          </a:p>
        </c:rich>
      </c:tx>
      <c:layout/>
      <c:overlay val="0"/>
    </c:title>
    <c:autoTitleDeleted val="0"/>
    <c:plotArea>
      <c:layout/>
      <c:barChart>
        <c:barDir val="col"/>
        <c:grouping val="clustered"/>
        <c:varyColors val="0"/>
        <c:ser>
          <c:idx val="0"/>
          <c:order val="0"/>
          <c:tx>
            <c:strRef>
              <c:f>Sheet1!$B$1</c:f>
              <c:strCache>
                <c:ptCount val="1"/>
                <c:pt idx="0">
                  <c:v>Taux de pauvreté</c:v>
                </c:pt>
              </c:strCache>
            </c:strRef>
          </c:tx>
          <c:spPr>
            <a:solidFill>
              <a:srgbClr val="C9C8C2"/>
            </a:solidFill>
            <a:effectLst/>
          </c:spPr>
          <c:invertIfNegative val="0"/>
          <c:dLbls>
            <c:numFmt formatCode="0&quot;,&quot;0&quot; %&quot;" sourceLinked="0"/>
            <c:txPr>
              <a:bodyPr/>
              <a:lstStyle/>
              <a:p>
                <a:pPr>
                  <a:defRPr b="1" i="0" strike="noStrike" sz="1600" u="none">
                    <a:solidFill>
                      <a:srgbClr val="1A1A1A"/>
                    </a:solidFill>
                    <a:latin typeface="+mn-lt"/>
                  </a:defRPr>
                </a:pPr>
              </a:p>
            </c:txPr>
            <c:showLegendKey val="0"/>
            <c:showVal val="1"/>
            <c:showCatName val="0"/>
            <c:showSerName val="0"/>
            <c:showPercent val="0"/>
            <c:showBubbleSize val="0"/>
            <c:showLeaderLines val="0"/>
          </c:dLbls>
          <c:dPt>
            <c:idx val="0"/>
            <c:invertIfNegative val="0"/>
            <c:bubble3D val="0"/>
            <c:spPr>
              <a:solidFill>
                <a:srgbClr val="C9C8C2"/>
              </a:solidFill>
              <a:effectLst/>
            </c:spPr>
          </c:dPt>
          <c:dPt>
            <c:idx val="1"/>
            <c:invertIfNegative val="0"/>
            <c:bubble3D val="0"/>
            <c:spPr>
              <a:solidFill>
                <a:srgbClr val="C9C8C2"/>
              </a:solidFill>
              <a:effectLst/>
            </c:spPr>
          </c:dPt>
          <c:dPt>
            <c:idx val="2"/>
            <c:invertIfNegative val="0"/>
            <c:bubble3D val="0"/>
            <c:spPr>
              <a:solidFill>
                <a:srgbClr val="1F2A44"/>
              </a:solidFill>
              <a:effectLst/>
            </c:spPr>
          </c:dPt>
          <c:cat>
            <c:multiLvlStrRef>
              <c:f>Sheet1!$A$2:$A$4</c:f>
              <c:multiLvlStrCache>
                <c:ptCount val="3"/>
                <c:lvl>
                  <c:pt idx="0">
                    <c:v>2017</c:v>
                  </c:pt>
                  <c:pt idx="1">
                    <c:v>2022</c:v>
                  </c:pt>
                  <c:pt idx="2">
                    <c:v>2023</c:v>
                  </c:pt>
                </c:lvl>
              </c:multiLvlStrCache>
            </c:multiLvlStrRef>
          </c:cat>
          <c:val>
            <c:numRef>
              <c:f>Sheet1!$B$2:$B$4</c:f>
              <c:numCache>
                <c:formatCode>General</c:formatCode>
                <c:ptCount val="3"/>
                <c:pt idx="0">
                  <c:v>138</c:v>
                </c:pt>
                <c:pt idx="1">
                  <c:v>144</c:v>
                </c:pt>
                <c:pt idx="2">
                  <c:v>154</c:v>
                </c:pt>
              </c:numCache>
            </c:numRef>
          </c:val>
        </c:ser>
        <c:dLbls>
          <c:numFmt formatCode="0&quot;,&quot;0&quot; %&quot;" sourceLinked="0"/>
          <c:txPr>
            <a:bodyPr/>
            <a:lstStyle/>
            <a:p>
              <a:pPr>
                <a:defRPr b="1" i="0" strike="noStrike" sz="1600" u="none">
                  <a:solidFill>
                    <a:srgbClr val="1A1A1A"/>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9C8C2"/>
            </a:solidFill>
            <a:prstDash val="solid"/>
            <a:round/>
          </a:ln>
        </c:spPr>
        <c:txPr>
          <a:bodyPr/>
          <a:lstStyle/>
          <a:p>
            <a:pPr>
              <a:defRPr sz="1400" b="0" i="0" u="none" strike="noStrike">
                <a:solidFill>
                  <a:srgbClr val="5A5955"/>
                </a:solidFill>
                <a:latin typeface="+mn-lt"/>
              </a:defRPr>
            </a:pPr>
            <a:endParaRPr lang="en-US"/>
          </a:p>
        </c:txPr>
        <c:crossAx val="2094734552"/>
        <c:crosses val="autoZero"/>
        <c:auto val="1"/>
        <c:lblAlgn val="ctr"/>
        <c:noMultiLvlLbl val="1"/>
      </c:catAx>
      <c:valAx>
        <c:axId val="2094734552"/>
        <c:scaling>
          <c:orientation val="minMax"/>
          <c:max val="18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A595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5A5955"/>
                </a:solidFill>
                <a:latin typeface="+mn-lt"/>
              </a:defRPr>
            </a:pPr>
            <a:r>
              <a:rPr sz="1400" b="0" i="0" u="none" strike="noStrike">
                <a:solidFill>
                  <a:srgbClr val="5A5955"/>
                </a:solidFill>
                <a:latin typeface="+mn-lt"/>
              </a:rPr>
              <a:t>Taux de pauvreté par catégorie en 2023 (%)</a:t>
            </a:r>
          </a:p>
        </c:rich>
      </c:tx>
      <c:layout/>
      <c:overlay val="0"/>
    </c:title>
    <c:autoTitleDeleted val="0"/>
    <c:plotArea>
      <c:layout/>
      <c:barChart>
        <c:barDir val="bar"/>
        <c:grouping val="clustered"/>
        <c:varyColors val="0"/>
        <c:ser>
          <c:idx val="0"/>
          <c:order val="0"/>
          <c:tx>
            <c:strRef>
              <c:f>Sheet1!$B$1</c:f>
              <c:strCache>
                <c:ptCount val="1"/>
                <c:pt idx="0">
                  <c:v>Taux de pauvreté</c:v>
                </c:pt>
              </c:strCache>
            </c:strRef>
          </c:tx>
          <c:spPr>
            <a:solidFill>
              <a:srgbClr val="C9C8C2"/>
            </a:solidFill>
            <a:effectLst/>
          </c:spPr>
          <c:invertIfNegative val="0"/>
          <c:dLbls>
            <c:numFmt formatCode="0&quot;,&quot;0&quot; %&quot;" sourceLinked="0"/>
            <c:txPr>
              <a:bodyPr/>
              <a:lstStyle/>
              <a:p>
                <a:pPr>
                  <a:defRPr b="1" i="0" strike="noStrike" sz="1600" u="none">
                    <a:solidFill>
                      <a:srgbClr val="1A1A1A"/>
                    </a:solidFill>
                    <a:latin typeface="+mn-lt"/>
                  </a:defRPr>
                </a:pPr>
              </a:p>
            </c:txPr>
            <c:showLegendKey val="0"/>
            <c:showVal val="1"/>
            <c:showCatName val="0"/>
            <c:showSerName val="0"/>
            <c:showPercent val="0"/>
            <c:showBubbleSize val="0"/>
            <c:showLeaderLines val="0"/>
          </c:dLbls>
          <c:dPt>
            <c:idx val="0"/>
            <c:invertIfNegative val="0"/>
            <c:bubble3D val="0"/>
            <c:spPr>
              <a:solidFill>
                <a:srgbClr val="C9C8C2"/>
              </a:solidFill>
              <a:effectLst/>
            </c:spPr>
          </c:dPt>
          <c:dPt>
            <c:idx val="1"/>
            <c:invertIfNegative val="0"/>
            <c:bubble3D val="0"/>
            <c:spPr>
              <a:solidFill>
                <a:srgbClr val="1F2A44"/>
              </a:solidFill>
              <a:effectLst/>
            </c:spPr>
          </c:dPt>
          <c:dPt>
            <c:idx val="2"/>
            <c:invertIfNegative val="0"/>
            <c:bubble3D val="0"/>
            <c:spPr>
              <a:solidFill>
                <a:srgbClr val="1F2A44"/>
              </a:solidFill>
              <a:effectLst/>
            </c:spPr>
          </c:dPt>
          <c:dPt>
            <c:idx val="3"/>
            <c:invertIfNegative val="0"/>
            <c:bubble3D val="0"/>
            <c:spPr>
              <a:solidFill>
                <a:srgbClr val="1F2A44"/>
              </a:solidFill>
              <a:effectLst/>
            </c:spPr>
          </c:dPt>
          <c:dPt>
            <c:idx val="4"/>
            <c:invertIfNegative val="0"/>
            <c:bubble3D val="0"/>
            <c:spPr>
              <a:solidFill>
                <a:srgbClr val="1F2A44"/>
              </a:solidFill>
              <a:effectLst/>
            </c:spPr>
          </c:dPt>
          <c:cat>
            <c:multiLvlStrRef>
              <c:f>Sheet1!$A$2:$A$6</c:f>
              <c:multiLvlStrCache>
                <c:ptCount val="5"/>
                <c:lvl>
                  <c:pt idx="0">
                    <c:v>Ensemble de la population</c:v>
                  </c:pt>
                  <c:pt idx="1">
                    <c:v>Indépendants</c:v>
                  </c:pt>
                  <c:pt idx="2">
                    <c:v>Familles monoparentales</c:v>
                  </c:pt>
                  <c:pt idx="3">
                    <c:v>Chômeurs</c:v>
                  </c:pt>
                  <c:pt idx="4">
                    <c:v>Autres inactifs (dont étudiants)</c:v>
                  </c:pt>
                </c:lvl>
              </c:multiLvlStrCache>
            </c:multiLvlStrRef>
          </c:cat>
          <c:val>
            <c:numRef>
              <c:f>Sheet1!$B$2:$B$6</c:f>
              <c:numCache>
                <c:formatCode>General</c:formatCode>
                <c:ptCount val="5"/>
                <c:pt idx="0">
                  <c:v>154</c:v>
                </c:pt>
                <c:pt idx="1">
                  <c:v>192</c:v>
                </c:pt>
                <c:pt idx="2">
                  <c:v>343</c:v>
                </c:pt>
                <c:pt idx="3">
                  <c:v>361</c:v>
                </c:pt>
                <c:pt idx="4">
                  <c:v>373</c:v>
                </c:pt>
              </c:numCache>
            </c:numRef>
          </c:val>
        </c:ser>
        <c:dLbls>
          <c:numFmt formatCode="0&quot;,&quot;0&quot; %&quot;" sourceLinked="0"/>
          <c:txPr>
            <a:bodyPr/>
            <a:lstStyle/>
            <a:p>
              <a:pPr>
                <a:defRPr b="1" i="0" strike="noStrike" sz="1600" u="none">
                  <a:solidFill>
                    <a:srgbClr val="1A1A1A"/>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C9C8C2"/>
            </a:solidFill>
            <a:prstDash val="solid"/>
            <a:round/>
          </a:ln>
        </c:spPr>
        <c:txPr>
          <a:bodyPr/>
          <a:lstStyle/>
          <a:p>
            <a:pPr>
              <a:defRPr sz="1400" b="0" i="0" u="none" strike="noStrike">
                <a:solidFill>
                  <a:srgbClr val="5A5955"/>
                </a:solidFill>
                <a:latin typeface="+mn-lt"/>
              </a:defRPr>
            </a:pPr>
            <a:endParaRPr lang="en-US"/>
          </a:p>
        </c:txPr>
        <c:crossAx val="2094734552"/>
        <c:crosses val="autoZero"/>
        <c:auto val="1"/>
        <c:lblAlgn val="ctr"/>
        <c:noMultiLvlLbl val="1"/>
      </c:catAx>
      <c:valAx>
        <c:axId val="2094734552"/>
        <c:scaling>
          <c:orientation val="minMax"/>
          <c:max val="45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5A595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5A5955"/>
                </a:solidFill>
                <a:latin typeface="+mn-lt"/>
              </a:defRPr>
            </a:pPr>
            <a:r>
              <a:rPr sz="1400" b="0" i="0" u="none" strike="noStrike">
                <a:solidFill>
                  <a:srgbClr val="5A5955"/>
                </a:solidFill>
                <a:latin typeface="+mn-lt"/>
              </a:rPr>
              <a:t>Population mondiale vivant avec moins de 1,90 $ par jour (%)</a:t>
            </a:r>
          </a:p>
        </c:rich>
      </c:tx>
      <c:layout/>
      <c:overlay val="0"/>
    </c:title>
    <c:autoTitleDeleted val="0"/>
    <c:plotArea>
      <c:layout/>
      <c:barChart>
        <c:barDir val="col"/>
        <c:grouping val="clustered"/>
        <c:varyColors val="0"/>
        <c:ser>
          <c:idx val="0"/>
          <c:order val="0"/>
          <c:tx>
            <c:strRef>
              <c:f>Sheet1!$B$1</c:f>
              <c:strCache>
                <c:ptCount val="1"/>
                <c:pt idx="0">
                  <c:v>Pauvreté extrême</c:v>
                </c:pt>
              </c:strCache>
            </c:strRef>
          </c:tx>
          <c:spPr>
            <a:solidFill>
              <a:srgbClr val="C9C8C2"/>
            </a:solidFill>
            <a:effectLst/>
          </c:spPr>
          <c:invertIfNegative val="0"/>
          <c:dLbls>
            <c:numFmt formatCode="0&quot; %&quot;" sourceLinked="0"/>
            <c:txPr>
              <a:bodyPr/>
              <a:lstStyle/>
              <a:p>
                <a:pPr>
                  <a:defRPr b="1" i="0" strike="noStrike" sz="2200" u="none">
                    <a:solidFill>
                      <a:srgbClr val="1A1A1A"/>
                    </a:solidFill>
                    <a:latin typeface="+mn-lt"/>
                  </a:defRPr>
                </a:pPr>
              </a:p>
            </c:txPr>
            <c:showLegendKey val="0"/>
            <c:showVal val="1"/>
            <c:showCatName val="0"/>
            <c:showSerName val="0"/>
            <c:showPercent val="0"/>
            <c:showBubbleSize val="0"/>
            <c:showLeaderLines val="0"/>
          </c:dLbls>
          <c:dPt>
            <c:idx val="0"/>
            <c:invertIfNegative val="0"/>
            <c:bubble3D val="0"/>
            <c:spPr>
              <a:solidFill>
                <a:srgbClr val="C9C8C2"/>
              </a:solidFill>
              <a:effectLst/>
            </c:spPr>
          </c:dPt>
          <c:dPt>
            <c:idx val="1"/>
            <c:invertIfNegative val="0"/>
            <c:bubble3D val="0"/>
            <c:spPr>
              <a:solidFill>
                <a:srgbClr val="C8541F"/>
              </a:solidFill>
              <a:effectLst/>
            </c:spPr>
          </c:dPt>
          <c:cat>
            <c:multiLvlStrRef>
              <c:f>Sheet1!$A$2:$A$3</c:f>
              <c:multiLvlStrCache>
                <c:ptCount val="2"/>
                <c:lvl>
                  <c:pt idx="0">
                    <c:v>1990</c:v>
                  </c:pt>
                  <c:pt idx="1">
                    <c:v>2015</c:v>
                  </c:pt>
                </c:lvl>
              </c:multiLvlStrCache>
            </c:multiLvlStrRef>
          </c:cat>
          <c:val>
            <c:numRef>
              <c:f>Sheet1!$B$2:$B$3</c:f>
              <c:numCache>
                <c:formatCode>General</c:formatCode>
                <c:ptCount val="2"/>
                <c:pt idx="0">
                  <c:v>36</c:v>
                </c:pt>
                <c:pt idx="1">
                  <c:v>10</c:v>
                </c:pt>
              </c:numCache>
            </c:numRef>
          </c:val>
        </c:ser>
        <c:dLbls>
          <c:numFmt formatCode="0&quot; %&quot;" sourceLinked="0"/>
          <c:txPr>
            <a:bodyPr/>
            <a:lstStyle/>
            <a:p>
              <a:pPr>
                <a:defRPr b="1" i="0" strike="noStrike" sz="2200" u="none">
                  <a:solidFill>
                    <a:srgbClr val="1A1A1A"/>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9C8C2"/>
            </a:solidFill>
            <a:prstDash val="solid"/>
            <a:round/>
          </a:ln>
        </c:spPr>
        <c:txPr>
          <a:bodyPr/>
          <a:lstStyle/>
          <a:p>
            <a:pPr>
              <a:defRPr sz="1400" b="0" i="0" u="none" strike="noStrike">
                <a:solidFill>
                  <a:srgbClr val="5A5955"/>
                </a:solidFill>
                <a:latin typeface="+mn-lt"/>
              </a:defRPr>
            </a:pPr>
            <a:endParaRPr lang="en-US"/>
          </a:p>
        </c:txPr>
        <c:crossAx val="2094734552"/>
        <c:crosses val="autoZero"/>
        <c:auto val="1"/>
        <c:lblAlgn val="ctr"/>
        <c:noMultiLvlLbl val="1"/>
      </c:catAx>
      <c:valAx>
        <c:axId val="2094734552"/>
        <c:scaling>
          <c:orientation val="minMax"/>
          <c:max val="42"/>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A595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5A5955"/>
                </a:solidFill>
                <a:latin typeface="+mn-lt"/>
              </a:defRPr>
            </a:pPr>
            <a:r>
              <a:rPr sz="1400" b="0" i="0" u="none" strike="noStrike">
                <a:solidFill>
                  <a:srgbClr val="5A5955"/>
                </a:solidFill>
                <a:latin typeface="+mn-lt"/>
              </a:rPr>
              <a:t>Les plus aisés gagnent combien de fois plus que les plus modestes ?</a:t>
            </a:r>
          </a:p>
        </c:rich>
      </c:tx>
      <c:layout/>
      <c:overlay val="0"/>
    </c:title>
    <c:autoTitleDeleted val="0"/>
    <c:plotArea>
      <c:layout/>
      <c:barChart>
        <c:barDir val="col"/>
        <c:grouping val="clustered"/>
        <c:varyColors val="0"/>
        <c:ser>
          <c:idx val="0"/>
          <c:order val="0"/>
          <c:tx>
            <c:strRef>
              <c:f>Sheet1!$B$1</c:f>
              <c:strCache>
                <c:ptCount val="1"/>
                <c:pt idx="0">
                  <c:v>Écart de revenus</c:v>
                </c:pt>
              </c:strCache>
            </c:strRef>
          </c:tx>
          <c:spPr>
            <a:solidFill>
              <a:srgbClr val="C9C8C2"/>
            </a:solidFill>
            <a:effectLst/>
          </c:spPr>
          <c:invertIfNegative val="0"/>
          <c:dLbls>
            <c:numFmt formatCode="&quot;× &quot;0" sourceLinked="0"/>
            <c:txPr>
              <a:bodyPr/>
              <a:lstStyle/>
              <a:p>
                <a:pPr>
                  <a:defRPr b="1" i="0" strike="noStrike" sz="2200" u="none">
                    <a:solidFill>
                      <a:srgbClr val="1A1A1A"/>
                    </a:solidFill>
                    <a:latin typeface="+mn-lt"/>
                  </a:defRPr>
                </a:pPr>
              </a:p>
            </c:txPr>
            <c:showLegendKey val="0"/>
            <c:showVal val="1"/>
            <c:showCatName val="0"/>
            <c:showSerName val="0"/>
            <c:showPercent val="0"/>
            <c:showBubbleSize val="0"/>
            <c:showLeaderLines val="0"/>
          </c:dLbls>
          <c:dPt>
            <c:idx val="0"/>
            <c:invertIfNegative val="0"/>
            <c:bubble3D val="0"/>
            <c:spPr>
              <a:solidFill>
                <a:srgbClr val="C9C8C2"/>
              </a:solidFill>
              <a:effectLst/>
            </c:spPr>
          </c:dPt>
          <c:dPt>
            <c:idx val="1"/>
            <c:invertIfNegative val="0"/>
            <c:bubble3D val="0"/>
            <c:spPr>
              <a:solidFill>
                <a:srgbClr val="C8541F"/>
              </a:solidFill>
              <a:effectLst/>
            </c:spPr>
          </c:dPt>
          <c:cat>
            <c:multiLvlStrRef>
              <c:f>Sheet1!$A$2:$A$3</c:f>
              <c:multiLvlStrCache>
                <c:ptCount val="2"/>
                <c:lvl>
                  <c:pt idx="0">
                    <c:v>Avant impôts et aides</c:v>
                  </c:pt>
                  <c:pt idx="1">
                    <c:v>Après impôts et aides</c:v>
                  </c:pt>
                </c:lvl>
              </c:multiLvlStrCache>
            </c:multiLvlStrRef>
          </c:cat>
          <c:val>
            <c:numRef>
              <c:f>Sheet1!$B$2:$B$3</c:f>
              <c:numCache>
                <c:formatCode>General</c:formatCode>
                <c:ptCount val="2"/>
                <c:pt idx="0">
                  <c:v>18</c:v>
                </c:pt>
                <c:pt idx="1">
                  <c:v>3</c:v>
                </c:pt>
              </c:numCache>
            </c:numRef>
          </c:val>
        </c:ser>
        <c:dLbls>
          <c:numFmt formatCode="&quot;× &quot;0" sourceLinked="0"/>
          <c:txPr>
            <a:bodyPr/>
            <a:lstStyle/>
            <a:p>
              <a:pPr>
                <a:defRPr b="1" i="0" strike="noStrike" sz="2200" u="none">
                  <a:solidFill>
                    <a:srgbClr val="1A1A1A"/>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9C8C2"/>
            </a:solidFill>
            <a:prstDash val="solid"/>
            <a:round/>
          </a:ln>
        </c:spPr>
        <c:txPr>
          <a:bodyPr/>
          <a:lstStyle/>
          <a:p>
            <a:pPr>
              <a:defRPr sz="1400" b="0" i="0" u="none" strike="noStrike">
                <a:solidFill>
                  <a:srgbClr val="5A5955"/>
                </a:solidFill>
                <a:latin typeface="+mn-lt"/>
              </a:defRPr>
            </a:pPr>
            <a:endParaRPr lang="en-US"/>
          </a:p>
        </c:txPr>
        <c:crossAx val="2094734552"/>
        <c:crosses val="autoZero"/>
        <c:auto val="1"/>
        <c:lblAlgn val="ctr"/>
        <c:noMultiLvlLbl val="1"/>
      </c:catAx>
      <c:valAx>
        <c:axId val="2094734552"/>
        <c:scaling>
          <c:orientation val="minMax"/>
          <c:max val="21"/>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A595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5A5955"/>
                </a:solidFill>
                <a:latin typeface="+mn-lt"/>
              </a:defRPr>
            </a:pPr>
            <a:r>
              <a:rPr sz="1400" b="0" i="0" u="none" strike="noStrike">
                <a:solidFill>
                  <a:srgbClr val="5A5955"/>
                </a:solidFill>
                <a:latin typeface="+mn-lt"/>
              </a:rPr>
              <a:t>Entreprise dont un gros actionnaire quitte la France : évolution après 5 ans</a:t>
            </a:r>
          </a:p>
        </c:rich>
      </c:tx>
      <c:layout/>
      <c:overlay val="0"/>
    </c:title>
    <c:autoTitleDeleted val="0"/>
    <c:plotArea>
      <c:layout/>
      <c:barChart>
        <c:barDir val="col"/>
        <c:grouping val="clustered"/>
        <c:varyColors val="0"/>
        <c:ser>
          <c:idx val="0"/>
          <c:order val="0"/>
          <c:tx>
            <c:strRef>
              <c:f>Sheet1!$B$1</c:f>
              <c:strCache>
                <c:ptCount val="1"/>
                <c:pt idx="0">
                  <c:v>Effet</c:v>
                </c:pt>
              </c:strCache>
            </c:strRef>
          </c:tx>
          <c:spPr>
            <a:solidFill>
              <a:srgbClr val="12805A"/>
            </a:solidFill>
            <a:effectLst/>
          </c:spPr>
          <c:invertIfNegative val="0"/>
          <c:dLbls>
            <c:numFmt formatCode="0&quot; %&quot;" sourceLinked="0"/>
            <c:txPr>
              <a:bodyPr/>
              <a:lstStyle/>
              <a:p>
                <a:pPr>
                  <a:defRPr b="1" i="0" strike="noStrike" sz="1600" u="none">
                    <a:solidFill>
                      <a:srgbClr val="1A1A1A"/>
                    </a:solidFill>
                    <a:latin typeface="+mn-lt"/>
                  </a:defRPr>
                </a:pPr>
              </a:p>
            </c:txPr>
            <c:showLegendKey val="0"/>
            <c:showVal val="1"/>
            <c:showCatName val="0"/>
            <c:showSerName val="0"/>
            <c:showPercent val="0"/>
            <c:showBubbleSize val="0"/>
            <c:showLeaderLines val="0"/>
          </c:dLbls>
          <c:cat>
            <c:multiLvlStrRef>
              <c:f>Sheet1!$A$2:$A$4</c:f>
              <c:multiLvlStrCache>
                <c:ptCount val="3"/>
                <c:lvl>
                  <c:pt idx="0">
                    <c:v>Chiffre d'affaires</c:v>
                  </c:pt>
                  <c:pt idx="1">
                    <c:v>Valeur ajoutée</c:v>
                  </c:pt>
                  <c:pt idx="2">
                    <c:v>Masse salariale</c:v>
                  </c:pt>
                </c:lvl>
              </c:multiLvlStrCache>
            </c:multiLvlStrRef>
          </c:cat>
          <c:val>
            <c:numRef>
              <c:f>Sheet1!$B$2:$B$4</c:f>
              <c:numCache>
                <c:formatCode>General</c:formatCode>
                <c:ptCount val="3"/>
                <c:pt idx="0">
                  <c:v>-15</c:v>
                </c:pt>
                <c:pt idx="1">
                  <c:v>-24</c:v>
                </c:pt>
                <c:pt idx="2">
                  <c:v>-31</c:v>
                </c:pt>
              </c:numCache>
            </c:numRef>
          </c:val>
        </c:ser>
        <c:dLbls>
          <c:numFmt formatCode="0&quot; %&quot;" sourceLinked="0"/>
          <c:txPr>
            <a:bodyPr/>
            <a:lstStyle/>
            <a:p>
              <a:pPr>
                <a:defRPr b="1" i="0" strike="noStrike" sz="1600" u="none">
                  <a:solidFill>
                    <a:srgbClr val="1A1A1A"/>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high"/>
        <c:spPr>
          <a:ln w="12700" cap="flat">
            <a:solidFill>
              <a:srgbClr val="C9C8C2"/>
            </a:solidFill>
            <a:prstDash val="solid"/>
            <a:round/>
          </a:ln>
        </c:spPr>
        <c:txPr>
          <a:bodyPr/>
          <a:lstStyle/>
          <a:p>
            <a:pPr>
              <a:defRPr sz="1400" b="0" i="0" u="none" strike="noStrike">
                <a:solidFill>
                  <a:srgbClr val="5A5955"/>
                </a:solidFill>
                <a:latin typeface="+mn-lt"/>
              </a:defRPr>
            </a:pPr>
            <a:endParaRPr lang="en-US"/>
          </a:p>
        </c:txPr>
        <c:crossAx val="2094734552"/>
        <c:crosses val="autoZero"/>
        <c:auto val="1"/>
        <c:lblAlgn val="ctr"/>
        <c:noMultiLvlLbl val="1"/>
      </c:catAx>
      <c:valAx>
        <c:axId val="2094734552"/>
        <c:scaling>
          <c:orientation val="minMax"/>
          <c:max val="0"/>
          <c:min val="-3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A595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juger la situation, je compare chaque objectif du carré magique de Kaldor à sa référence, comme le font les économistes. Croissance : la France ne devrait croître que de 0,4 % en 2026, alors que sa croissance potentielle, ce qu'elle peut tenir durablement, est estimée à 1,2 % par le Haut Conseil des finances publiques. Emploi : le chômage, à 8,3 %, dépasse le chômage structurel, estimé à 7,8 % par la Banque de France, ce qui suggère une part conjoncturelle. Le niveau structurel reste une estimation, avec une marge d'incertitude. Prix : l'inflation, à 3,1 %, est au-dessus de la cible de 2 % de la Banque centrale européenne. Seul point positif : la balance courante est presque à l'équilibre, avec un déficit d'environ 10 milliards sur un an, en amélioration.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tableau détaillé compare chaque indicateur à sa référence. Les finances publiques sont le point le plus préoccupant : le déficit, à 5,4 % du PIB, dépasse largement la règle européenne de 3 %, et la dette, près de 120 %, est le double de la règle de 60 %. Surtout, même sans compter les intérêts, l'État dépense plus qu'il ne gagne : c'est le déficit primaire, 2,8 points de PIB en 2026 selon le Haut Conseil des finances publiques. Tant qu'il ne revient pas vers zéro, la dette continue de monter. Les intérêts passeraient de 79 à 91 milliards d'euros l'an prochain, et Moody's réexamine la note de la France le 23 octobre. Enfin, les marchés demandent à la France 1,37 point de plus qu'à l'Allemagne pour lui prêter sur dix ans, presque le double d'il y a un 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savoir si ces difficultés sont propres à la France, comparons-la avec ses voisins. L'inflation touche toute la zone euro : 3,8 % en moyenne, et la France est légèrement en dessous, à 3,4 % selon l'indice européen. Le chômage français, à 8,2 %, est au-dessus de la moyenne de la zone euro, mais loin de l'Espagne. Sur les finances publiques, en revanche, la France se distingue nettement : son déficit, 5,1 % du PIB, est le plus élevé des cinq, et sa dette la deuxième après l'Italie. Ces chiffres sont compatibles avec l'hypothèse d'un problème propre à la France, mais avec cinq pays et une seule année, on ne peut pas trancher. Ils sont aussi cohérents avec le fait que les marchés demandent à la France un taux plus élevé qu'à l'Allemagne. Attention : l'inflation de cette diapo utilise l'indice européen, l'IPCH, c'est pourquoi elle diffère des 3,1 % de l'Insee.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Présentation du sujet : la hausse de la pauvreté en France, et trois façons opposées de l'interpréter.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juillet 2025, l'Insee a publié un chiffre qui a fait beaucoup de bruit : 15,4 % des Français vivent sous le seuil de pauvreté en 2023. C'est le niveau le plus élevé depuis le début des séries comparables, en 1996. Cela représente 9,8 millions de personnes, et 650 000 de plus en un seul an. Mais ce chiffre ne se lit pas de la même façon selon qui le commente. Je vais vous présenter trois lectures : deux opposées, et une plus nuancée.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D'abord, une définition. Pour l'Insee, on est pauvre quand on vit avec moins de 60 % du niveau de vie médian. Le niveau médian, c'est celui qui coupe la population en deux moitiés. C'est donc une pauvreté relative : elle dépend du revenu des autres. Ce point sera important pour la suite. Ensuite, la pauvreté ne touche pas tout le monde de la même façon : plus d'un tiers des chômeurs, plus d'un tiers des familles monoparentales, et même près d'un indépendant sur cinq. Avoir un travail ne protège donc pas toujours.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Paul Crauchet, ce n'est pas un accident, c'est un « projet ». Depuis 2017, le taux de pauvreté est passé de 13,8 % à 15,4 %, soit 1,2 million de pauvres en plus. Ses arguments : les aides exceptionnelles contre l'inflation de 2022 n'ont pas été reconduites ; les aides au logement ont augmenté moins vite que les prix ; pendant ce temps, les inégalités se creusent : l'indice de Gini passe de 0,281 à 0,297. Plus il est proche de 1, plus la société est inégalitaire. Il ajoute que le chiffre officiel sous-estime la réalité : les sans-abri, les étudiants précaires et l'outre-mer ne sont pas comptés. En les ajoutant, on approcherait 12 millions de pauvres. En résumé : l'État a fait le choix de moins protéger les plus modestes.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À l'opposé, Élodie Messéant, de l'IREF, un think tank libéral, conteste d'abord la mesure. Comme le seuil est relatif, un pauvre d'aujourd'hui vit beaucoup mieux qu'un pauvre d'il y a deux siècles, mais il reste « pauvre » dans les statistiques. Selon elle, ce chiffre mesure surtout les inégalités, pas la misère. Pour elle, le bon indicateur est la pauvreté extrême : dans le monde, elle est passée de 36 % de la population en 1990 à 10 % en 2015, selon la Banque mondiale, grâce à la liberté économique et à la mondialisation, et non à la redistribution.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Elle rappelle ensuite que la France redistribue déjà énormément : 45,6 % de prélèvements obligatoires, contre environ 40 % dans l'Union européenne. Avant impôts et aides, les plus aisés gagnent 18 fois plus que les plus modestes ; après, l'écart tombe à 3 fois. Pour elle, plus de redistribution n'est pas la solution : elle crée de la dépendance et décourage le travail. Il faut au contraire plus de liberté économique, d'emploi et d'investissement. Elle cite l'exemple de l'Argentine de Javier Milei. En résumé : le problème, ce n'est pas le manque d'État, c'est le trop d'État.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Entre les deux, l'économiste Pierre Madec part d'un paradoxe : la France a l'une des protections sociales les plus développées d'Europe, et pourtant la pauvreté augmente. Plutôt que de chercher un coupable, il décompose la hausse en quatre effets : le seuil, qui monte avec le revenu médian ; la démographie, par exemple plus de familles monoparentales ; l'efficacité des aides sociales ; et les revenus du travail. Il propose aussi de regarder le « reste à vivre », c'est-à-dire ce qu'il reste une fois le loyer, l'énergie et les autres dépenses obligatoires payés. En résumé : plusieurs causes se mélangent, donc il n'y a pas de solution unique.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trois textes partent du même chiffre, mais ils s'opposent sur deux points : la mesure — pour l'IREF, le chiffre exagère la pauvreté ; pour L'Essentiel de l'Éco, il la sous-estime — et la cause : des choix politiques, trop d'État, ou plusieurs facteurs mêlés. Je vous laisse avec cette question : pour faire baisser la pauvreté, faut-il plus d'aides, des aides différentes, ou moins d'aides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Deuxième sujet : la taxe Zucman, et trois positions sur la façon de taxer les très grandes fortunes.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16 octobre 2026, en plein débat sur le budget 2027, l'Assemblée nationale a rejeté la taxe Zucman. Elle porte le nom de l'économiste Gabriel Zucman, qui l'a proposée. Le principe est simple : un impôt minimum de 2 % sur les patrimoines de plus de 100 millions d'euros. Cela concerne environ 1 800 foyers. On calcule 2 % de leur patrimoine, on retire les impôts qu'ils ont déjà payés, et s'il manque quelque chose, ils paient la différence. Pourquoi cette taxe ? Selon Zucman, les plus riches paient proportionnellement moins d'impôts à cause de l'optimisation fiscale : leurs revenus restent dans des sociétés, des holdings, et ne sont presque pas taxés. La taxe sert de filet de sécurité. C'est devenu l'un des débats les plus vifs avant la présidentielle de 2027. Je vais vous présenter trois positions : pour, contre, et entre les deux.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Gabriel Zucman, la France n'a pas un problème de dépenses, elle a « un problème de recettes ». Selon lui, les milliardaires paient proportionnellement moins d'impôts que les classes moyennes, et les grandes entreprises moins que les PME. L'ONG Oxfam va dans le même sens : selon ses calculs, les plus riches paient environ 25 % de leurs revenus en impôts, contre plus de 50 % pour la plupart des Français. Oxfam a même engagé une action en justice contre l'État, et la taxe est soutenue par sept prix Nobel d'économie. Zucman estime que sa taxe rapporterait 20 milliards d'euros par an. Pour lui, c'est plus juste que de faire payer les retraités, à qui le budget 2027 retire environ 5 milliards. En résumé : c'est une question de justice fiscale. Attention : les chiffres d'Oxfam sont leurs propres calculs, la méthode n'est pas publiée dans l'article.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Victor Fouquet, pour la Fondapol, un think tank libéral, conteste d'abord le diagnostic. Le système français serait déjà très redistributif : grâce aux impôts et aux aides, l'écart de niveau de vie entre les 10 % les plus aisés et les 10 % les plus modestes passe de 26 à 3,5. Et les dividendes sont déjà taxés jusqu'à 60,8 % si l'on compte l'impôt sur les sociétés.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conteste ensuite le rendement. Il suffirait que les trois plus gros contribuables partent pour diviser les recettes par deux. Sept économistes, dont Philippe Aghion et Xavier Jaravel, estiment dans une tribune au Monde que les plus riches trouveraient de nouvelles façons d'optimiser : la taxe rapporterait 5 milliards, pas 20. Et selon un rapport du Sénat cité par l'IFRAP, la taxe ne rapporterait que 2 à 3 milliards si l'on déduit l'impôt sur les sociétés déjà payé. On est très loin des 20 milliards. Enfin, la taxe serait inconstitutionnelle : le Conseil constitutionnel n'a jamais accepté un impôt sur la fortune de 2 % sans plafond. En résumé : la taxe ferait fuir les riches et l'investissement, pour peu de recettes.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Entre les deux, deux économistes de l'OFCE donnent en partie raison à Zucman : oui, les très riches sont proportionnellement moins taxés. Mais pour eux, taxer le patrimoine est le mauvais outil. Une entreprise non cotée est très difficile à évaluer. Et une fortune « sur le papier » n'est pas de l'argent disponible : les fondateurs de Mistral AI verraient leur impôt presque doubler après une simple réévaluation de leur entreprise, sans gagner un euro de plus. Le vrai risque, selon eux, n'est pas la fuite de l'argent mais le départ des entrepreneurs. Quand un gros actionnaire quitte la France, sa société perd environ 31 % de sa masse salariale en cinq ans. Leur alternative : taxer les plus-values au moment où elles sont réalisées, lors d'une vente, d'une donation ou d'un héritage. En résumé : il faut bien taxer davantage les ultra-riches, mais autrement.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commun étonnant : les trois camps reconnaissent le problème de l'optimisation fiscale via les holdings. Ils s'opposent sur la solution. Les trois textes s'opposent sur trois questions : le diagnostic — les riches paient-ils vraiment moins que les autres ? — le rendement — 20, 5 ou 2 à 3 milliards ? — et l'outil — taxer le patrimoine ou les plus-values ? Je vous laisse avec cette question : la justice fiscale vaut-elle le risque de faire partir les plus riches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Troisième sujet : les retraites, et la question de la capitalisation, très présente dans la campagne présidentielle 2027.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Aujourd'hui en France, les retraites fonctionnent presque entièrement par répartition : les cotisations des actifs d'aujourd'hui paient directement les pensions des retraités d'aujourd'hui. C'est la solidarité entre générations. Dans la capitalisation, au contraire, chacun épargne pour sa propre retraite : l'argent est placé, souvent en Bourse, et on le récupère au moment de partir. Le problème, c'est la démographie : on comptait plus de 4 actifs pour un retraité en 1990, on en compte 2,5 aujourd'hui, et ce sera moins de 2 après 2040.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France paie 98 % de ses retraites par répartition, contre environ 83 % en moyenne dans l'OCDE. Mais la capitalisation est revenue dans la campagne : Édouard Philippe veut 15 % de capitalisation, Gabriel Attal propose de verser 1 000 euros à chaque nouveau-né sur un compte d'épargne, et même le socialiste Philippe Brun propose un fonds de pension public de 15 milliards par 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Fondapol, un think tank libéral, propose un étage de capitalisation obligatoire qui paierait à terme 25 % des pensions du privé. Son premier argument est le rendement. La répartition rapporte environ 1 % par an au-dessus de l'inflation, parce qu'elle dépend de la hausse des salaires. L'étude retient 4 % pour la capitalisation, et le fonds de pension public suédois a fait encore mieux : 5,8 % par an entre 2000 et 2023. Résultat selon eux : à long terme, les cotisations pourraient baisser de plus de 6 points, et chaque salarié aurait un vrai patrimoine. Ils ont même testé le système avec une crise boursière tous les 12 ans : le fonds tiendrait. Et avec une capitalisation collective, gérée par un fonds national, on peut se protéger des krachs : on garde une partie des rendements pour lisser entre les générations, et on sécurise l'épargne à l'approche de la retraite. En résumé : la capitalisation rendrait les retraites plus sûres et moins chères.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la CGT, c'est tout l'inverse. D'abord, la capitalisation casse la solidarité : les périodes de chômage, de maladie ou de maternité ne rapportent plus de droits, et les inégalités de salaire se retrouvent à la retraite. Ensuite, il y a le risque boursier. Aux Pays-Bas, la crise de 2008 a fait fondre l'épargne retraite et a obligé à réformer le système. Enfin, il faut payer deux fois pendant la transition : les pensions des retraités actuels, et en plus l'épargne des actifs. L'économiste Eric Weil chiffre ce coût à 300 à 400 milliards d'euros pour seulement 10 à 15 % de capitalisation, avec des gains qui n'apparaîtraient qu'après 30 à 40 ans. En résumé : plus de risques et moins de solidarité, pour un coût énorme. Attention : l'article de la CGT ne donne pas de chiffres, ceux de la diapo viennent d'Eric Weil.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Tout le monde, ou presque, est d'accord sur un point : le plus difficile, c'est la transition. Pendant des décennies, les actifs devraient payer deux fois : les pensions des retraités actuels, et en plus l'épargne du nouveau fonds. Il y aurait donc une génération un peu sacrifiée, et ce serait la nôtre. Pour financer le départ, plusieurs pistes existent, mais aucune n'est gratuite : prendre les réserves de l'Agirc-Arrco, environ 91 milliards fin 2025, qui servent pourtant en cas de crise ; vendre des participations de l'État, environ 80 milliards, mais l'État perdrait leurs dividendes ; ou faire augmenter les pensions moins vite que l'inflation, ce qui fait payer les retraités actuels. La Fondapol propose d'ailleurs un mélange de ces pistes.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Entre les deux, les économistes David Thesmar et Augustin Landier sont favorables à un complément de capitalisation, sur le modèle suédois. Mais ils dénoncent un faux argument : croire que le meilleur rendement de la Bourse suffira à « boucher le trou » des retraites. Le déficit des retraites représente environ 3 points de PIB, sur un déficit public total d'environ 5 points. Et la capitalisation ne change rien aux pensions déjà promises, qu'il faut continuer à payer. Pour eux, il ne reste que deux leviers : l'âge de départ ou le niveau des pensions. Ils proposent que les générations nées entre 1950 et 1970 fassent un effort. En résumé : la capitalisation est un bon complément, pas une solution au déficit.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trois positions s'opposent sur trois points : le risque — la Bourse est-elle trop dangereuse pour nos retraites ? — la transition — qui paie pendant le passage d'un système à l'autre ? — et la solidarité — entre générations, ou chacun pour soi ? Et vous, qui êtes la génération concernée : pour votre retraite, préférez-vous la solidarité entre générations ou votre propre épargne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R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10698480" cy="1188720"/>
          </a:xfrm>
          <a:prstGeom prst="rect">
            <a:avLst/>
          </a:prstGeom>
          <a:noFill/>
          <a:ln/>
        </p:spPr>
        <p:txBody>
          <a:bodyPr wrap="square" rtlCol="0"/>
          <a:lstStyle>
            <a:lvl1pPr algn="l" indent="0" marL="0">
              <a:buNone/>
              <a:defRPr lang="en-US" sz="48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800" dirty="0"/>
          </a:p>
        </p:txBody>
      </p:sp>
      <p:sp>
        <p:nvSpPr>
          <p:cNvPr id="3" name="Text 0"/>
          <p:cNvSpPr/>
          <p:nvPr>
            <p:ph idx="101" type="body" hasCustomPrompt="1"/>
          </p:nvPr>
        </p:nvSpPr>
        <p:spPr>
          <a:xfrm>
            <a:off x="731520" y="2788920"/>
            <a:ext cx="10698480" cy="731520"/>
          </a:xfrm>
          <a:prstGeom prst="rect">
            <a:avLst/>
          </a:prstGeom>
          <a:noFill/>
          <a:ln/>
        </p:spPr>
        <p:txBody>
          <a:bodyPr wrap="square" rtlCol="0"/>
          <a:lstStyle>
            <a:lvl1pPr indent="0" marL="0">
              <a:buNone/>
              <a:defRPr lang="en-US" sz="2400" dirty="0">
                <a:solidFill>
                  <a:schemeClr val="accent6"/>
                </a:solidFill>
                <a:latin typeface="Calibri" pitchFamily="34" charset="0"/>
                <a:ea typeface="Calibri" pitchFamily="34" charset="-122"/>
                <a:cs typeface="Calibri" pitchFamily="34" charset="-120"/>
              </a:defRPr>
            </a:lvl1pPr>
          </a:lstStyle>
          <a:p>
            <a:pPr indent="0" marL="0">
              <a:buNone/>
            </a:pPr>
            <a:endParaRPr lang="en-US" sz="2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U">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658368"/>
            <a:ext cx="11064240" cy="731520"/>
          </a:xfrm>
          <a:prstGeom prst="rect">
            <a:avLst/>
          </a:prstGeom>
          <a:noFill/>
          <a:ln/>
        </p:spPr>
        <p:txBody>
          <a:bodyPr wrap="square" rtlCol="0"/>
          <a:lstStyle>
            <a:lvl1pPr algn="l" indent="0" marL="0">
              <a:buNone/>
              <a:defRPr lang="en-US" sz="34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chart" Target="/ppt/charts/chart3.xml"/><Relationship Id="rId4" Type="http://schemas.openxmlformats.org/officeDocument/2006/relationships/chart" Target="/ppt/charts/chart4.xml"/><Relationship Id="rId5" Type="http://schemas.openxmlformats.org/officeDocument/2006/relationships/slideLayout" Target="../slideLayouts/slideLayout3.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lessentieldeleco.fr/2656-la-face-cachee-du-modele-macron-revelee-par-linsee/" TargetMode="External"/><Relationship Id="rId2" Type="http://schemas.openxmlformats.org/officeDocument/2006/relationships/hyperlink" Target="https://fr.irefeurope.org/hausse-taux-pauvrete-france/" TargetMode="External"/><Relationship Id="rId3" Type="http://schemas.openxmlformats.org/officeDocument/2006/relationships/hyperlink" Target="https://www.ofce.fr/blog2024/fr/2026/20260327_PIM/index.html" TargetMode="External"/><Relationship Id="rId4" Type="http://schemas.openxmlformats.org/officeDocument/2006/relationships/hyperlink" Target="https://www.insee.fr/fr/statistiques/5759045" TargetMode="External"/><Relationship Id="rId5" Type="http://schemas.openxmlformats.org/officeDocument/2006/relationships/slideLayout" Target="../slideLayouts/slideLayout3.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hyperlink" Target="https://lcp.fr/actualites/gabriel-zucman-denonce-un-projet-de-budget-qui-protege-les-milliardaires-442793" TargetMode="External"/><Relationship Id="rId2" Type="http://schemas.openxmlformats.org/officeDocument/2006/relationships/hyperlink" Target="https://reporterre.net/Impots-favorables-aux-riches-Oxfam-attaque-l-Etat-en-justice" TargetMode="External"/><Relationship Id="rId3" Type="http://schemas.openxmlformats.org/officeDocument/2006/relationships/hyperlink" Target="https://www.fondapol.org/etude/limpasse-de-la-taxe-zucman-pour-une-reforme-fiscale-equitable-et-efficace/" TargetMode="External"/><Relationship Id="rId4" Type="http://schemas.openxmlformats.org/officeDocument/2006/relationships/hyperlink" Target="https://www.ifrap.org/la-revue/fiscalite-des-riches-le-mirage-des-milliards-eu-de-recettes" TargetMode="External"/><Relationship Id="rId5" Type="http://schemas.openxmlformats.org/officeDocument/2006/relationships/hyperlink" Target="https://www.ofce.fr/wp/2026/6/v0/OFCE_SL.html" TargetMode="External"/><Relationship Id="rId6" Type="http://schemas.openxmlformats.org/officeDocument/2006/relationships/slideLayout" Target="../slideLayouts/slideLayout3.xml"/><Relationship Id="rId7"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hyperlink" Target="https://www.fondapol.org/etude/vers-un-systeme-de-retraite-mixte-repartition-capitalisation/" TargetMode="External"/><Relationship Id="rId2" Type="http://schemas.openxmlformats.org/officeDocument/2006/relationships/hyperlink" Target="https://www.cgt.fr/actualites/retraites/la-capitalisation-nest-pas-une-solution-cest-une-regression-sociale-58" TargetMode="External"/><Relationship Id="rId3" Type="http://schemas.openxmlformats.org/officeDocument/2006/relationships/hyperlink" Target="https://www.lagrandeconversation.com/debat/societe/retraites-par-capitalisation-est-ce-utile-est-ce-faisable/" TargetMode="External"/><Relationship Id="rId4" Type="http://schemas.openxmlformats.org/officeDocument/2006/relationships/hyperlink" Target="https://intelli.news/2026/09/08/la-capitalisation-nest-pas-la-recette-miracle-pour-les-retraites-la-mise-au-point-des-economistes-thesmar-et-landier/" TargetMode="External"/><Relationship Id="rId5" Type="http://schemas.openxmlformats.org/officeDocument/2006/relationships/hyperlink" Target="https://www.journaldunet.com/business/action-publique/1553921-propositions-de-capitalisation-pour-la-retraite-dans-la-campagne-presidentielle-2027/" TargetMode="External"/><Relationship Id="rId6" Type="http://schemas.openxmlformats.org/officeDocument/2006/relationships/hyperlink" Target="https://www.youtube.com/watch?v=Oestb_xnNPc" TargetMode="External"/><Relationship Id="rId7" Type="http://schemas.openxmlformats.org/officeDocument/2006/relationships/slideLayout" Target="../slideLayouts/slideLayout3.xml"/><Relationship Id="rId8"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Étiquette"/>
          <p:cNvSpPr txBox="1"/>
          <p:nvPr/>
        </p:nvSpPr>
        <p:spPr>
          <a:xfrm>
            <a:off x="548640" y="256032"/>
            <a:ext cx="1965960" cy="310896"/>
          </a:xfrm>
          <a:prstGeom prst="roundRect">
            <a:avLst>
              <a:gd name="adj" fmla="val 50000"/>
            </a:avLst>
          </a:prstGeom>
          <a:solidFill>
            <a:schemeClr val="tx2"/>
          </a:solidFill>
          <a:ln/>
        </p:spPr>
        <p:txBody>
          <a:bodyPr wrap="square" lIns="0" tIns="0" rIns="0" bIns="0" rtlCol="0" anchor="ctr"/>
          <a:lstStyle/>
          <a:p>
            <a:pPr algn="ctr" indent="0" marL="0">
              <a:buNone/>
            </a:pPr>
            <a:r>
              <a:rPr lang="en-US" sz="1200" b="1" spc="100" kern="0" dirty="0">
                <a:solidFill>
                  <a:schemeClr val="bg1"/>
                </a:solidFill>
              </a:rPr>
              <a:t>TABLEAU DE BORD</a:t>
            </a:r>
            <a:endParaRPr lang="en-US" sz="1200" dirty="0"/>
          </a:p>
        </p:txBody>
      </p:sp>
      <p:sp>
        <p:nvSpPr>
          <p:cNvPr id="3" name="Text 0"/>
          <p:cNvSpPr/>
          <p:nvPr>
            <p:ph idx="100" type="title" hasCustomPrompt="1"/>
          </p:nvPr>
        </p:nvSpPr>
        <p:spPr>
          <a:xfrm>
            <a:off x="548640" y="658368"/>
            <a:ext cx="11064240" cy="73152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Le carré magique de l'économie française</a:t>
            </a:r>
            <a:endParaRPr lang="en-US" sz="3400" dirty="0"/>
          </a:p>
        </p:txBody>
      </p:sp>
      <p:sp>
        <p:nvSpPr>
          <p:cNvPr id="4" name="Objectif 1"/>
          <p:cNvSpPr/>
          <p:nvPr/>
        </p:nvSpPr>
        <p:spPr>
          <a:xfrm>
            <a:off x="548640" y="1554480"/>
            <a:ext cx="5440680" cy="2240280"/>
          </a:xfrm>
          <a:prstGeom prst="roundRect">
            <a:avLst>
              <a:gd name="adj" fmla="val 3265"/>
            </a:avLst>
          </a:prstGeom>
          <a:solidFill>
            <a:schemeClr val="bg2"/>
          </a:solidFill>
          <a:ln w="12700">
            <a:solidFill>
              <a:schemeClr val="bg2"/>
            </a:solidFill>
            <a:prstDash val="solid"/>
          </a:ln>
        </p:spPr>
      </p:sp>
      <p:sp>
        <p:nvSpPr>
          <p:cNvPr id="5" name="Text 3"/>
          <p:cNvSpPr txBox="1"/>
          <p:nvPr/>
        </p:nvSpPr>
        <p:spPr>
          <a:xfrm>
            <a:off x="777240" y="1691640"/>
            <a:ext cx="2468880" cy="365760"/>
          </a:xfrm>
          <a:prstGeom prst="rect">
            <a:avLst/>
          </a:prstGeom>
          <a:noFill/>
          <a:ln/>
        </p:spPr>
        <p:txBody>
          <a:bodyPr wrap="square" lIns="0" tIns="0" rIns="0" bIns="0" rtlCol="0" anchor="ctr"/>
          <a:lstStyle/>
          <a:p>
            <a:pPr indent="0" marL="0">
              <a:buNone/>
            </a:pPr>
            <a:r>
              <a:rPr lang="en-US" sz="1400" b="1" dirty="0">
                <a:solidFill>
                  <a:schemeClr val="tx2"/>
                </a:solidFill>
              </a:rPr>
              <a:t>Croissance du PIB</a:t>
            </a:r>
            <a:endParaRPr lang="en-US" sz="1400" dirty="0"/>
          </a:p>
        </p:txBody>
      </p:sp>
      <p:sp>
        <p:nvSpPr>
          <p:cNvPr id="6" name="Text 4"/>
          <p:cNvSpPr txBox="1"/>
          <p:nvPr/>
        </p:nvSpPr>
        <p:spPr>
          <a:xfrm>
            <a:off x="777240" y="2057400"/>
            <a:ext cx="2468880" cy="320040"/>
          </a:xfrm>
          <a:prstGeom prst="rect">
            <a:avLst/>
          </a:prstGeom>
          <a:noFill/>
          <a:ln/>
        </p:spPr>
        <p:txBody>
          <a:bodyPr wrap="square" lIns="0" tIns="0" rIns="0" bIns="0" rtlCol="0" anchor="ctr"/>
          <a:lstStyle/>
          <a:p>
            <a:pPr indent="0" marL="0">
              <a:buNone/>
            </a:pPr>
            <a:r>
              <a:rPr lang="en-US" sz="1200" b="1" dirty="0">
                <a:solidFill>
                  <a:srgbClr val="B3261E"/>
                </a:solidFill>
              </a:rPr>
              <a:t>● Sous son potentiel</a:t>
            </a:r>
            <a:endParaRPr lang="en-US" sz="1200" dirty="0"/>
          </a:p>
        </p:txBody>
      </p:sp>
      <p:sp>
        <p:nvSpPr>
          <p:cNvPr id="7" name="Text 5"/>
          <p:cNvSpPr txBox="1"/>
          <p:nvPr/>
        </p:nvSpPr>
        <p:spPr>
          <a:xfrm>
            <a:off x="777240" y="2423160"/>
            <a:ext cx="2468880" cy="640080"/>
          </a:xfrm>
          <a:prstGeom prst="rect">
            <a:avLst/>
          </a:prstGeom>
          <a:noFill/>
          <a:ln/>
        </p:spPr>
        <p:txBody>
          <a:bodyPr wrap="square" lIns="0" tIns="0" rIns="0" bIns="0" rtlCol="0" anchor="b"/>
          <a:lstStyle/>
          <a:p>
            <a:pPr indent="0" marL="0">
              <a:buNone/>
            </a:pPr>
            <a:r>
              <a:rPr lang="en-US" sz="3000" b="1" dirty="0">
                <a:solidFill>
                  <a:schemeClr val="tx1"/>
                </a:solidFill>
                <a:latin typeface="Cambria" pitchFamily="34" charset="0"/>
                <a:ea typeface="Cambria" pitchFamily="34" charset="-122"/>
                <a:cs typeface="Cambria" pitchFamily="34" charset="-120"/>
              </a:rPr>
              <a:t>0,4 %</a:t>
            </a:r>
            <a:endParaRPr lang="en-US" sz="3000" dirty="0"/>
          </a:p>
        </p:txBody>
      </p:sp>
      <p:sp>
        <p:nvSpPr>
          <p:cNvPr id="8" name="Text 6"/>
          <p:cNvSpPr txBox="1"/>
          <p:nvPr/>
        </p:nvSpPr>
        <p:spPr>
          <a:xfrm>
            <a:off x="777240" y="3108960"/>
            <a:ext cx="2468880" cy="594360"/>
          </a:xfrm>
          <a:prstGeom prst="rect">
            <a:avLst/>
          </a:prstGeom>
          <a:noFill/>
          <a:ln/>
        </p:spPr>
        <p:txBody>
          <a:bodyPr wrap="square" lIns="0" tIns="0" rIns="0" bIns="0" rtlCol="0" anchor="t"/>
          <a:lstStyle/>
          <a:p>
            <a:pPr indent="0" marL="0">
              <a:buNone/>
            </a:pPr>
            <a:r>
              <a:rPr lang="en-US" sz="1100" dirty="0">
                <a:solidFill>
                  <a:schemeClr val="accent5"/>
                </a:solidFill>
              </a:rPr>
              <a:t>prévue en 2026, pour une croissance potentielle de 1,2 %</a:t>
            </a:r>
            <a:endParaRPr lang="en-US" sz="1100" dirty="0"/>
          </a:p>
        </p:txBody>
      </p:sp>
      <p:graphicFrame>
        <p:nvGraphicFramePr>
          <p:cNvPr id="9" name="Mini-graphique Croissance du PIB" descr=""/>
          <p:cNvGraphicFramePr/>
          <p:nvPr/>
        </p:nvGraphicFramePr>
        <p:xfrm>
          <a:off x="3291840" y="1645920"/>
          <a:ext cx="2606040" cy="2057400"/>
        </p:xfrm>
        <a:graphic xmlns:a="http://schemas.openxmlformats.org/drawingml/2006/main">
          <a:graphicData uri="http://schemas.openxmlformats.org/drawingml/2006/chart">
            <c:chart xmlns:c="http://schemas.openxmlformats.org/drawingml/2006/chart" r:id="rId1"/>
          </a:graphicData>
        </a:graphic>
      </p:graphicFrame>
      <p:sp>
        <p:nvSpPr>
          <p:cNvPr id="10" name="Objectif 2"/>
          <p:cNvSpPr/>
          <p:nvPr/>
        </p:nvSpPr>
        <p:spPr>
          <a:xfrm>
            <a:off x="6172200" y="1554480"/>
            <a:ext cx="5440680" cy="2240280"/>
          </a:xfrm>
          <a:prstGeom prst="roundRect">
            <a:avLst>
              <a:gd name="adj" fmla="val 3265"/>
            </a:avLst>
          </a:prstGeom>
          <a:solidFill>
            <a:schemeClr val="bg2"/>
          </a:solidFill>
          <a:ln w="12700">
            <a:solidFill>
              <a:schemeClr val="bg2"/>
            </a:solidFill>
            <a:prstDash val="solid"/>
          </a:ln>
        </p:spPr>
      </p:sp>
      <p:sp>
        <p:nvSpPr>
          <p:cNvPr id="11" name="Text 8"/>
          <p:cNvSpPr txBox="1"/>
          <p:nvPr/>
        </p:nvSpPr>
        <p:spPr>
          <a:xfrm>
            <a:off x="6400800" y="1691640"/>
            <a:ext cx="2468880" cy="365760"/>
          </a:xfrm>
          <a:prstGeom prst="rect">
            <a:avLst/>
          </a:prstGeom>
          <a:noFill/>
          <a:ln/>
        </p:spPr>
        <p:txBody>
          <a:bodyPr wrap="square" lIns="0" tIns="0" rIns="0" bIns="0" rtlCol="0" anchor="ctr"/>
          <a:lstStyle/>
          <a:p>
            <a:pPr indent="0" marL="0">
              <a:buNone/>
            </a:pPr>
            <a:r>
              <a:rPr lang="en-US" sz="1400" b="1" dirty="0">
                <a:solidFill>
                  <a:schemeClr val="tx2"/>
                </a:solidFill>
              </a:rPr>
              <a:t>Plein emploi (chômage)</a:t>
            </a:r>
            <a:endParaRPr lang="en-US" sz="1400" dirty="0"/>
          </a:p>
        </p:txBody>
      </p:sp>
      <p:sp>
        <p:nvSpPr>
          <p:cNvPr id="12" name="Text 9"/>
          <p:cNvSpPr txBox="1"/>
          <p:nvPr/>
        </p:nvSpPr>
        <p:spPr>
          <a:xfrm>
            <a:off x="6400800" y="2057400"/>
            <a:ext cx="2468880" cy="320040"/>
          </a:xfrm>
          <a:prstGeom prst="rect">
            <a:avLst/>
          </a:prstGeom>
          <a:noFill/>
          <a:ln/>
        </p:spPr>
        <p:txBody>
          <a:bodyPr wrap="square" lIns="0" tIns="0" rIns="0" bIns="0" rtlCol="0" anchor="ctr"/>
          <a:lstStyle/>
          <a:p>
            <a:pPr indent="0" marL="0">
              <a:buNone/>
            </a:pPr>
            <a:r>
              <a:rPr lang="en-US" sz="1200" b="1" dirty="0">
                <a:solidFill>
                  <a:srgbClr val="B26A00"/>
                </a:solidFill>
              </a:rPr>
              <a:t>● Au-dessus du chômage structurel</a:t>
            </a:r>
            <a:endParaRPr lang="en-US" sz="1200" dirty="0"/>
          </a:p>
        </p:txBody>
      </p:sp>
      <p:sp>
        <p:nvSpPr>
          <p:cNvPr id="13" name="Text 10"/>
          <p:cNvSpPr txBox="1"/>
          <p:nvPr/>
        </p:nvSpPr>
        <p:spPr>
          <a:xfrm>
            <a:off x="6400800" y="2423160"/>
            <a:ext cx="2468880" cy="640080"/>
          </a:xfrm>
          <a:prstGeom prst="rect">
            <a:avLst/>
          </a:prstGeom>
          <a:noFill/>
          <a:ln/>
        </p:spPr>
        <p:txBody>
          <a:bodyPr wrap="square" lIns="0" tIns="0" rIns="0" bIns="0" rtlCol="0" anchor="b"/>
          <a:lstStyle/>
          <a:p>
            <a:pPr indent="0" marL="0">
              <a:buNone/>
            </a:pPr>
            <a:r>
              <a:rPr lang="en-US" sz="3000" b="1" dirty="0">
                <a:solidFill>
                  <a:schemeClr val="tx1"/>
                </a:solidFill>
                <a:latin typeface="Cambria" pitchFamily="34" charset="0"/>
                <a:ea typeface="Cambria" pitchFamily="34" charset="-122"/>
                <a:cs typeface="Cambria" pitchFamily="34" charset="-120"/>
              </a:rPr>
              <a:t>8,3 %</a:t>
            </a:r>
            <a:endParaRPr lang="en-US" sz="3000" dirty="0"/>
          </a:p>
        </p:txBody>
      </p:sp>
      <p:sp>
        <p:nvSpPr>
          <p:cNvPr id="14" name="Text 11"/>
          <p:cNvSpPr txBox="1"/>
          <p:nvPr/>
        </p:nvSpPr>
        <p:spPr>
          <a:xfrm>
            <a:off x="6400800" y="3108960"/>
            <a:ext cx="2468880" cy="594360"/>
          </a:xfrm>
          <a:prstGeom prst="rect">
            <a:avLst/>
          </a:prstGeom>
          <a:noFill/>
          <a:ln/>
        </p:spPr>
        <p:txBody>
          <a:bodyPr wrap="square" lIns="0" tIns="0" rIns="0" bIns="0" rtlCol="0" anchor="t"/>
          <a:lstStyle/>
          <a:p>
            <a:pPr indent="0" marL="0">
              <a:buNone/>
            </a:pPr>
            <a:r>
              <a:rPr lang="en-US" sz="1100" dirty="0">
                <a:solidFill>
                  <a:schemeClr val="accent5"/>
                </a:solidFill>
              </a:rPr>
              <a:t>au 2e trimestre 2026, pour un chômage structurel estimé à 7,8 %</a:t>
            </a:r>
            <a:endParaRPr lang="en-US" sz="1100" dirty="0"/>
          </a:p>
        </p:txBody>
      </p:sp>
      <p:graphicFrame>
        <p:nvGraphicFramePr>
          <p:cNvPr id="15" name="Mini-graphique Plein emploi (chômage)" descr=""/>
          <p:cNvGraphicFramePr/>
          <p:nvPr/>
        </p:nvGraphicFramePr>
        <p:xfrm>
          <a:off x="8915400" y="1645920"/>
          <a:ext cx="2606040" cy="2057400"/>
        </p:xfrm>
        <a:graphic xmlns:a="http://schemas.openxmlformats.org/drawingml/2006/main">
          <a:graphicData uri="http://schemas.openxmlformats.org/drawingml/2006/chart">
            <c:chart xmlns:c="http://schemas.openxmlformats.org/drawingml/2006/chart" r:id="rId2"/>
          </a:graphicData>
        </a:graphic>
      </p:graphicFrame>
      <p:sp>
        <p:nvSpPr>
          <p:cNvPr id="16" name="Objectif 3"/>
          <p:cNvSpPr/>
          <p:nvPr/>
        </p:nvSpPr>
        <p:spPr>
          <a:xfrm>
            <a:off x="548640" y="3931920"/>
            <a:ext cx="5440680" cy="2240280"/>
          </a:xfrm>
          <a:prstGeom prst="roundRect">
            <a:avLst>
              <a:gd name="adj" fmla="val 3265"/>
            </a:avLst>
          </a:prstGeom>
          <a:solidFill>
            <a:schemeClr val="bg2"/>
          </a:solidFill>
          <a:ln w="12700">
            <a:solidFill>
              <a:schemeClr val="bg2"/>
            </a:solidFill>
            <a:prstDash val="solid"/>
          </a:ln>
        </p:spPr>
      </p:sp>
      <p:sp>
        <p:nvSpPr>
          <p:cNvPr id="17" name="Text 13"/>
          <p:cNvSpPr txBox="1"/>
          <p:nvPr/>
        </p:nvSpPr>
        <p:spPr>
          <a:xfrm>
            <a:off x="777240" y="4069080"/>
            <a:ext cx="2468880" cy="365760"/>
          </a:xfrm>
          <a:prstGeom prst="rect">
            <a:avLst/>
          </a:prstGeom>
          <a:noFill/>
          <a:ln/>
        </p:spPr>
        <p:txBody>
          <a:bodyPr wrap="square" lIns="0" tIns="0" rIns="0" bIns="0" rtlCol="0" anchor="ctr"/>
          <a:lstStyle/>
          <a:p>
            <a:pPr indent="0" marL="0">
              <a:buNone/>
            </a:pPr>
            <a:r>
              <a:rPr lang="en-US" sz="1400" b="1" dirty="0">
                <a:solidFill>
                  <a:schemeClr val="tx2"/>
                </a:solidFill>
              </a:rPr>
              <a:t>Stabilité des prix (inflation)</a:t>
            </a:r>
            <a:endParaRPr lang="en-US" sz="1400" dirty="0"/>
          </a:p>
        </p:txBody>
      </p:sp>
      <p:sp>
        <p:nvSpPr>
          <p:cNvPr id="18" name="Text 14"/>
          <p:cNvSpPr txBox="1"/>
          <p:nvPr/>
        </p:nvSpPr>
        <p:spPr>
          <a:xfrm>
            <a:off x="777240" y="4434840"/>
            <a:ext cx="2468880" cy="320040"/>
          </a:xfrm>
          <a:prstGeom prst="rect">
            <a:avLst/>
          </a:prstGeom>
          <a:noFill/>
          <a:ln/>
        </p:spPr>
        <p:txBody>
          <a:bodyPr wrap="square" lIns="0" tIns="0" rIns="0" bIns="0" rtlCol="0" anchor="ctr"/>
          <a:lstStyle/>
          <a:p>
            <a:pPr indent="0" marL="0">
              <a:buNone/>
            </a:pPr>
            <a:r>
              <a:rPr lang="en-US" sz="1200" b="1" dirty="0">
                <a:solidFill>
                  <a:srgbClr val="B3261E"/>
                </a:solidFill>
              </a:rPr>
              <a:t>● Au-dessus de la cible</a:t>
            </a:r>
            <a:endParaRPr lang="en-US" sz="1200" dirty="0"/>
          </a:p>
        </p:txBody>
      </p:sp>
      <p:sp>
        <p:nvSpPr>
          <p:cNvPr id="19" name="Text 15"/>
          <p:cNvSpPr txBox="1"/>
          <p:nvPr/>
        </p:nvSpPr>
        <p:spPr>
          <a:xfrm>
            <a:off x="777240" y="4800600"/>
            <a:ext cx="2468880" cy="640080"/>
          </a:xfrm>
          <a:prstGeom prst="rect">
            <a:avLst/>
          </a:prstGeom>
          <a:noFill/>
          <a:ln/>
        </p:spPr>
        <p:txBody>
          <a:bodyPr wrap="square" lIns="0" tIns="0" rIns="0" bIns="0" rtlCol="0" anchor="b"/>
          <a:lstStyle/>
          <a:p>
            <a:pPr indent="0" marL="0">
              <a:buNone/>
            </a:pPr>
            <a:r>
              <a:rPr lang="en-US" sz="3000" b="1" dirty="0">
                <a:solidFill>
                  <a:schemeClr val="tx1"/>
                </a:solidFill>
                <a:latin typeface="Cambria" pitchFamily="34" charset="0"/>
                <a:ea typeface="Cambria" pitchFamily="34" charset="-122"/>
                <a:cs typeface="Cambria" pitchFamily="34" charset="-120"/>
              </a:rPr>
              <a:t>3,1 %</a:t>
            </a:r>
            <a:endParaRPr lang="en-US" sz="3000" dirty="0"/>
          </a:p>
        </p:txBody>
      </p:sp>
      <p:sp>
        <p:nvSpPr>
          <p:cNvPr id="20" name="Text 16"/>
          <p:cNvSpPr txBox="1"/>
          <p:nvPr/>
        </p:nvSpPr>
        <p:spPr>
          <a:xfrm>
            <a:off x="777240" y="5486400"/>
            <a:ext cx="2468880" cy="594360"/>
          </a:xfrm>
          <a:prstGeom prst="rect">
            <a:avLst/>
          </a:prstGeom>
          <a:noFill/>
          <a:ln/>
        </p:spPr>
        <p:txBody>
          <a:bodyPr wrap="square" lIns="0" tIns="0" rIns="0" bIns="0" rtlCol="0" anchor="t"/>
          <a:lstStyle/>
          <a:p>
            <a:pPr indent="0" marL="0">
              <a:buNone/>
            </a:pPr>
            <a:r>
              <a:rPr lang="en-US" sz="1100" dirty="0">
                <a:solidFill>
                  <a:schemeClr val="accent5"/>
                </a:solidFill>
              </a:rPr>
              <a:t>sur un an en septembre 2026, pour une cible de la BCE de 2 %</a:t>
            </a:r>
            <a:endParaRPr lang="en-US" sz="1100" dirty="0"/>
          </a:p>
        </p:txBody>
      </p:sp>
      <p:graphicFrame>
        <p:nvGraphicFramePr>
          <p:cNvPr id="21" name="Mini-graphique Stabilité des prix (inflation)" descr=""/>
          <p:cNvGraphicFramePr/>
          <p:nvPr/>
        </p:nvGraphicFramePr>
        <p:xfrm>
          <a:off x="3291840" y="4023360"/>
          <a:ext cx="2606040" cy="2057400"/>
        </p:xfrm>
        <a:graphic xmlns:a="http://schemas.openxmlformats.org/drawingml/2006/main">
          <a:graphicData uri="http://schemas.openxmlformats.org/drawingml/2006/chart">
            <c:chart xmlns:c="http://schemas.openxmlformats.org/drawingml/2006/chart" r:id="rId3"/>
          </a:graphicData>
        </a:graphic>
      </p:graphicFrame>
      <p:sp>
        <p:nvSpPr>
          <p:cNvPr id="22" name="Objectif 4"/>
          <p:cNvSpPr/>
          <p:nvPr/>
        </p:nvSpPr>
        <p:spPr>
          <a:xfrm>
            <a:off x="6172200" y="3931920"/>
            <a:ext cx="5440680" cy="2240280"/>
          </a:xfrm>
          <a:prstGeom prst="roundRect">
            <a:avLst>
              <a:gd name="adj" fmla="val 3265"/>
            </a:avLst>
          </a:prstGeom>
          <a:solidFill>
            <a:schemeClr val="bg2"/>
          </a:solidFill>
          <a:ln w="12700">
            <a:solidFill>
              <a:schemeClr val="bg2"/>
            </a:solidFill>
            <a:prstDash val="solid"/>
          </a:ln>
        </p:spPr>
      </p:sp>
      <p:sp>
        <p:nvSpPr>
          <p:cNvPr id="23" name="Text 18"/>
          <p:cNvSpPr txBox="1"/>
          <p:nvPr/>
        </p:nvSpPr>
        <p:spPr>
          <a:xfrm>
            <a:off x="6400800" y="4069080"/>
            <a:ext cx="2468880" cy="365760"/>
          </a:xfrm>
          <a:prstGeom prst="rect">
            <a:avLst/>
          </a:prstGeom>
          <a:noFill/>
          <a:ln/>
        </p:spPr>
        <p:txBody>
          <a:bodyPr wrap="square" lIns="0" tIns="0" rIns="0" bIns="0" rtlCol="0" anchor="ctr"/>
          <a:lstStyle/>
          <a:p>
            <a:pPr indent="0" marL="0">
              <a:buNone/>
            </a:pPr>
            <a:r>
              <a:rPr lang="en-US" sz="1400" b="1" dirty="0">
                <a:solidFill>
                  <a:schemeClr val="tx2"/>
                </a:solidFill>
              </a:rPr>
              <a:t>Équilibre extérieur (balance courante)</a:t>
            </a:r>
            <a:endParaRPr lang="en-US" sz="1400" dirty="0"/>
          </a:p>
        </p:txBody>
      </p:sp>
      <p:sp>
        <p:nvSpPr>
          <p:cNvPr id="24" name="Text 19"/>
          <p:cNvSpPr txBox="1"/>
          <p:nvPr/>
        </p:nvSpPr>
        <p:spPr>
          <a:xfrm>
            <a:off x="6400800" y="4434840"/>
            <a:ext cx="2468880" cy="320040"/>
          </a:xfrm>
          <a:prstGeom prst="rect">
            <a:avLst/>
          </a:prstGeom>
          <a:noFill/>
          <a:ln/>
        </p:spPr>
        <p:txBody>
          <a:bodyPr wrap="square" lIns="0" tIns="0" rIns="0" bIns="0" rtlCol="0" anchor="ctr"/>
          <a:lstStyle/>
          <a:p>
            <a:pPr indent="0" marL="0">
              <a:buNone/>
            </a:pPr>
            <a:r>
              <a:rPr lang="en-US" sz="1200" b="1" dirty="0">
                <a:solidFill>
                  <a:srgbClr val="2E7D32"/>
                </a:solidFill>
              </a:rPr>
              <a:t>● Proche de l'équilibre</a:t>
            </a:r>
            <a:endParaRPr lang="en-US" sz="1200" dirty="0"/>
          </a:p>
        </p:txBody>
      </p:sp>
      <p:sp>
        <p:nvSpPr>
          <p:cNvPr id="25" name="Text 20"/>
          <p:cNvSpPr txBox="1"/>
          <p:nvPr/>
        </p:nvSpPr>
        <p:spPr>
          <a:xfrm>
            <a:off x="6400800" y="4800600"/>
            <a:ext cx="2468880" cy="640080"/>
          </a:xfrm>
          <a:prstGeom prst="rect">
            <a:avLst/>
          </a:prstGeom>
          <a:noFill/>
          <a:ln/>
        </p:spPr>
        <p:txBody>
          <a:bodyPr wrap="square" lIns="0" tIns="0" rIns="0" bIns="0" rtlCol="0" anchor="b"/>
          <a:lstStyle/>
          <a:p>
            <a:pPr indent="0" marL="0">
              <a:buNone/>
            </a:pPr>
            <a:r>
              <a:rPr lang="en-US" sz="3000" b="1" dirty="0">
                <a:solidFill>
                  <a:schemeClr val="tx1"/>
                </a:solidFill>
                <a:latin typeface="Cambria" pitchFamily="34" charset="0"/>
                <a:ea typeface="Cambria" pitchFamily="34" charset="-122"/>
                <a:cs typeface="Cambria" pitchFamily="34" charset="-120"/>
              </a:rPr>
              <a:t>− 10 Md€</a:t>
            </a:r>
            <a:endParaRPr lang="en-US" sz="3000" dirty="0"/>
          </a:p>
        </p:txBody>
      </p:sp>
      <p:sp>
        <p:nvSpPr>
          <p:cNvPr id="26" name="Text 21"/>
          <p:cNvSpPr txBox="1"/>
          <p:nvPr/>
        </p:nvSpPr>
        <p:spPr>
          <a:xfrm>
            <a:off x="6400800" y="5486400"/>
            <a:ext cx="2468880" cy="594360"/>
          </a:xfrm>
          <a:prstGeom prst="rect">
            <a:avLst/>
          </a:prstGeom>
          <a:noFill/>
          <a:ln/>
        </p:spPr>
        <p:txBody>
          <a:bodyPr wrap="square" lIns="0" tIns="0" rIns="0" bIns="0" rtlCol="0" anchor="t"/>
          <a:lstStyle/>
          <a:p>
            <a:pPr indent="0" marL="0">
              <a:buNone/>
            </a:pPr>
            <a:r>
              <a:rPr lang="en-US" sz="1100" dirty="0">
                <a:solidFill>
                  <a:schemeClr val="accent5"/>
                </a:solidFill>
              </a:rPr>
              <a:t>de déficit courant sur 12 mois (fin août 2026), contre − 17 Md€ un an plus tôt</a:t>
            </a:r>
            <a:endParaRPr lang="en-US" sz="1100" dirty="0"/>
          </a:p>
        </p:txBody>
      </p:sp>
      <p:graphicFrame>
        <p:nvGraphicFramePr>
          <p:cNvPr id="27" name="Mini-graphique Équilibre extérieur (balance courante)" descr=""/>
          <p:cNvGraphicFramePr/>
          <p:nvPr/>
        </p:nvGraphicFramePr>
        <p:xfrm>
          <a:off x="8915400" y="4023360"/>
          <a:ext cx="2606040" cy="2057400"/>
        </p:xfrm>
        <a:graphic xmlns:a="http://schemas.openxmlformats.org/drawingml/2006/main">
          <a:graphicData uri="http://schemas.openxmlformats.org/drawingml/2006/chart">
            <c:chart xmlns:c="http://schemas.openxmlformats.org/drawingml/2006/chart" r:id="rId4"/>
          </a:graphicData>
        </a:graphic>
      </p:graphicFrame>
      <p:sp>
        <p:nvSpPr>
          <p:cNvPr id="28" name="Source"/>
          <p:cNvSpPr txBox="1"/>
          <p:nvPr/>
        </p:nvSpPr>
        <p:spPr>
          <a:xfrm>
            <a:off x="548640" y="6355080"/>
            <a:ext cx="10424160" cy="274320"/>
          </a:xfrm>
          <a:prstGeom prst="rect">
            <a:avLst/>
          </a:prstGeom>
          <a:noFill/>
          <a:ln/>
        </p:spPr>
        <p:txBody>
          <a:bodyPr wrap="square" lIns="0" tIns="0" rIns="0" bIns="0" rtlCol="0" anchor="ctr"/>
          <a:lstStyle/>
          <a:p>
            <a:pPr indent="0" marL="0">
              <a:buNone/>
            </a:pPr>
            <a:r>
              <a:rPr lang="en-US" sz="1000" dirty="0">
                <a:solidFill>
                  <a:schemeClr val="accent5"/>
                </a:solidFill>
              </a:rPr>
              <a:t>Source : Insee ; Banque de France (prévision PIB, chômage structurel 2025, balance courante) ; HCFP (croissance potentielle, avis 2026-5) ; BCE. Barre verte : la référence.</a:t>
            </a:r>
            <a:endParaRPr lang="en-US" sz="10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Étiquette"/>
          <p:cNvSpPr txBox="1"/>
          <p:nvPr/>
        </p:nvSpPr>
        <p:spPr>
          <a:xfrm>
            <a:off x="548640" y="256032"/>
            <a:ext cx="1965960" cy="310896"/>
          </a:xfrm>
          <a:prstGeom prst="roundRect">
            <a:avLst>
              <a:gd name="adj" fmla="val 50000"/>
            </a:avLst>
          </a:prstGeom>
          <a:solidFill>
            <a:schemeClr val="tx2"/>
          </a:solidFill>
          <a:ln/>
        </p:spPr>
        <p:txBody>
          <a:bodyPr wrap="square" lIns="0" tIns="0" rIns="0" bIns="0" rtlCol="0" anchor="ctr"/>
          <a:lstStyle/>
          <a:p>
            <a:pPr algn="ctr" indent="0" marL="0">
              <a:buNone/>
            </a:pPr>
            <a:r>
              <a:rPr lang="en-US" sz="1200" b="1" spc="100" kern="0" dirty="0">
                <a:solidFill>
                  <a:schemeClr val="bg1"/>
                </a:solidFill>
              </a:rPr>
              <a:t>TABLEAU DE BORD</a:t>
            </a:r>
            <a:endParaRPr lang="en-US" sz="1200" dirty="0"/>
          </a:p>
        </p:txBody>
      </p:sp>
      <p:sp>
        <p:nvSpPr>
          <p:cNvPr id="3" name="Text 0"/>
          <p:cNvSpPr/>
          <p:nvPr>
            <p:ph idx="100" type="title" hasCustomPrompt="1"/>
          </p:nvPr>
        </p:nvSpPr>
        <p:spPr>
          <a:xfrm>
            <a:off x="548640" y="658368"/>
            <a:ext cx="11064240" cy="73152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Les indicateurs et leurs références</a:t>
            </a:r>
            <a:endParaRPr lang="en-US" sz="3400" dirty="0"/>
          </a:p>
        </p:txBody>
      </p:sp>
      <p:graphicFrame>
        <p:nvGraphicFramePr>
          <p:cNvPr id="3" name="Tableau de bord détaillé"/>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2743200"/>
                <a:gridCol w="1783080"/>
                <a:gridCol w="1371600"/>
                <a:gridCol w="1645920"/>
                <a:gridCol w="2057400"/>
                <a:gridCol w="1463040"/>
              </a:tblGrid>
              <a:tr h="347472">
                <a:tc>
                  <a:txBody>
                    <a:bodyPr/>
                    <a:lstStyle/>
                    <a:p>
                      <a:pPr algn="l" indent="0" marL="0">
                        <a:buNone/>
                      </a:pPr>
                      <a:r>
                        <a:rPr lang="en-US" sz="1100" b="1" dirty="0">
                          <a:solidFill>
                            <a:schemeClr val="bg1"/>
                          </a:solidFill>
                          <a:latin typeface="Calibri" pitchFamily="34" charset="0"/>
                          <a:ea typeface="Calibri" pitchFamily="34" charset="-122"/>
                          <a:cs typeface="Calibri" pitchFamily="34" charset="-120"/>
                        </a:rPr>
                        <a:t>Indicateur</a:t>
                      </a:r>
                      <a:endParaRPr lang="en-US" sz="1100" dirty="0">
                        <a:latin typeface="Calibri" charset="0"/>
                        <a:ea typeface="Calibri" charset="0"/>
                        <a:cs typeface="Calibri" charset="0"/>
                      </a:endParaRPr>
                    </a:p>
                  </a:txBody>
                  <a:tcPr marL="36576" marR="36576" marT="36576" marB="36576"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solidFill>
                      <a:schemeClr val="tx2"/>
                    </a:solidFill>
                  </a:tcPr>
                </a:tc>
                <a:tc>
                  <a:txBody>
                    <a:bodyPr/>
                    <a:lstStyle/>
                    <a:p>
                      <a:pPr algn="ctr" indent="0" marL="0">
                        <a:buNone/>
                      </a:pPr>
                      <a:r>
                        <a:rPr lang="en-US" sz="1100" b="1" dirty="0">
                          <a:solidFill>
                            <a:schemeClr val="bg1"/>
                          </a:solidFill>
                          <a:latin typeface="Calibri" pitchFamily="34" charset="0"/>
                          <a:ea typeface="Calibri" pitchFamily="34" charset="-122"/>
                          <a:cs typeface="Calibri" pitchFamily="34" charset="-120"/>
                        </a:rPr>
                        <a:t>Aujourd'hui</a:t>
                      </a:r>
                      <a:endParaRPr lang="en-US" sz="1100" dirty="0">
                        <a:latin typeface="Calibri" charset="0"/>
                        <a:ea typeface="Calibri" charset="0"/>
                        <a:cs typeface="Calibri" charset="0"/>
                      </a:endParaRPr>
                    </a:p>
                  </a:txBody>
                  <a:tcPr marL="36576" marR="36576" marT="36576" marB="36576"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solidFill>
                      <a:schemeClr val="tx2"/>
                    </a:solidFill>
                  </a:tcPr>
                </a:tc>
                <a:tc>
                  <a:txBody>
                    <a:bodyPr/>
                    <a:lstStyle/>
                    <a:p>
                      <a:pPr algn="ctr" indent="0" marL="0">
                        <a:buNone/>
                      </a:pPr>
                      <a:r>
                        <a:rPr lang="en-US" sz="1100" b="1" dirty="0">
                          <a:solidFill>
                            <a:schemeClr val="bg1"/>
                          </a:solidFill>
                          <a:latin typeface="Calibri" pitchFamily="34" charset="0"/>
                          <a:ea typeface="Calibri" pitchFamily="34" charset="-122"/>
                          <a:cs typeface="Calibri" pitchFamily="34" charset="-120"/>
                        </a:rPr>
                        <a:t>Il y a 1 an</a:t>
                      </a:r>
                      <a:endParaRPr lang="en-US" sz="1100" dirty="0">
                        <a:latin typeface="Calibri" charset="0"/>
                        <a:ea typeface="Calibri" charset="0"/>
                        <a:cs typeface="Calibri" charset="0"/>
                      </a:endParaRPr>
                    </a:p>
                  </a:txBody>
                  <a:tcPr marL="36576" marR="36576" marT="36576" marB="36576"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solidFill>
                      <a:schemeClr val="tx2"/>
                    </a:solidFill>
                  </a:tcPr>
                </a:tc>
                <a:tc>
                  <a:txBody>
                    <a:bodyPr/>
                    <a:lstStyle/>
                    <a:p>
                      <a:pPr algn="ctr" indent="0" marL="0">
                        <a:buNone/>
                      </a:pPr>
                      <a:r>
                        <a:rPr lang="en-US" sz="1100" b="1" dirty="0">
                          <a:solidFill>
                            <a:schemeClr val="bg1"/>
                          </a:solidFill>
                          <a:latin typeface="Calibri" pitchFamily="34" charset="0"/>
                          <a:ea typeface="Calibri" pitchFamily="34" charset="-122"/>
                          <a:cs typeface="Calibri" pitchFamily="34" charset="-120"/>
                        </a:rPr>
                        <a:t>Référence</a:t>
                      </a:r>
                      <a:endParaRPr lang="en-US" sz="1100" dirty="0">
                        <a:latin typeface="Calibri" charset="0"/>
                        <a:ea typeface="Calibri" charset="0"/>
                        <a:cs typeface="Calibri" charset="0"/>
                      </a:endParaRPr>
                    </a:p>
                  </a:txBody>
                  <a:tcPr marL="36576" marR="36576" marT="36576" marB="36576"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solidFill>
                      <a:schemeClr val="tx2"/>
                    </a:solidFill>
                  </a:tcPr>
                </a:tc>
                <a:tc>
                  <a:txBody>
                    <a:bodyPr/>
                    <a:lstStyle/>
                    <a:p>
                      <a:pPr algn="ctr" indent="0" marL="0">
                        <a:buNone/>
                      </a:pPr>
                      <a:r>
                        <a:rPr lang="en-US" sz="1100" b="1" dirty="0">
                          <a:solidFill>
                            <a:schemeClr val="bg1"/>
                          </a:solidFill>
                          <a:latin typeface="Calibri" pitchFamily="34" charset="0"/>
                          <a:ea typeface="Calibri" pitchFamily="34" charset="-122"/>
                          <a:cs typeface="Calibri" pitchFamily="34" charset="-120"/>
                        </a:rPr>
                        <a:t>Prévision</a:t>
                      </a:r>
                      <a:endParaRPr lang="en-US" sz="1100" dirty="0">
                        <a:latin typeface="Calibri" charset="0"/>
                        <a:ea typeface="Calibri" charset="0"/>
                        <a:cs typeface="Calibri" charset="0"/>
                      </a:endParaRPr>
                    </a:p>
                  </a:txBody>
                  <a:tcPr marL="36576" marR="36576" marT="36576" marB="36576"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solidFill>
                      <a:schemeClr val="tx2"/>
                    </a:solidFill>
                  </a:tcPr>
                </a:tc>
                <a:tc>
                  <a:txBody>
                    <a:bodyPr/>
                    <a:lstStyle/>
                    <a:p>
                      <a:pPr algn="ctr" indent="0" marL="0">
                        <a:buNone/>
                      </a:pPr>
                      <a:r>
                        <a:rPr lang="en-US" sz="1100" b="1" dirty="0">
                          <a:solidFill>
                            <a:schemeClr val="bg1"/>
                          </a:solidFill>
                          <a:latin typeface="Calibri" pitchFamily="34" charset="0"/>
                          <a:ea typeface="Calibri" pitchFamily="34" charset="-122"/>
                          <a:cs typeface="Calibri" pitchFamily="34" charset="-120"/>
                        </a:rPr>
                        <a:t>Situation</a:t>
                      </a:r>
                      <a:endParaRPr lang="en-US" sz="1100" dirty="0">
                        <a:latin typeface="Calibri" charset="0"/>
                        <a:ea typeface="Calibri" charset="0"/>
                        <a:cs typeface="Calibri" charset="0"/>
                      </a:endParaRPr>
                    </a:p>
                  </a:txBody>
                  <a:tcPr marL="36576" marR="36576" marT="36576" marB="36576"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solidFill>
                      <a:schemeClr val="tx2"/>
                    </a:solidFill>
                  </a:tcPr>
                </a:tc>
              </a:tr>
              <a:tr h="256032">
                <a:tc gridSpan="6">
                  <a:txBody>
                    <a:bodyPr/>
                    <a:lstStyle/>
                    <a:p>
                      <a:pPr indent="0" marL="0">
                        <a:buNone/>
                      </a:pPr>
                      <a:r>
                        <a:rPr lang="en-US" sz="1100" b="1" dirty="0">
                          <a:solidFill>
                            <a:schemeClr val="tx2"/>
                          </a:solidFill>
                          <a:latin typeface="Calibri" pitchFamily="34" charset="0"/>
                          <a:ea typeface="Calibri" pitchFamily="34" charset="-122"/>
                          <a:cs typeface="Calibri" pitchFamily="34" charset="-120"/>
                        </a:rPr>
                        <a:t>Les objectifs du carré magique</a:t>
                      </a:r>
                      <a:endParaRPr lang="en-US" sz="1100" dirty="0">
                        <a:latin typeface="Calibri" charset="0"/>
                        <a:ea typeface="Calibri" charset="0"/>
                        <a:cs typeface="Calibri" charset="0"/>
                      </a:endParaRPr>
                    </a:p>
                  </a:txBody>
                  <a:tcPr marL="36576" marR="36576" marT="36576" marB="36576"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solidFill>
                      <a:schemeClr val="bg2"/>
                    </a:solidFill>
                  </a:tcPr>
                </a:tc>
                <a:tc hMerge="1">
                  <a:tcPr/>
                </a:tc>
                <a:tc hMerge="1">
                  <a:tcPr/>
                </a:tc>
                <a:tc hMerge="1">
                  <a:tcPr/>
                </a:tc>
                <a:tc hMerge="1">
                  <a:tcPr/>
                </a:tc>
                <a:tc hMerge="1">
                  <a:tcPr/>
                </a:tc>
              </a:tr>
              <a:tr h="310896">
                <a:tc>
                  <a:txBody>
                    <a:bodyPr/>
                    <a:lstStyle/>
                    <a:p>
                      <a:pPr indent="0" marL="0">
                        <a:buNone/>
                      </a:pPr>
                      <a:r>
                        <a:rPr lang="en-US" sz="1100" b="1" dirty="0">
                          <a:solidFill>
                            <a:schemeClr val="tx1"/>
                          </a:solidFill>
                          <a:latin typeface="Calibri" pitchFamily="34" charset="0"/>
                          <a:ea typeface="Calibri" pitchFamily="34" charset="-122"/>
                          <a:cs typeface="Calibri" pitchFamily="34" charset="-120"/>
                        </a:rPr>
                        <a:t>Croissance du PIB</a:t>
                      </a:r>
                      <a:endParaRPr lang="en-US" sz="1100" dirty="0">
                        <a:latin typeface="Calibri" charset="0"/>
                        <a:ea typeface="Calibri" charset="0"/>
                        <a:cs typeface="Calibri" charset="0"/>
                      </a:endParaRPr>
                    </a:p>
                  </a:txBody>
                  <a:tcPr marL="36576" marR="36576" marT="36576" marB="36576"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tcPr>
                </a:tc>
                <a:tc>
                  <a:txBody>
                    <a:bodyPr/>
                    <a:lstStyle/>
                    <a:p>
                      <a:pPr algn="ctr" indent="0" marL="0">
                        <a:buNone/>
                      </a:pPr>
                      <a:r>
                        <a:rPr lang="en-US" sz="1100" b="1" dirty="0">
                          <a:solidFill>
                            <a:schemeClr val="tx1"/>
                          </a:solidFill>
                          <a:latin typeface="Calibri" pitchFamily="34" charset="0"/>
                          <a:ea typeface="Calibri" pitchFamily="34" charset="-122"/>
                          <a:cs typeface="Calibri" pitchFamily="34" charset="-120"/>
                        </a:rPr>
                        <a:t>0,0 % (T2 2026)</a:t>
                      </a:r>
                      <a:endParaRPr lang="en-US" sz="1100" dirty="0">
                        <a:latin typeface="Calibri" charset="0"/>
                        <a:ea typeface="Calibri" charset="0"/>
                        <a:cs typeface="Calibri" charset="0"/>
                      </a:endParaRPr>
                    </a:p>
                  </a:txBody>
                  <a:tcPr marL="36576" marR="36576" marT="36576" marB="36576"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tcPr>
                </a:tc>
                <a:tc>
                  <a:txBody>
                    <a:bodyPr/>
                    <a:lstStyle/>
                    <a:p>
                      <a:pPr algn="ctr" indent="0" marL="0">
                        <a:buNone/>
                      </a:pPr>
                      <a:r>
                        <a:rPr lang="en-US" sz="1100" dirty="0">
                          <a:solidFill>
                            <a:schemeClr val="tx1"/>
                          </a:solidFill>
                          <a:latin typeface="Calibri" pitchFamily="34" charset="0"/>
                          <a:ea typeface="Calibri" pitchFamily="34" charset="-122"/>
                          <a:cs typeface="Calibri" pitchFamily="34" charset="-120"/>
                        </a:rPr>
                        <a:t>0,8 % (2025)</a:t>
                      </a:r>
                      <a:endParaRPr lang="en-US" sz="1100" dirty="0">
                        <a:latin typeface="Calibri" charset="0"/>
                        <a:ea typeface="Calibri" charset="0"/>
                        <a:cs typeface="Calibri" charset="0"/>
                      </a:endParaRPr>
                    </a:p>
                  </a:txBody>
                  <a:tcPr marL="36576" marR="36576" marT="36576" marB="36576"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tcPr>
                </a:tc>
                <a:tc>
                  <a:txBody>
                    <a:bodyPr/>
                    <a:lstStyle/>
                    <a:p>
                      <a:pPr algn="ctr" indent="0" marL="0">
                        <a:buNone/>
                      </a:pPr>
                      <a:r>
                        <a:rPr lang="en-US" sz="1100" dirty="0">
                          <a:solidFill>
                            <a:schemeClr val="tx1"/>
                          </a:solidFill>
                          <a:latin typeface="Calibri" pitchFamily="34" charset="0"/>
                          <a:ea typeface="Calibri" pitchFamily="34" charset="-122"/>
                          <a:cs typeface="Calibri" pitchFamily="34" charset="-120"/>
                        </a:rPr>
                        <a:t>potentiel : 1,2 %</a:t>
                      </a:r>
                      <a:endParaRPr lang="en-US" sz="1100" dirty="0">
                        <a:latin typeface="Calibri" charset="0"/>
                        <a:ea typeface="Calibri" charset="0"/>
                        <a:cs typeface="Calibri" charset="0"/>
                      </a:endParaRPr>
                    </a:p>
                  </a:txBody>
                  <a:tcPr marL="36576" marR="36576" marT="36576" marB="36576"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tcPr>
                </a:tc>
                <a:tc>
                  <a:txBody>
                    <a:bodyPr/>
                    <a:lstStyle/>
                    <a:p>
                      <a:pPr algn="ctr" indent="0" marL="0">
                        <a:buNone/>
                      </a:pPr>
                      <a:r>
                        <a:rPr lang="en-US" sz="1100" dirty="0">
                          <a:solidFill>
                            <a:schemeClr val="tx1"/>
                          </a:solidFill>
                          <a:latin typeface="Calibri" pitchFamily="34" charset="0"/>
                          <a:ea typeface="Calibri" pitchFamily="34" charset="-122"/>
                          <a:cs typeface="Calibri" pitchFamily="34" charset="-120"/>
                        </a:rPr>
                        <a:t>0,4 % (2026) ; 1,0 % (2027, gvt)</a:t>
                      </a:r>
                      <a:endParaRPr lang="en-US" sz="1100" dirty="0">
                        <a:latin typeface="Calibri" charset="0"/>
                        <a:ea typeface="Calibri" charset="0"/>
                        <a:cs typeface="Calibri" charset="0"/>
                      </a:endParaRPr>
                    </a:p>
                  </a:txBody>
                  <a:tcPr marL="36576" marR="36576" marT="36576" marB="36576"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tcPr>
                </a:tc>
                <a:tc>
                  <a:txBody>
                    <a:bodyPr/>
                    <a:lstStyle/>
                    <a:p>
                      <a:pPr algn="ctr" indent="0" marL="0">
                        <a:buNone/>
                      </a:pPr>
                      <a:r>
                        <a:rPr lang="en-US" sz="1100" b="1" dirty="0">
                          <a:solidFill>
                            <a:srgbClr val="B3261E"/>
                          </a:solidFill>
                          <a:latin typeface="Calibri" pitchFamily="34" charset="0"/>
                          <a:ea typeface="Calibri" pitchFamily="34" charset="-122"/>
                          <a:cs typeface="Calibri" pitchFamily="34" charset="-120"/>
                        </a:rPr>
                        <a:t>● sous le potentiel</a:t>
                      </a:r>
                      <a:endParaRPr lang="en-US" sz="1100" dirty="0">
                        <a:latin typeface="Calibri" charset="0"/>
                        <a:ea typeface="Calibri" charset="0"/>
                        <a:cs typeface="Calibri" charset="0"/>
                      </a:endParaRPr>
                    </a:p>
                  </a:txBody>
                  <a:tcPr marL="36576" marR="36576" marT="36576" marB="36576"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tcPr>
                </a:tc>
              </a:tr>
              <a:tr h="310896">
                <a:tc>
                  <a:txBody>
                    <a:bodyPr/>
                    <a:lstStyle/>
                    <a:p>
                      <a:pPr indent="0" marL="0">
                        <a:buNone/>
                      </a:pPr>
                      <a:r>
                        <a:rPr lang="en-US" sz="1100" b="1" dirty="0">
                          <a:solidFill>
                            <a:schemeClr val="tx1"/>
                          </a:solidFill>
                          <a:latin typeface="Calibri" pitchFamily="34" charset="0"/>
                          <a:ea typeface="Calibri" pitchFamily="34" charset="-122"/>
                          <a:cs typeface="Calibri" pitchFamily="34" charset="-120"/>
                        </a:rPr>
                        <a:t>Chômage</a:t>
                      </a:r>
                      <a:endParaRPr lang="en-US" sz="1100" dirty="0">
                        <a:latin typeface="Calibri" charset="0"/>
                        <a:ea typeface="Calibri" charset="0"/>
                        <a:cs typeface="Calibri" charset="0"/>
                      </a:endParaRPr>
                    </a:p>
                  </a:txBody>
                  <a:tcPr marL="36576" marR="36576" marT="36576" marB="36576"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tcPr>
                </a:tc>
                <a:tc>
                  <a:txBody>
                    <a:bodyPr/>
                    <a:lstStyle/>
                    <a:p>
                      <a:pPr algn="ctr" indent="0" marL="0">
                        <a:buNone/>
                      </a:pPr>
                      <a:r>
                        <a:rPr lang="en-US" sz="1100" b="1" dirty="0">
                          <a:solidFill>
                            <a:schemeClr val="tx1"/>
                          </a:solidFill>
                          <a:latin typeface="Calibri" pitchFamily="34" charset="0"/>
                          <a:ea typeface="Calibri" pitchFamily="34" charset="-122"/>
                          <a:cs typeface="Calibri" pitchFamily="34" charset="-120"/>
                        </a:rPr>
                        <a:t>8,3 % (T2)</a:t>
                      </a:r>
                      <a:endParaRPr lang="en-US" sz="1100" dirty="0">
                        <a:latin typeface="Calibri" charset="0"/>
                        <a:ea typeface="Calibri" charset="0"/>
                        <a:cs typeface="Calibri" charset="0"/>
                      </a:endParaRPr>
                    </a:p>
                  </a:txBody>
                  <a:tcPr marL="36576" marR="36576" marT="36576" marB="36576"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tcPr>
                </a:tc>
                <a:tc>
                  <a:txBody>
                    <a:bodyPr/>
                    <a:lstStyle/>
                    <a:p>
                      <a:pPr algn="ctr" indent="0" marL="0">
                        <a:buNone/>
                      </a:pPr>
                      <a:r>
                        <a:rPr lang="en-US" sz="1100" dirty="0">
                          <a:solidFill>
                            <a:schemeClr val="tx1"/>
                          </a:solidFill>
                          <a:latin typeface="Calibri" pitchFamily="34" charset="0"/>
                          <a:ea typeface="Calibri" pitchFamily="34" charset="-122"/>
                          <a:cs typeface="Calibri" pitchFamily="34" charset="-120"/>
                        </a:rPr>
                        <a:t>7,6 %</a:t>
                      </a:r>
                      <a:endParaRPr lang="en-US" sz="1100" dirty="0">
                        <a:latin typeface="Calibri" charset="0"/>
                        <a:ea typeface="Calibri" charset="0"/>
                        <a:cs typeface="Calibri" charset="0"/>
                      </a:endParaRPr>
                    </a:p>
                  </a:txBody>
                  <a:tcPr marL="36576" marR="36576" marT="36576" marB="36576"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tcPr>
                </a:tc>
                <a:tc>
                  <a:txBody>
                    <a:bodyPr/>
                    <a:lstStyle/>
                    <a:p>
                      <a:pPr algn="ctr" indent="0" marL="0">
                        <a:buNone/>
                      </a:pPr>
                      <a:r>
                        <a:rPr lang="en-US" sz="1100" dirty="0">
                          <a:solidFill>
                            <a:schemeClr val="tx1"/>
                          </a:solidFill>
                          <a:latin typeface="Calibri" pitchFamily="34" charset="0"/>
                          <a:ea typeface="Calibri" pitchFamily="34" charset="-122"/>
                          <a:cs typeface="Calibri" pitchFamily="34" charset="-120"/>
                        </a:rPr>
                        <a:t>structurel : 7,8 %</a:t>
                      </a:r>
                      <a:endParaRPr lang="en-US" sz="1100" dirty="0">
                        <a:latin typeface="Calibri" charset="0"/>
                        <a:ea typeface="Calibri" charset="0"/>
                        <a:cs typeface="Calibri" charset="0"/>
                      </a:endParaRPr>
                    </a:p>
                  </a:txBody>
                  <a:tcPr marL="36576" marR="36576" marT="36576" marB="36576"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tcPr>
                </a:tc>
                <a:tc>
                  <a:txBody>
                    <a:bodyPr/>
                    <a:lstStyle/>
                    <a:p>
                      <a:pPr algn="ctr" indent="0" marL="0">
                        <a:buNone/>
                      </a:pPr>
                      <a:r>
                        <a:rPr lang="en-US" sz="1100" dirty="0">
                          <a:solidFill>
                            <a:schemeClr val="tx1"/>
                          </a:solidFill>
                          <a:latin typeface="Calibri" pitchFamily="34" charset="0"/>
                          <a:ea typeface="Calibri" pitchFamily="34" charset="-122"/>
                          <a:cs typeface="Calibri" pitchFamily="34" charset="-120"/>
                        </a:rPr>
                        <a:t>8,6 % fin 2026</a:t>
                      </a:r>
                      <a:endParaRPr lang="en-US" sz="1100" dirty="0">
                        <a:latin typeface="Calibri" charset="0"/>
                        <a:ea typeface="Calibri" charset="0"/>
                        <a:cs typeface="Calibri" charset="0"/>
                      </a:endParaRPr>
                    </a:p>
                  </a:txBody>
                  <a:tcPr marL="36576" marR="36576" marT="36576" marB="36576"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tcPr>
                </a:tc>
                <a:tc>
                  <a:txBody>
                    <a:bodyPr/>
                    <a:lstStyle/>
                    <a:p>
                      <a:pPr algn="ctr" indent="0" marL="0">
                        <a:buNone/>
                      </a:pPr>
                      <a:r>
                        <a:rPr lang="en-US" sz="1100" b="1" dirty="0">
                          <a:solidFill>
                            <a:srgbClr val="B26A00"/>
                          </a:solidFill>
                          <a:latin typeface="Calibri" pitchFamily="34" charset="0"/>
                          <a:ea typeface="Calibri" pitchFamily="34" charset="-122"/>
                          <a:cs typeface="Calibri" pitchFamily="34" charset="-120"/>
                        </a:rPr>
                        <a:t>● au-dessus</a:t>
                      </a:r>
                      <a:endParaRPr lang="en-US" sz="1100" dirty="0">
                        <a:latin typeface="Calibri" charset="0"/>
                        <a:ea typeface="Calibri" charset="0"/>
                        <a:cs typeface="Calibri" charset="0"/>
                      </a:endParaRPr>
                    </a:p>
                  </a:txBody>
                  <a:tcPr marL="36576" marR="36576" marT="36576" marB="36576"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tcPr>
                </a:tc>
              </a:tr>
              <a:tr h="310896">
                <a:tc>
                  <a:txBody>
                    <a:bodyPr/>
                    <a:lstStyle/>
                    <a:p>
                      <a:pPr indent="0" marL="0">
                        <a:buNone/>
                      </a:pPr>
                      <a:r>
                        <a:rPr lang="en-US" sz="1100" b="1" dirty="0">
                          <a:solidFill>
                            <a:schemeClr val="tx1"/>
                          </a:solidFill>
                          <a:latin typeface="Calibri" pitchFamily="34" charset="0"/>
                          <a:ea typeface="Calibri" pitchFamily="34" charset="-122"/>
                          <a:cs typeface="Calibri" pitchFamily="34" charset="-120"/>
                        </a:rPr>
                        <a:t>Inflation (sur un an)</a:t>
                      </a:r>
                      <a:endParaRPr lang="en-US" sz="1100" dirty="0">
                        <a:latin typeface="Calibri" charset="0"/>
                        <a:ea typeface="Calibri" charset="0"/>
                        <a:cs typeface="Calibri" charset="0"/>
                      </a:endParaRPr>
                    </a:p>
                  </a:txBody>
                  <a:tcPr marL="36576" marR="36576" marT="36576" marB="36576"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tcPr>
                </a:tc>
                <a:tc>
                  <a:txBody>
                    <a:bodyPr/>
                    <a:lstStyle/>
                    <a:p>
                      <a:pPr algn="ctr" indent="0" marL="0">
                        <a:buNone/>
                      </a:pPr>
                      <a:r>
                        <a:rPr lang="en-US" sz="1100" b="1" dirty="0">
                          <a:solidFill>
                            <a:schemeClr val="tx1"/>
                          </a:solidFill>
                          <a:latin typeface="Calibri" pitchFamily="34" charset="0"/>
                          <a:ea typeface="Calibri" pitchFamily="34" charset="-122"/>
                          <a:cs typeface="Calibri" pitchFamily="34" charset="-120"/>
                        </a:rPr>
                        <a:t>3,1 % (sept.)</a:t>
                      </a:r>
                      <a:endParaRPr lang="en-US" sz="1100" dirty="0">
                        <a:latin typeface="Calibri" charset="0"/>
                        <a:ea typeface="Calibri" charset="0"/>
                        <a:cs typeface="Calibri" charset="0"/>
                      </a:endParaRPr>
                    </a:p>
                  </a:txBody>
                  <a:tcPr marL="36576" marR="36576" marT="36576" marB="36576"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tcPr>
                </a:tc>
                <a:tc>
                  <a:txBody>
                    <a:bodyPr/>
                    <a:lstStyle/>
                    <a:p>
                      <a:pPr algn="ctr" indent="0" marL="0">
                        <a:buNone/>
                      </a:pPr>
                      <a:r>
                        <a:rPr lang="en-US" sz="1100" dirty="0">
                          <a:solidFill>
                            <a:schemeClr val="tx1"/>
                          </a:solidFill>
                          <a:latin typeface="Calibri" pitchFamily="34" charset="0"/>
                          <a:ea typeface="Calibri" pitchFamily="34" charset="-122"/>
                          <a:cs typeface="Calibri" pitchFamily="34" charset="-120"/>
                        </a:rPr>
                        <a:t>1,2 %</a:t>
                      </a:r>
                      <a:endParaRPr lang="en-US" sz="1100" dirty="0">
                        <a:latin typeface="Calibri" charset="0"/>
                        <a:ea typeface="Calibri" charset="0"/>
                        <a:cs typeface="Calibri" charset="0"/>
                      </a:endParaRPr>
                    </a:p>
                  </a:txBody>
                  <a:tcPr marL="36576" marR="36576" marT="36576" marB="36576"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tcPr>
                </a:tc>
                <a:tc>
                  <a:txBody>
                    <a:bodyPr/>
                    <a:lstStyle/>
                    <a:p>
                      <a:pPr algn="ctr" indent="0" marL="0">
                        <a:buNone/>
                      </a:pPr>
                      <a:r>
                        <a:rPr lang="en-US" sz="1100" dirty="0">
                          <a:solidFill>
                            <a:schemeClr val="tx1"/>
                          </a:solidFill>
                          <a:latin typeface="Calibri" pitchFamily="34" charset="0"/>
                          <a:ea typeface="Calibri" pitchFamily="34" charset="-122"/>
                          <a:cs typeface="Calibri" pitchFamily="34" charset="-120"/>
                        </a:rPr>
                        <a:t>cible BCE : 2 %</a:t>
                      </a:r>
                      <a:endParaRPr lang="en-US" sz="1100" dirty="0">
                        <a:latin typeface="Calibri" charset="0"/>
                        <a:ea typeface="Calibri" charset="0"/>
                        <a:cs typeface="Calibri" charset="0"/>
                      </a:endParaRPr>
                    </a:p>
                  </a:txBody>
                  <a:tcPr marL="36576" marR="36576" marT="36576" marB="36576"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tcPr>
                </a:tc>
                <a:tc>
                  <a:txBody>
                    <a:bodyPr/>
                    <a:lstStyle/>
                    <a:p>
                      <a:pPr algn="ctr" indent="0" marL="0">
                        <a:buNone/>
                      </a:pPr>
                      <a:r>
                        <a:rPr lang="en-US" sz="1100" dirty="0">
                          <a:solidFill>
                            <a:schemeClr val="tx1"/>
                          </a:solidFill>
                          <a:latin typeface="Calibri" pitchFamily="34" charset="0"/>
                          <a:ea typeface="Calibri" pitchFamily="34" charset="-122"/>
                          <a:cs typeface="Calibri" pitchFamily="34" charset="-120"/>
                        </a:rPr>
                        <a:t>2,9 % fin 2026</a:t>
                      </a:r>
                      <a:endParaRPr lang="en-US" sz="1100" dirty="0">
                        <a:latin typeface="Calibri" charset="0"/>
                        <a:ea typeface="Calibri" charset="0"/>
                        <a:cs typeface="Calibri" charset="0"/>
                      </a:endParaRPr>
                    </a:p>
                  </a:txBody>
                  <a:tcPr marL="36576" marR="36576" marT="36576" marB="36576"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tcPr>
                </a:tc>
                <a:tc>
                  <a:txBody>
                    <a:bodyPr/>
                    <a:lstStyle/>
                    <a:p>
                      <a:pPr algn="ctr" indent="0" marL="0">
                        <a:buNone/>
                      </a:pPr>
                      <a:r>
                        <a:rPr lang="en-US" sz="1100" b="1" dirty="0">
                          <a:solidFill>
                            <a:srgbClr val="B3261E"/>
                          </a:solidFill>
                          <a:latin typeface="Calibri" pitchFamily="34" charset="0"/>
                          <a:ea typeface="Calibri" pitchFamily="34" charset="-122"/>
                          <a:cs typeface="Calibri" pitchFamily="34" charset="-120"/>
                        </a:rPr>
                        <a:t>● au-dessus</a:t>
                      </a:r>
                      <a:endParaRPr lang="en-US" sz="1100" dirty="0">
                        <a:latin typeface="Calibri" charset="0"/>
                        <a:ea typeface="Calibri" charset="0"/>
                        <a:cs typeface="Calibri" charset="0"/>
                      </a:endParaRPr>
                    </a:p>
                  </a:txBody>
                  <a:tcPr marL="36576" marR="36576" marT="36576" marB="36576"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tcPr>
                </a:tc>
              </a:tr>
              <a:tr h="310896">
                <a:tc>
                  <a:txBody>
                    <a:bodyPr/>
                    <a:lstStyle/>
                    <a:p>
                      <a:pPr indent="0" marL="0">
                        <a:buNone/>
                      </a:pPr>
                      <a:r>
                        <a:rPr lang="en-US" sz="1100" b="1" dirty="0">
                          <a:solidFill>
                            <a:schemeClr val="tx1"/>
                          </a:solidFill>
                          <a:latin typeface="Calibri" pitchFamily="34" charset="0"/>
                          <a:ea typeface="Calibri" pitchFamily="34" charset="-122"/>
                          <a:cs typeface="Calibri" pitchFamily="34" charset="-120"/>
                        </a:rPr>
                        <a:t>Balance courante (12 mois)</a:t>
                      </a:r>
                      <a:endParaRPr lang="en-US" sz="1100" dirty="0">
                        <a:latin typeface="Calibri" charset="0"/>
                        <a:ea typeface="Calibri" charset="0"/>
                        <a:cs typeface="Calibri" charset="0"/>
                      </a:endParaRPr>
                    </a:p>
                  </a:txBody>
                  <a:tcPr marL="36576" marR="36576" marT="36576" marB="36576"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tcPr>
                </a:tc>
                <a:tc>
                  <a:txBody>
                    <a:bodyPr/>
                    <a:lstStyle/>
                    <a:p>
                      <a:pPr algn="ctr" indent="0" marL="0">
                        <a:buNone/>
                      </a:pPr>
                      <a:r>
                        <a:rPr lang="en-US" sz="1100" b="1" dirty="0">
                          <a:solidFill>
                            <a:schemeClr val="tx1"/>
                          </a:solidFill>
                          <a:latin typeface="Calibri" pitchFamily="34" charset="0"/>
                          <a:ea typeface="Calibri" pitchFamily="34" charset="-122"/>
                          <a:cs typeface="Calibri" pitchFamily="34" charset="-120"/>
                        </a:rPr>
                        <a:t>− 10,3 Md€</a:t>
                      </a:r>
                      <a:endParaRPr lang="en-US" sz="1100" dirty="0">
                        <a:latin typeface="Calibri" charset="0"/>
                        <a:ea typeface="Calibri" charset="0"/>
                        <a:cs typeface="Calibri" charset="0"/>
                      </a:endParaRPr>
                    </a:p>
                  </a:txBody>
                  <a:tcPr marL="36576" marR="36576" marT="36576" marB="36576"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tcPr>
                </a:tc>
                <a:tc>
                  <a:txBody>
                    <a:bodyPr/>
                    <a:lstStyle/>
                    <a:p>
                      <a:pPr algn="ctr" indent="0" marL="0">
                        <a:buNone/>
                      </a:pPr>
                      <a:r>
                        <a:rPr lang="en-US" sz="1100" dirty="0">
                          <a:solidFill>
                            <a:schemeClr val="tx1"/>
                          </a:solidFill>
                          <a:latin typeface="Calibri" pitchFamily="34" charset="0"/>
                          <a:ea typeface="Calibri" pitchFamily="34" charset="-122"/>
                          <a:cs typeface="Calibri" pitchFamily="34" charset="-120"/>
                        </a:rPr>
                        <a:t>− 17,2 Md€</a:t>
                      </a:r>
                      <a:endParaRPr lang="en-US" sz="1100" dirty="0">
                        <a:latin typeface="Calibri" charset="0"/>
                        <a:ea typeface="Calibri" charset="0"/>
                        <a:cs typeface="Calibri" charset="0"/>
                      </a:endParaRPr>
                    </a:p>
                  </a:txBody>
                  <a:tcPr marL="36576" marR="36576" marT="36576" marB="36576"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tcPr>
                </a:tc>
                <a:tc>
                  <a:txBody>
                    <a:bodyPr/>
                    <a:lstStyle/>
                    <a:p>
                      <a:pPr algn="ctr" indent="0" marL="0">
                        <a:buNone/>
                      </a:pPr>
                      <a:r>
                        <a:rPr lang="en-US" sz="1100" dirty="0">
                          <a:solidFill>
                            <a:schemeClr val="tx1"/>
                          </a:solidFill>
                          <a:latin typeface="Calibri" pitchFamily="34" charset="0"/>
                          <a:ea typeface="Calibri" pitchFamily="34" charset="-122"/>
                          <a:cs typeface="Calibri" pitchFamily="34" charset="-120"/>
                        </a:rPr>
                        <a:t>équilibre : 0</a:t>
                      </a:r>
                      <a:endParaRPr lang="en-US" sz="1100" dirty="0">
                        <a:latin typeface="Calibri" charset="0"/>
                        <a:ea typeface="Calibri" charset="0"/>
                        <a:cs typeface="Calibri" charset="0"/>
                      </a:endParaRPr>
                    </a:p>
                  </a:txBody>
                  <a:tcPr marL="36576" marR="36576" marT="36576" marB="36576"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tcPr>
                </a:tc>
                <a:tc>
                  <a:txBody>
                    <a:bodyPr/>
                    <a:lstStyle/>
                    <a:p>
                      <a:pPr algn="ctr" indent="0" marL="0">
                        <a:buNone/>
                      </a:pPr>
                      <a:r>
                        <a:rPr lang="en-US" sz="1100" dirty="0">
                          <a:solidFill>
                            <a:schemeClr val="tx1"/>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6576" marR="36576" marT="36576" marB="36576"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tcPr>
                </a:tc>
                <a:tc>
                  <a:txBody>
                    <a:bodyPr/>
                    <a:lstStyle/>
                    <a:p>
                      <a:pPr algn="ctr" indent="0" marL="0">
                        <a:buNone/>
                      </a:pPr>
                      <a:r>
                        <a:rPr lang="en-US" sz="1100" b="1" dirty="0">
                          <a:solidFill>
                            <a:srgbClr val="2E7D32"/>
                          </a:solidFill>
                          <a:latin typeface="Calibri" pitchFamily="34" charset="0"/>
                          <a:ea typeface="Calibri" pitchFamily="34" charset="-122"/>
                          <a:cs typeface="Calibri" pitchFamily="34" charset="-120"/>
                        </a:rPr>
                        <a:t>● proche</a:t>
                      </a:r>
                      <a:endParaRPr lang="en-US" sz="1100" dirty="0">
                        <a:latin typeface="Calibri" charset="0"/>
                        <a:ea typeface="Calibri" charset="0"/>
                        <a:cs typeface="Calibri" charset="0"/>
                      </a:endParaRPr>
                    </a:p>
                  </a:txBody>
                  <a:tcPr marL="36576" marR="36576" marT="36576" marB="36576"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tcPr>
                </a:tc>
              </a:tr>
              <a:tr h="256032">
                <a:tc gridSpan="6">
                  <a:txBody>
                    <a:bodyPr/>
                    <a:lstStyle/>
                    <a:p>
                      <a:pPr indent="0" marL="0">
                        <a:buNone/>
                      </a:pPr>
                      <a:r>
                        <a:rPr lang="en-US" sz="1100" b="1" dirty="0">
                          <a:solidFill>
                            <a:schemeClr val="tx2"/>
                          </a:solidFill>
                          <a:latin typeface="Calibri" pitchFamily="34" charset="0"/>
                          <a:ea typeface="Calibri" pitchFamily="34" charset="-122"/>
                          <a:cs typeface="Calibri" pitchFamily="34" charset="-120"/>
                        </a:rPr>
                        <a:t>Les finances publiques</a:t>
                      </a:r>
                      <a:endParaRPr lang="en-US" sz="1100" dirty="0">
                        <a:latin typeface="Calibri" charset="0"/>
                        <a:ea typeface="Calibri" charset="0"/>
                        <a:cs typeface="Calibri" charset="0"/>
                      </a:endParaRPr>
                    </a:p>
                  </a:txBody>
                  <a:tcPr marL="36576" marR="36576" marT="36576" marB="36576"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solidFill>
                      <a:schemeClr val="bg2"/>
                    </a:solidFill>
                  </a:tcPr>
                </a:tc>
                <a:tc hMerge="1">
                  <a:tcPr/>
                </a:tc>
                <a:tc hMerge="1">
                  <a:tcPr/>
                </a:tc>
                <a:tc hMerge="1">
                  <a:tcPr/>
                </a:tc>
                <a:tc hMerge="1">
                  <a:tcPr/>
                </a:tc>
                <a:tc hMerge="1">
                  <a:tcPr/>
                </a:tc>
              </a:tr>
              <a:tr h="310896">
                <a:tc>
                  <a:txBody>
                    <a:bodyPr/>
                    <a:lstStyle/>
                    <a:p>
                      <a:pPr indent="0" marL="0">
                        <a:buNone/>
                      </a:pPr>
                      <a:r>
                        <a:rPr lang="en-US" sz="1100" b="1" dirty="0">
                          <a:solidFill>
                            <a:schemeClr val="tx1"/>
                          </a:solidFill>
                          <a:latin typeface="Calibri" pitchFamily="34" charset="0"/>
                          <a:ea typeface="Calibri" pitchFamily="34" charset="-122"/>
                          <a:cs typeface="Calibri" pitchFamily="34" charset="-120"/>
                        </a:rPr>
                        <a:t>Déficit public (% du PIB)</a:t>
                      </a:r>
                      <a:endParaRPr lang="en-US" sz="1100" dirty="0">
                        <a:latin typeface="Calibri" charset="0"/>
                        <a:ea typeface="Calibri" charset="0"/>
                        <a:cs typeface="Calibri" charset="0"/>
                      </a:endParaRPr>
                    </a:p>
                  </a:txBody>
                  <a:tcPr marL="36576" marR="36576" marT="36576" marB="36576"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tcPr>
                </a:tc>
                <a:tc>
                  <a:txBody>
                    <a:bodyPr/>
                    <a:lstStyle/>
                    <a:p>
                      <a:pPr algn="ctr" indent="0" marL="0">
                        <a:buNone/>
                      </a:pPr>
                      <a:r>
                        <a:rPr lang="en-US" sz="1100" b="1" dirty="0">
                          <a:solidFill>
                            <a:schemeClr val="tx1"/>
                          </a:solidFill>
                          <a:latin typeface="Calibri" pitchFamily="34" charset="0"/>
                          <a:ea typeface="Calibri" pitchFamily="34" charset="-122"/>
                          <a:cs typeface="Calibri" pitchFamily="34" charset="-120"/>
                        </a:rPr>
                        <a:t>5,4 % (prévu)</a:t>
                      </a:r>
                      <a:endParaRPr lang="en-US" sz="1100" dirty="0">
                        <a:latin typeface="Calibri" charset="0"/>
                        <a:ea typeface="Calibri" charset="0"/>
                        <a:cs typeface="Calibri" charset="0"/>
                      </a:endParaRPr>
                    </a:p>
                  </a:txBody>
                  <a:tcPr marL="36576" marR="36576" marT="36576" marB="36576"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tcPr>
                </a:tc>
                <a:tc>
                  <a:txBody>
                    <a:bodyPr/>
                    <a:lstStyle/>
                    <a:p>
                      <a:pPr algn="ctr" indent="0" marL="0">
                        <a:buNone/>
                      </a:pPr>
                      <a:r>
                        <a:rPr lang="en-US" sz="1100" dirty="0">
                          <a:solidFill>
                            <a:schemeClr val="tx1"/>
                          </a:solidFill>
                          <a:latin typeface="Calibri" pitchFamily="34" charset="0"/>
                          <a:ea typeface="Calibri" pitchFamily="34" charset="-122"/>
                          <a:cs typeface="Calibri" pitchFamily="34" charset="-120"/>
                        </a:rPr>
                        <a:t>5,1 %</a:t>
                      </a:r>
                      <a:endParaRPr lang="en-US" sz="1100" dirty="0">
                        <a:latin typeface="Calibri" charset="0"/>
                        <a:ea typeface="Calibri" charset="0"/>
                        <a:cs typeface="Calibri" charset="0"/>
                      </a:endParaRPr>
                    </a:p>
                  </a:txBody>
                  <a:tcPr marL="36576" marR="36576" marT="36576" marB="36576"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tcPr>
                </a:tc>
                <a:tc>
                  <a:txBody>
                    <a:bodyPr/>
                    <a:lstStyle/>
                    <a:p>
                      <a:pPr algn="ctr" indent="0" marL="0">
                        <a:buNone/>
                      </a:pPr>
                      <a:r>
                        <a:rPr lang="en-US" sz="1100" dirty="0">
                          <a:solidFill>
                            <a:schemeClr val="tx1"/>
                          </a:solidFill>
                          <a:latin typeface="Calibri" pitchFamily="34" charset="0"/>
                          <a:ea typeface="Calibri" pitchFamily="34" charset="-122"/>
                          <a:cs typeface="Calibri" pitchFamily="34" charset="-120"/>
                        </a:rPr>
                        <a:t>règle UE : 3 %</a:t>
                      </a:r>
                      <a:endParaRPr lang="en-US" sz="1100" dirty="0">
                        <a:latin typeface="Calibri" charset="0"/>
                        <a:ea typeface="Calibri" charset="0"/>
                        <a:cs typeface="Calibri" charset="0"/>
                      </a:endParaRPr>
                    </a:p>
                  </a:txBody>
                  <a:tcPr marL="36576" marR="36576" marT="36576" marB="36576"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tcPr>
                </a:tc>
                <a:tc>
                  <a:txBody>
                    <a:bodyPr/>
                    <a:lstStyle/>
                    <a:p>
                      <a:pPr algn="ctr" indent="0" marL="0">
                        <a:buNone/>
                      </a:pPr>
                      <a:r>
                        <a:rPr lang="en-US" sz="1100" dirty="0">
                          <a:solidFill>
                            <a:schemeClr val="tx1"/>
                          </a:solidFill>
                          <a:latin typeface="Calibri" pitchFamily="34" charset="0"/>
                          <a:ea typeface="Calibri" pitchFamily="34" charset="-122"/>
                          <a:cs typeface="Calibri" pitchFamily="34" charset="-120"/>
                        </a:rPr>
                        <a:t>5,0 % (2027)</a:t>
                      </a:r>
                      <a:endParaRPr lang="en-US" sz="1100" dirty="0">
                        <a:latin typeface="Calibri" charset="0"/>
                        <a:ea typeface="Calibri" charset="0"/>
                        <a:cs typeface="Calibri" charset="0"/>
                      </a:endParaRPr>
                    </a:p>
                  </a:txBody>
                  <a:tcPr marL="36576" marR="36576" marT="36576" marB="36576"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tcPr>
                </a:tc>
                <a:tc>
                  <a:txBody>
                    <a:bodyPr/>
                    <a:lstStyle/>
                    <a:p>
                      <a:pPr algn="ctr" indent="0" marL="0">
                        <a:buNone/>
                      </a:pPr>
                      <a:r>
                        <a:rPr lang="en-US" sz="1100" b="1" dirty="0">
                          <a:solidFill>
                            <a:srgbClr val="B3261E"/>
                          </a:solidFill>
                          <a:latin typeface="Calibri" pitchFamily="34" charset="0"/>
                          <a:ea typeface="Calibri" pitchFamily="34" charset="-122"/>
                          <a:cs typeface="Calibri" pitchFamily="34" charset="-120"/>
                        </a:rPr>
                        <a:t>● très au-dessus</a:t>
                      </a:r>
                      <a:endParaRPr lang="en-US" sz="1100" dirty="0">
                        <a:latin typeface="Calibri" charset="0"/>
                        <a:ea typeface="Calibri" charset="0"/>
                        <a:cs typeface="Calibri" charset="0"/>
                      </a:endParaRPr>
                    </a:p>
                  </a:txBody>
                  <a:tcPr marL="36576" marR="36576" marT="36576" marB="36576"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tcPr>
                </a:tc>
              </a:tr>
              <a:tr h="310896">
                <a:tc>
                  <a:txBody>
                    <a:bodyPr/>
                    <a:lstStyle/>
                    <a:p>
                      <a:pPr indent="0" marL="0">
                        <a:buNone/>
                      </a:pPr>
                      <a:r>
                        <a:rPr lang="en-US" sz="1100" b="1" dirty="0">
                          <a:solidFill>
                            <a:schemeClr val="tx1"/>
                          </a:solidFill>
                          <a:latin typeface="Calibri" pitchFamily="34" charset="0"/>
                          <a:ea typeface="Calibri" pitchFamily="34" charset="-122"/>
                          <a:cs typeface="Calibri" pitchFamily="34" charset="-120"/>
                        </a:rPr>
                        <a:t>Dette publique (% du PIB)</a:t>
                      </a:r>
                      <a:endParaRPr lang="en-US" sz="1100" dirty="0">
                        <a:latin typeface="Calibri" charset="0"/>
                        <a:ea typeface="Calibri" charset="0"/>
                        <a:cs typeface="Calibri" charset="0"/>
                      </a:endParaRPr>
                    </a:p>
                  </a:txBody>
                  <a:tcPr marL="36576" marR="36576" marT="36576" marB="36576"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tcPr>
                </a:tc>
                <a:tc>
                  <a:txBody>
                    <a:bodyPr/>
                    <a:lstStyle/>
                    <a:p>
                      <a:pPr algn="ctr" indent="0" marL="0">
                        <a:buNone/>
                      </a:pPr>
                      <a:r>
                        <a:rPr lang="en-US" sz="1100" b="1" dirty="0">
                          <a:solidFill>
                            <a:schemeClr val="tx1"/>
                          </a:solidFill>
                          <a:latin typeface="Calibri" pitchFamily="34" charset="0"/>
                          <a:ea typeface="Calibri" pitchFamily="34" charset="-122"/>
                          <a:cs typeface="Calibri" pitchFamily="34" charset="-120"/>
                        </a:rPr>
                        <a:t>119,3 % (prévu)</a:t>
                      </a:r>
                      <a:endParaRPr lang="en-US" sz="1100" dirty="0">
                        <a:latin typeface="Calibri" charset="0"/>
                        <a:ea typeface="Calibri" charset="0"/>
                        <a:cs typeface="Calibri" charset="0"/>
                      </a:endParaRPr>
                    </a:p>
                  </a:txBody>
                  <a:tcPr marL="36576" marR="36576" marT="36576" marB="36576"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tcPr>
                </a:tc>
                <a:tc>
                  <a:txBody>
                    <a:bodyPr/>
                    <a:lstStyle/>
                    <a:p>
                      <a:pPr algn="ctr" indent="0" marL="0">
                        <a:buNone/>
                      </a:pPr>
                      <a:r>
                        <a:rPr lang="en-US" sz="1100" dirty="0">
                          <a:solidFill>
                            <a:schemeClr val="tx1"/>
                          </a:solidFill>
                          <a:latin typeface="Calibri" pitchFamily="34" charset="0"/>
                          <a:ea typeface="Calibri" pitchFamily="34" charset="-122"/>
                          <a:cs typeface="Calibri" pitchFamily="34" charset="-120"/>
                        </a:rPr>
                        <a:t>115,7 %</a:t>
                      </a:r>
                      <a:endParaRPr lang="en-US" sz="1100" dirty="0">
                        <a:latin typeface="Calibri" charset="0"/>
                        <a:ea typeface="Calibri" charset="0"/>
                        <a:cs typeface="Calibri" charset="0"/>
                      </a:endParaRPr>
                    </a:p>
                  </a:txBody>
                  <a:tcPr marL="36576" marR="36576" marT="36576" marB="36576"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tcPr>
                </a:tc>
                <a:tc>
                  <a:txBody>
                    <a:bodyPr/>
                    <a:lstStyle/>
                    <a:p>
                      <a:pPr algn="ctr" indent="0" marL="0">
                        <a:buNone/>
                      </a:pPr>
                      <a:r>
                        <a:rPr lang="en-US" sz="1100" dirty="0">
                          <a:solidFill>
                            <a:schemeClr val="tx1"/>
                          </a:solidFill>
                          <a:latin typeface="Calibri" pitchFamily="34" charset="0"/>
                          <a:ea typeface="Calibri" pitchFamily="34" charset="-122"/>
                          <a:cs typeface="Calibri" pitchFamily="34" charset="-120"/>
                        </a:rPr>
                        <a:t>règle UE : 60 %</a:t>
                      </a:r>
                      <a:endParaRPr lang="en-US" sz="1100" dirty="0">
                        <a:latin typeface="Calibri" charset="0"/>
                        <a:ea typeface="Calibri" charset="0"/>
                        <a:cs typeface="Calibri" charset="0"/>
                      </a:endParaRPr>
                    </a:p>
                  </a:txBody>
                  <a:tcPr marL="36576" marR="36576" marT="36576" marB="36576"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tcPr>
                </a:tc>
                <a:tc>
                  <a:txBody>
                    <a:bodyPr/>
                    <a:lstStyle/>
                    <a:p>
                      <a:pPr algn="ctr" indent="0" marL="0">
                        <a:buNone/>
                      </a:pPr>
                      <a:r>
                        <a:rPr lang="en-US" sz="1100" dirty="0">
                          <a:solidFill>
                            <a:schemeClr val="tx1"/>
                          </a:solidFill>
                          <a:latin typeface="Calibri" pitchFamily="34" charset="0"/>
                          <a:ea typeface="Calibri" pitchFamily="34" charset="-122"/>
                          <a:cs typeface="Calibri" pitchFamily="34" charset="-120"/>
                        </a:rPr>
                        <a:t>121,7 % (2027)</a:t>
                      </a:r>
                      <a:endParaRPr lang="en-US" sz="1100" dirty="0">
                        <a:latin typeface="Calibri" charset="0"/>
                        <a:ea typeface="Calibri" charset="0"/>
                        <a:cs typeface="Calibri" charset="0"/>
                      </a:endParaRPr>
                    </a:p>
                  </a:txBody>
                  <a:tcPr marL="36576" marR="36576" marT="36576" marB="36576"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tcPr>
                </a:tc>
                <a:tc>
                  <a:txBody>
                    <a:bodyPr/>
                    <a:lstStyle/>
                    <a:p>
                      <a:pPr algn="ctr" indent="0" marL="0">
                        <a:buNone/>
                      </a:pPr>
                      <a:r>
                        <a:rPr lang="en-US" sz="1100" b="1" dirty="0">
                          <a:solidFill>
                            <a:srgbClr val="B3261E"/>
                          </a:solidFill>
                          <a:latin typeface="Calibri" pitchFamily="34" charset="0"/>
                          <a:ea typeface="Calibri" pitchFamily="34" charset="-122"/>
                          <a:cs typeface="Calibri" pitchFamily="34" charset="-120"/>
                        </a:rPr>
                        <a:t>● le double</a:t>
                      </a:r>
                      <a:endParaRPr lang="en-US" sz="1100" dirty="0">
                        <a:latin typeface="Calibri" charset="0"/>
                        <a:ea typeface="Calibri" charset="0"/>
                        <a:cs typeface="Calibri" charset="0"/>
                      </a:endParaRPr>
                    </a:p>
                  </a:txBody>
                  <a:tcPr marL="36576" marR="36576" marT="36576" marB="36576"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tcPr>
                </a:tc>
              </a:tr>
              <a:tr h="310896">
                <a:tc>
                  <a:txBody>
                    <a:bodyPr/>
                    <a:lstStyle/>
                    <a:p>
                      <a:pPr indent="0" marL="0">
                        <a:buNone/>
                      </a:pPr>
                      <a:r>
                        <a:rPr lang="en-US" sz="1100" b="1" dirty="0">
                          <a:solidFill>
                            <a:schemeClr val="tx1"/>
                          </a:solidFill>
                          <a:latin typeface="Calibri" pitchFamily="34" charset="0"/>
                          <a:ea typeface="Calibri" pitchFamily="34" charset="-122"/>
                          <a:cs typeface="Calibri" pitchFamily="34" charset="-120"/>
                        </a:rPr>
                        <a:t>Déficit primaire (hors intérêts)</a:t>
                      </a:r>
                      <a:endParaRPr lang="en-US" sz="1100" dirty="0">
                        <a:latin typeface="Calibri" charset="0"/>
                        <a:ea typeface="Calibri" charset="0"/>
                        <a:cs typeface="Calibri" charset="0"/>
                      </a:endParaRPr>
                    </a:p>
                  </a:txBody>
                  <a:tcPr marL="36576" marR="36576" marT="36576" marB="36576"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tcPr>
                </a:tc>
                <a:tc>
                  <a:txBody>
                    <a:bodyPr/>
                    <a:lstStyle/>
                    <a:p>
                      <a:pPr algn="ctr" indent="0" marL="0">
                        <a:buNone/>
                      </a:pPr>
                      <a:r>
                        <a:rPr lang="en-US" sz="1100" b="1" dirty="0">
                          <a:solidFill>
                            <a:schemeClr val="tx1"/>
                          </a:solidFill>
                          <a:latin typeface="Calibri" pitchFamily="34" charset="0"/>
                          <a:ea typeface="Calibri" pitchFamily="34" charset="-122"/>
                          <a:cs typeface="Calibri" pitchFamily="34" charset="-120"/>
                        </a:rPr>
                        <a:t>2,8 pts de PIB (2026)</a:t>
                      </a:r>
                      <a:endParaRPr lang="en-US" sz="1100" dirty="0">
                        <a:latin typeface="Calibri" charset="0"/>
                        <a:ea typeface="Calibri" charset="0"/>
                        <a:cs typeface="Calibri" charset="0"/>
                      </a:endParaRPr>
                    </a:p>
                  </a:txBody>
                  <a:tcPr marL="36576" marR="36576" marT="36576" marB="36576"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tcPr>
                </a:tc>
                <a:tc>
                  <a:txBody>
                    <a:bodyPr/>
                    <a:lstStyle/>
                    <a:p>
                      <a:pPr algn="ctr" indent="0" marL="0">
                        <a:buNone/>
                      </a:pPr>
                      <a:r>
                        <a:rPr lang="en-US" sz="1100" dirty="0">
                          <a:solidFill>
                            <a:schemeClr val="tx1"/>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6576" marR="36576" marT="36576" marB="36576"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tcPr>
                </a:tc>
                <a:tc>
                  <a:txBody>
                    <a:bodyPr/>
                    <a:lstStyle/>
                    <a:p>
                      <a:pPr algn="ctr" indent="0" marL="0">
                        <a:buNone/>
                      </a:pPr>
                      <a:r>
                        <a:rPr lang="en-US" sz="1100" dirty="0">
                          <a:solidFill>
                            <a:schemeClr val="tx1"/>
                          </a:solidFill>
                          <a:latin typeface="Calibri" pitchFamily="34" charset="0"/>
                          <a:ea typeface="Calibri" pitchFamily="34" charset="-122"/>
                          <a:cs typeface="Calibri" pitchFamily="34" charset="-120"/>
                        </a:rPr>
                        <a:t>≈ 0 pour stabiliser la dette</a:t>
                      </a:r>
                      <a:endParaRPr lang="en-US" sz="1100" dirty="0">
                        <a:latin typeface="Calibri" charset="0"/>
                        <a:ea typeface="Calibri" charset="0"/>
                        <a:cs typeface="Calibri" charset="0"/>
                      </a:endParaRPr>
                    </a:p>
                  </a:txBody>
                  <a:tcPr marL="36576" marR="36576" marT="36576" marB="36576"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tcPr>
                </a:tc>
                <a:tc>
                  <a:txBody>
                    <a:bodyPr/>
                    <a:lstStyle/>
                    <a:p>
                      <a:pPr algn="ctr" indent="0" marL="0">
                        <a:buNone/>
                      </a:pPr>
                      <a:r>
                        <a:rPr lang="en-US" sz="1100" dirty="0">
                          <a:solidFill>
                            <a:schemeClr val="tx1"/>
                          </a:solidFill>
                          <a:latin typeface="Calibri" pitchFamily="34" charset="0"/>
                          <a:ea typeface="Calibri" pitchFamily="34" charset="-122"/>
                          <a:cs typeface="Calibri" pitchFamily="34" charset="-120"/>
                        </a:rPr>
                        <a:t>2,1 pts (2027)</a:t>
                      </a:r>
                      <a:endParaRPr lang="en-US" sz="1100" dirty="0">
                        <a:latin typeface="Calibri" charset="0"/>
                        <a:ea typeface="Calibri" charset="0"/>
                        <a:cs typeface="Calibri" charset="0"/>
                      </a:endParaRPr>
                    </a:p>
                  </a:txBody>
                  <a:tcPr marL="36576" marR="36576" marT="36576" marB="36576"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tcPr>
                </a:tc>
                <a:tc>
                  <a:txBody>
                    <a:bodyPr/>
                    <a:lstStyle/>
                    <a:p>
                      <a:pPr algn="ctr" indent="0" marL="0">
                        <a:buNone/>
                      </a:pPr>
                      <a:r>
                        <a:rPr lang="en-US" sz="1100" b="1" dirty="0">
                          <a:solidFill>
                            <a:srgbClr val="B3261E"/>
                          </a:solidFill>
                          <a:latin typeface="Calibri" pitchFamily="34" charset="0"/>
                          <a:ea typeface="Calibri" pitchFamily="34" charset="-122"/>
                          <a:cs typeface="Calibri" pitchFamily="34" charset="-120"/>
                        </a:rPr>
                        <a:t>● la dette continue de monter</a:t>
                      </a:r>
                      <a:endParaRPr lang="en-US" sz="1100" dirty="0">
                        <a:latin typeface="Calibri" charset="0"/>
                        <a:ea typeface="Calibri" charset="0"/>
                        <a:cs typeface="Calibri" charset="0"/>
                      </a:endParaRPr>
                    </a:p>
                  </a:txBody>
                  <a:tcPr marL="36576" marR="36576" marT="36576" marB="36576"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tcPr>
                </a:tc>
              </a:tr>
              <a:tr h="310896">
                <a:tc>
                  <a:txBody>
                    <a:bodyPr/>
                    <a:lstStyle/>
                    <a:p>
                      <a:pPr indent="0" marL="0">
                        <a:buNone/>
                      </a:pPr>
                      <a:r>
                        <a:rPr lang="en-US" sz="1100" b="1" dirty="0">
                          <a:solidFill>
                            <a:schemeClr val="tx1"/>
                          </a:solidFill>
                          <a:latin typeface="Calibri" pitchFamily="34" charset="0"/>
                          <a:ea typeface="Calibri" pitchFamily="34" charset="-122"/>
                          <a:cs typeface="Calibri" pitchFamily="34" charset="-120"/>
                        </a:rPr>
                        <a:t>Charge d'intérêts de la dette</a:t>
                      </a:r>
                      <a:endParaRPr lang="en-US" sz="1100" dirty="0">
                        <a:latin typeface="Calibri" charset="0"/>
                        <a:ea typeface="Calibri" charset="0"/>
                        <a:cs typeface="Calibri" charset="0"/>
                      </a:endParaRPr>
                    </a:p>
                  </a:txBody>
                  <a:tcPr marL="36576" marR="36576" marT="36576" marB="36576"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tcPr>
                </a:tc>
                <a:tc>
                  <a:txBody>
                    <a:bodyPr/>
                    <a:lstStyle/>
                    <a:p>
                      <a:pPr algn="ctr" indent="0" marL="0">
                        <a:buNone/>
                      </a:pPr>
                      <a:r>
                        <a:rPr lang="en-US" sz="1100" b="1" dirty="0">
                          <a:solidFill>
                            <a:schemeClr val="tx1"/>
                          </a:solidFill>
                          <a:latin typeface="Calibri" pitchFamily="34" charset="0"/>
                          <a:ea typeface="Calibri" pitchFamily="34" charset="-122"/>
                          <a:cs typeface="Calibri" pitchFamily="34" charset="-120"/>
                        </a:rPr>
                        <a:t>79,2 Md€ (2026)</a:t>
                      </a:r>
                      <a:endParaRPr lang="en-US" sz="1100" dirty="0">
                        <a:latin typeface="Calibri" charset="0"/>
                        <a:ea typeface="Calibri" charset="0"/>
                        <a:cs typeface="Calibri" charset="0"/>
                      </a:endParaRPr>
                    </a:p>
                  </a:txBody>
                  <a:tcPr marL="36576" marR="36576" marT="36576" marB="36576"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tcPr>
                </a:tc>
                <a:tc>
                  <a:txBody>
                    <a:bodyPr/>
                    <a:lstStyle/>
                    <a:p>
                      <a:pPr algn="ctr" indent="0" marL="0">
                        <a:buNone/>
                      </a:pPr>
                      <a:r>
                        <a:rPr lang="en-US" sz="1100" dirty="0">
                          <a:solidFill>
                            <a:schemeClr val="tx1"/>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6576" marR="36576" marT="36576" marB="36576"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tcPr>
                </a:tc>
                <a:tc>
                  <a:txBody>
                    <a:bodyPr/>
                    <a:lstStyle/>
                    <a:p>
                      <a:pPr algn="ctr" indent="0" marL="0">
                        <a:buNone/>
                      </a:pPr>
                      <a:r>
                        <a:rPr lang="en-US" sz="1100" dirty="0">
                          <a:solidFill>
                            <a:schemeClr val="tx1"/>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6576" marR="36576" marT="36576" marB="36576"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tcPr>
                </a:tc>
                <a:tc>
                  <a:txBody>
                    <a:bodyPr/>
                    <a:lstStyle/>
                    <a:p>
                      <a:pPr algn="ctr" indent="0" marL="0">
                        <a:buNone/>
                      </a:pPr>
                      <a:r>
                        <a:rPr lang="en-US" sz="1100" dirty="0">
                          <a:solidFill>
                            <a:schemeClr val="tx1"/>
                          </a:solidFill>
                          <a:latin typeface="Calibri" pitchFamily="34" charset="0"/>
                          <a:ea typeface="Calibri" pitchFamily="34" charset="-122"/>
                          <a:cs typeface="Calibri" pitchFamily="34" charset="-120"/>
                        </a:rPr>
                        <a:t>91,2 Md€ (2027)</a:t>
                      </a:r>
                      <a:endParaRPr lang="en-US" sz="1100" dirty="0">
                        <a:latin typeface="Calibri" charset="0"/>
                        <a:ea typeface="Calibri" charset="0"/>
                        <a:cs typeface="Calibri" charset="0"/>
                      </a:endParaRPr>
                    </a:p>
                  </a:txBody>
                  <a:tcPr marL="36576" marR="36576" marT="36576" marB="36576"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tcPr>
                </a:tc>
                <a:tc>
                  <a:txBody>
                    <a:bodyPr/>
                    <a:lstStyle/>
                    <a:p>
                      <a:pPr algn="ctr" indent="0" marL="0">
                        <a:buNone/>
                      </a:pPr>
                      <a:r>
                        <a:rPr lang="en-US" sz="1100" b="1" dirty="0">
                          <a:solidFill>
                            <a:srgbClr val="B3261E"/>
                          </a:solidFill>
                          <a:latin typeface="Calibri" pitchFamily="34" charset="0"/>
                          <a:ea typeface="Calibri" pitchFamily="34" charset="-122"/>
                          <a:cs typeface="Calibri" pitchFamily="34" charset="-120"/>
                        </a:rPr>
                        <a:t>● + 12 Md€</a:t>
                      </a:r>
                      <a:endParaRPr lang="en-US" sz="1100" dirty="0">
                        <a:latin typeface="Calibri" charset="0"/>
                        <a:ea typeface="Calibri" charset="0"/>
                        <a:cs typeface="Calibri" charset="0"/>
                      </a:endParaRPr>
                    </a:p>
                  </a:txBody>
                  <a:tcPr marL="36576" marR="36576" marT="36576" marB="36576"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tcPr>
                </a:tc>
              </a:tr>
              <a:tr h="310896">
                <a:tc>
                  <a:txBody>
                    <a:bodyPr/>
                    <a:lstStyle/>
                    <a:p>
                      <a:pPr indent="0" marL="0">
                        <a:buNone/>
                      </a:pPr>
                      <a:r>
                        <a:rPr lang="en-US" sz="1100" b="1" dirty="0">
                          <a:solidFill>
                            <a:schemeClr val="tx1"/>
                          </a:solidFill>
                          <a:latin typeface="Calibri" pitchFamily="34" charset="0"/>
                          <a:ea typeface="Calibri" pitchFamily="34" charset="-122"/>
                          <a:cs typeface="Calibri" pitchFamily="34" charset="-120"/>
                        </a:rPr>
                        <a:t>Note de la France (Moody's)</a:t>
                      </a:r>
                      <a:endParaRPr lang="en-US" sz="1100" dirty="0">
                        <a:latin typeface="Calibri" charset="0"/>
                        <a:ea typeface="Calibri" charset="0"/>
                        <a:cs typeface="Calibri" charset="0"/>
                      </a:endParaRPr>
                    </a:p>
                  </a:txBody>
                  <a:tcPr marL="36576" marR="36576" marT="36576" marB="36576"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tcPr>
                </a:tc>
                <a:tc>
                  <a:txBody>
                    <a:bodyPr/>
                    <a:lstStyle/>
                    <a:p>
                      <a:pPr algn="ctr" indent="0" marL="0">
                        <a:buNone/>
                      </a:pPr>
                      <a:r>
                        <a:rPr lang="en-US" sz="1100" b="1" dirty="0">
                          <a:solidFill>
                            <a:schemeClr val="tx1"/>
                          </a:solidFill>
                          <a:latin typeface="Calibri" pitchFamily="34" charset="0"/>
                          <a:ea typeface="Calibri" pitchFamily="34" charset="-122"/>
                          <a:cs typeface="Calibri" pitchFamily="34" charset="-120"/>
                        </a:rPr>
                        <a:t>Aa3, perspective négative</a:t>
                      </a:r>
                      <a:endParaRPr lang="en-US" sz="1100" dirty="0">
                        <a:latin typeface="Calibri" charset="0"/>
                        <a:ea typeface="Calibri" charset="0"/>
                        <a:cs typeface="Calibri" charset="0"/>
                      </a:endParaRPr>
                    </a:p>
                  </a:txBody>
                  <a:tcPr marL="36576" marR="36576" marT="36576" marB="36576"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tcPr>
                </a:tc>
                <a:tc>
                  <a:txBody>
                    <a:bodyPr/>
                    <a:lstStyle/>
                    <a:p>
                      <a:pPr algn="ctr" indent="0" marL="0">
                        <a:buNone/>
                      </a:pPr>
                      <a:r>
                        <a:rPr lang="en-US" sz="1100" dirty="0">
                          <a:solidFill>
                            <a:schemeClr val="tx1"/>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6576" marR="36576" marT="36576" marB="36576"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tcPr>
                </a:tc>
                <a:tc>
                  <a:txBody>
                    <a:bodyPr/>
                    <a:lstStyle/>
                    <a:p>
                      <a:pPr algn="ctr" indent="0" marL="0">
                        <a:buNone/>
                      </a:pPr>
                      <a:r>
                        <a:rPr lang="en-US" sz="1100" dirty="0">
                          <a:solidFill>
                            <a:schemeClr val="tx1"/>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6576" marR="36576" marT="36576" marB="36576"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tcPr>
                </a:tc>
                <a:tc>
                  <a:txBody>
                    <a:bodyPr/>
                    <a:lstStyle/>
                    <a:p>
                      <a:pPr algn="ctr" indent="0" marL="0">
                        <a:buNone/>
                      </a:pPr>
                      <a:r>
                        <a:rPr lang="en-US" sz="1100" dirty="0">
                          <a:solidFill>
                            <a:schemeClr val="tx1"/>
                          </a:solidFill>
                          <a:latin typeface="Calibri" pitchFamily="34" charset="0"/>
                          <a:ea typeface="Calibri" pitchFamily="34" charset="-122"/>
                          <a:cs typeface="Calibri" pitchFamily="34" charset="-120"/>
                        </a:rPr>
                        <a:t>Décision le 23 oct.</a:t>
                      </a:r>
                      <a:endParaRPr lang="en-US" sz="1100" dirty="0">
                        <a:latin typeface="Calibri" charset="0"/>
                        <a:ea typeface="Calibri" charset="0"/>
                        <a:cs typeface="Calibri" charset="0"/>
                      </a:endParaRPr>
                    </a:p>
                  </a:txBody>
                  <a:tcPr marL="36576" marR="36576" marT="36576" marB="36576"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tcPr>
                </a:tc>
                <a:tc>
                  <a:txBody>
                    <a:bodyPr/>
                    <a:lstStyle/>
                    <a:p>
                      <a:pPr algn="ctr" indent="0" marL="0">
                        <a:buNone/>
                      </a:pPr>
                      <a:r>
                        <a:rPr lang="en-US" sz="1100" b="1" dirty="0">
                          <a:solidFill>
                            <a:srgbClr val="B26A00"/>
                          </a:solidFill>
                          <a:latin typeface="Calibri" pitchFamily="34" charset="0"/>
                          <a:ea typeface="Calibri" pitchFamily="34" charset="-122"/>
                          <a:cs typeface="Calibri" pitchFamily="34" charset="-120"/>
                        </a:rPr>
                        <a:t>● sous surveillance</a:t>
                      </a:r>
                      <a:endParaRPr lang="en-US" sz="1100" dirty="0">
                        <a:latin typeface="Calibri" charset="0"/>
                        <a:ea typeface="Calibri" charset="0"/>
                        <a:cs typeface="Calibri" charset="0"/>
                      </a:endParaRPr>
                    </a:p>
                  </a:txBody>
                  <a:tcPr marL="36576" marR="36576" marT="36576" marB="36576"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tcPr>
                </a:tc>
              </a:tr>
              <a:tr h="256032">
                <a:tc gridSpan="6">
                  <a:txBody>
                    <a:bodyPr/>
                    <a:lstStyle/>
                    <a:p>
                      <a:pPr indent="0" marL="0">
                        <a:buNone/>
                      </a:pPr>
                      <a:r>
                        <a:rPr lang="en-US" sz="1100" b="1" dirty="0">
                          <a:solidFill>
                            <a:schemeClr val="tx2"/>
                          </a:solidFill>
                          <a:latin typeface="Calibri" pitchFamily="34" charset="0"/>
                          <a:ea typeface="Calibri" pitchFamily="34" charset="-122"/>
                          <a:cs typeface="Calibri" pitchFamily="34" charset="-120"/>
                        </a:rPr>
                        <a:t>Les ménages et les marchés</a:t>
                      </a:r>
                      <a:endParaRPr lang="en-US" sz="1100" dirty="0">
                        <a:latin typeface="Calibri" charset="0"/>
                        <a:ea typeface="Calibri" charset="0"/>
                        <a:cs typeface="Calibri" charset="0"/>
                      </a:endParaRPr>
                    </a:p>
                  </a:txBody>
                  <a:tcPr marL="36576" marR="36576" marT="36576" marB="36576"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solidFill>
                      <a:schemeClr val="bg2"/>
                    </a:solidFill>
                  </a:tcPr>
                </a:tc>
                <a:tc hMerge="1">
                  <a:tcPr/>
                </a:tc>
                <a:tc hMerge="1">
                  <a:tcPr/>
                </a:tc>
                <a:tc hMerge="1">
                  <a:tcPr/>
                </a:tc>
                <a:tc hMerge="1">
                  <a:tcPr/>
                </a:tc>
                <a:tc hMerge="1">
                  <a:tcPr/>
                </a:tc>
              </a:tr>
              <a:tr h="310896">
                <a:tc>
                  <a:txBody>
                    <a:bodyPr/>
                    <a:lstStyle/>
                    <a:p>
                      <a:pPr indent="0" marL="0">
                        <a:buNone/>
                      </a:pPr>
                      <a:r>
                        <a:rPr lang="en-US" sz="1100" b="1" dirty="0">
                          <a:solidFill>
                            <a:schemeClr val="tx1"/>
                          </a:solidFill>
                          <a:latin typeface="Calibri" pitchFamily="34" charset="0"/>
                          <a:ea typeface="Calibri" pitchFamily="34" charset="-122"/>
                          <a:cs typeface="Calibri" pitchFamily="34" charset="-120"/>
                        </a:rPr>
                        <a:t>Confiance des ménages</a:t>
                      </a:r>
                      <a:endParaRPr lang="en-US" sz="1100" dirty="0">
                        <a:latin typeface="Calibri" charset="0"/>
                        <a:ea typeface="Calibri" charset="0"/>
                        <a:cs typeface="Calibri" charset="0"/>
                      </a:endParaRPr>
                    </a:p>
                  </a:txBody>
                  <a:tcPr marL="36576" marR="36576" marT="36576" marB="36576"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tcPr>
                </a:tc>
                <a:tc>
                  <a:txBody>
                    <a:bodyPr/>
                    <a:lstStyle/>
                    <a:p>
                      <a:pPr algn="ctr" indent="0" marL="0">
                        <a:buNone/>
                      </a:pPr>
                      <a:r>
                        <a:rPr lang="en-US" sz="1100" b="1" dirty="0">
                          <a:solidFill>
                            <a:schemeClr val="tx1"/>
                          </a:solidFill>
                          <a:latin typeface="Calibri" pitchFamily="34" charset="0"/>
                          <a:ea typeface="Calibri" pitchFamily="34" charset="-122"/>
                          <a:cs typeface="Calibri" pitchFamily="34" charset="-120"/>
                        </a:rPr>
                        <a:t>86 (sept.)</a:t>
                      </a:r>
                      <a:endParaRPr lang="en-US" sz="1100" dirty="0">
                        <a:latin typeface="Calibri" charset="0"/>
                        <a:ea typeface="Calibri" charset="0"/>
                        <a:cs typeface="Calibri" charset="0"/>
                      </a:endParaRPr>
                    </a:p>
                  </a:txBody>
                  <a:tcPr marL="36576" marR="36576" marT="36576" marB="36576"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tcPr>
                </a:tc>
                <a:tc>
                  <a:txBody>
                    <a:bodyPr/>
                    <a:lstStyle/>
                    <a:p>
                      <a:pPr algn="ctr" indent="0" marL="0">
                        <a:buNone/>
                      </a:pPr>
                      <a:r>
                        <a:rPr lang="en-US" sz="1100" dirty="0">
                          <a:solidFill>
                            <a:schemeClr val="tx1"/>
                          </a:solidFill>
                          <a:latin typeface="Calibri" pitchFamily="34" charset="0"/>
                          <a:ea typeface="Calibri" pitchFamily="34" charset="-122"/>
                          <a:cs typeface="Calibri" pitchFamily="34" charset="-120"/>
                        </a:rPr>
                        <a:t>88</a:t>
                      </a:r>
                      <a:endParaRPr lang="en-US" sz="1100" dirty="0">
                        <a:latin typeface="Calibri" charset="0"/>
                        <a:ea typeface="Calibri" charset="0"/>
                        <a:cs typeface="Calibri" charset="0"/>
                      </a:endParaRPr>
                    </a:p>
                  </a:txBody>
                  <a:tcPr marL="36576" marR="36576" marT="36576" marB="36576"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tcPr>
                </a:tc>
                <a:tc>
                  <a:txBody>
                    <a:bodyPr/>
                    <a:lstStyle/>
                    <a:p>
                      <a:pPr algn="ctr" indent="0" marL="0">
                        <a:buNone/>
                      </a:pPr>
                      <a:r>
                        <a:rPr lang="en-US" sz="1100" dirty="0">
                          <a:solidFill>
                            <a:schemeClr val="tx1"/>
                          </a:solidFill>
                          <a:latin typeface="Calibri" pitchFamily="34" charset="0"/>
                          <a:ea typeface="Calibri" pitchFamily="34" charset="-122"/>
                          <a:cs typeface="Calibri" pitchFamily="34" charset="-120"/>
                        </a:rPr>
                        <a:t>moyenne : 100</a:t>
                      </a:r>
                      <a:endParaRPr lang="en-US" sz="1100" dirty="0">
                        <a:latin typeface="Calibri" charset="0"/>
                        <a:ea typeface="Calibri" charset="0"/>
                        <a:cs typeface="Calibri" charset="0"/>
                      </a:endParaRPr>
                    </a:p>
                  </a:txBody>
                  <a:tcPr marL="36576" marR="36576" marT="36576" marB="36576"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tcPr>
                </a:tc>
                <a:tc>
                  <a:txBody>
                    <a:bodyPr/>
                    <a:lstStyle/>
                    <a:p>
                      <a:pPr algn="ctr" indent="0" marL="0">
                        <a:buNone/>
                      </a:pPr>
                      <a:r>
                        <a:rPr lang="en-US" sz="1100" dirty="0">
                          <a:solidFill>
                            <a:schemeClr val="tx1"/>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6576" marR="36576" marT="36576" marB="36576"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tcPr>
                </a:tc>
                <a:tc>
                  <a:txBody>
                    <a:bodyPr/>
                    <a:lstStyle/>
                    <a:p>
                      <a:pPr algn="ctr" indent="0" marL="0">
                        <a:buNone/>
                      </a:pPr>
                      <a:r>
                        <a:rPr lang="en-US" sz="1100" b="1" dirty="0">
                          <a:solidFill>
                            <a:srgbClr val="B3261E"/>
                          </a:solidFill>
                          <a:latin typeface="Calibri" pitchFamily="34" charset="0"/>
                          <a:ea typeface="Calibri" pitchFamily="34" charset="-122"/>
                          <a:cs typeface="Calibri" pitchFamily="34" charset="-120"/>
                        </a:rPr>
                        <a:t>● basse</a:t>
                      </a:r>
                      <a:endParaRPr lang="en-US" sz="1100" dirty="0">
                        <a:latin typeface="Calibri" charset="0"/>
                        <a:ea typeface="Calibri" charset="0"/>
                        <a:cs typeface="Calibri" charset="0"/>
                      </a:endParaRPr>
                    </a:p>
                  </a:txBody>
                  <a:tcPr marL="36576" marR="36576" marT="36576" marB="36576"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tcPr>
                </a:tc>
              </a:tr>
              <a:tr h="310896">
                <a:tc>
                  <a:txBody>
                    <a:bodyPr/>
                    <a:lstStyle/>
                    <a:p>
                      <a:pPr indent="0" marL="0">
                        <a:buNone/>
                      </a:pPr>
                      <a:r>
                        <a:rPr lang="en-US" sz="1100" b="1" dirty="0">
                          <a:solidFill>
                            <a:schemeClr val="tx1"/>
                          </a:solidFill>
                          <a:latin typeface="Calibri" pitchFamily="34" charset="0"/>
                          <a:ea typeface="Calibri" pitchFamily="34" charset="-122"/>
                          <a:cs typeface="Calibri" pitchFamily="34" charset="-120"/>
                        </a:rPr>
                        <a:t>Taux d'emprunt à 10 ans (écart avec l'Allemagne)</a:t>
                      </a:r>
                      <a:endParaRPr lang="en-US" sz="1100" dirty="0">
                        <a:latin typeface="Calibri" charset="0"/>
                        <a:ea typeface="Calibri" charset="0"/>
                        <a:cs typeface="Calibri" charset="0"/>
                      </a:endParaRPr>
                    </a:p>
                  </a:txBody>
                  <a:tcPr marL="36576" marR="36576" marT="36576" marB="36576"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tcPr>
                </a:tc>
                <a:tc>
                  <a:txBody>
                    <a:bodyPr/>
                    <a:lstStyle/>
                    <a:p>
                      <a:pPr algn="ctr" indent="0" marL="0">
                        <a:buNone/>
                      </a:pPr>
                      <a:r>
                        <a:rPr lang="en-US" sz="1100" b="1" dirty="0">
                          <a:solidFill>
                            <a:schemeClr val="tx1"/>
                          </a:solidFill>
                          <a:latin typeface="Calibri" pitchFamily="34" charset="0"/>
                          <a:ea typeface="Calibri" pitchFamily="34" charset="-122"/>
                          <a:cs typeface="Calibri" pitchFamily="34" charset="-120"/>
                        </a:rPr>
                        <a:t>4,80 % (137 pb)</a:t>
                      </a:r>
                      <a:endParaRPr lang="en-US" sz="1100" dirty="0">
                        <a:latin typeface="Calibri" charset="0"/>
                        <a:ea typeface="Calibri" charset="0"/>
                        <a:cs typeface="Calibri" charset="0"/>
                      </a:endParaRPr>
                    </a:p>
                  </a:txBody>
                  <a:tcPr marL="36576" marR="36576" marT="36576" marB="36576"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tcPr>
                </a:tc>
                <a:tc>
                  <a:txBody>
                    <a:bodyPr/>
                    <a:lstStyle/>
                    <a:p>
                      <a:pPr algn="ctr" indent="0" marL="0">
                        <a:buNone/>
                      </a:pPr>
                      <a:r>
                        <a:rPr lang="en-US" sz="1100" dirty="0">
                          <a:solidFill>
                            <a:schemeClr val="tx1"/>
                          </a:solidFill>
                          <a:latin typeface="Calibri" pitchFamily="34" charset="0"/>
                          <a:ea typeface="Calibri" pitchFamily="34" charset="-122"/>
                          <a:cs typeface="Calibri" pitchFamily="34" charset="-120"/>
                        </a:rPr>
                        <a:t>3,30 % (≈ 76 pb)</a:t>
                      </a:r>
                      <a:endParaRPr lang="en-US" sz="1100" dirty="0">
                        <a:latin typeface="Calibri" charset="0"/>
                        <a:ea typeface="Calibri" charset="0"/>
                        <a:cs typeface="Calibri" charset="0"/>
                      </a:endParaRPr>
                    </a:p>
                  </a:txBody>
                  <a:tcPr marL="36576" marR="36576" marT="36576" marB="36576"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tcPr>
                </a:tc>
                <a:tc>
                  <a:txBody>
                    <a:bodyPr/>
                    <a:lstStyle/>
                    <a:p>
                      <a:pPr algn="ctr" indent="0" marL="0">
                        <a:buNone/>
                      </a:pPr>
                      <a:r>
                        <a:rPr lang="en-US" sz="1100" dirty="0">
                          <a:solidFill>
                            <a:schemeClr val="tx1"/>
                          </a:solidFill>
                          <a:latin typeface="Calibri" pitchFamily="34" charset="0"/>
                          <a:ea typeface="Calibri" pitchFamily="34" charset="-122"/>
                          <a:cs typeface="Calibri" pitchFamily="34" charset="-120"/>
                        </a:rPr>
                        <a:t>Allemagne : ≈ 3,43 %</a:t>
                      </a:r>
                      <a:endParaRPr lang="en-US" sz="1100" dirty="0">
                        <a:latin typeface="Calibri" charset="0"/>
                        <a:ea typeface="Calibri" charset="0"/>
                        <a:cs typeface="Calibri" charset="0"/>
                      </a:endParaRPr>
                    </a:p>
                  </a:txBody>
                  <a:tcPr marL="36576" marR="36576" marT="36576" marB="36576"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tcPr>
                </a:tc>
                <a:tc>
                  <a:txBody>
                    <a:bodyPr/>
                    <a:lstStyle/>
                    <a:p>
                      <a:pPr algn="ctr" indent="0" marL="0">
                        <a:buNone/>
                      </a:pPr>
                      <a:r>
                        <a:rPr lang="en-US" sz="1100" dirty="0">
                          <a:solidFill>
                            <a:schemeClr val="tx1"/>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6576" marR="36576" marT="36576" marB="36576"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tcPr>
                </a:tc>
                <a:tc>
                  <a:txBody>
                    <a:bodyPr/>
                    <a:lstStyle/>
                    <a:p>
                      <a:pPr algn="ctr" indent="0" marL="0">
                        <a:buNone/>
                      </a:pPr>
                      <a:r>
                        <a:rPr lang="en-US" sz="1100" b="1" dirty="0">
                          <a:solidFill>
                            <a:srgbClr val="B3261E"/>
                          </a:solidFill>
                          <a:latin typeface="Calibri" pitchFamily="34" charset="0"/>
                          <a:ea typeface="Calibri" pitchFamily="34" charset="-122"/>
                          <a:cs typeface="Calibri" pitchFamily="34" charset="-120"/>
                        </a:rPr>
                        <a:t>● prime de risque élevée</a:t>
                      </a:r>
                      <a:endParaRPr lang="en-US" sz="1100" dirty="0">
                        <a:latin typeface="Calibri" charset="0"/>
                        <a:ea typeface="Calibri" charset="0"/>
                        <a:cs typeface="Calibri" charset="0"/>
                      </a:endParaRPr>
                    </a:p>
                  </a:txBody>
                  <a:tcPr marL="36576" marR="36576" marT="36576" marB="36576"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tcPr>
                </a:tc>
              </a:tr>
            </a:tbl>
          </a:graphicData>
        </a:graphic>
      </p:graphicFrame>
      <p:sp>
        <p:nvSpPr>
          <p:cNvPr id="5" name="Source"/>
          <p:cNvSpPr txBox="1"/>
          <p:nvPr/>
        </p:nvSpPr>
        <p:spPr>
          <a:xfrm>
            <a:off x="548640" y="6355080"/>
            <a:ext cx="10424160" cy="274320"/>
          </a:xfrm>
          <a:prstGeom prst="rect">
            <a:avLst/>
          </a:prstGeom>
          <a:noFill/>
          <a:ln/>
        </p:spPr>
        <p:txBody>
          <a:bodyPr wrap="square" lIns="0" tIns="0" rIns="0" bIns="0" rtlCol="0" anchor="ctr"/>
          <a:lstStyle/>
          <a:p>
            <a:pPr indent="0" marL="0">
              <a:buNone/>
            </a:pPr>
            <a:r>
              <a:rPr lang="en-US" sz="1000" dirty="0">
                <a:solidFill>
                  <a:schemeClr val="accent5"/>
                </a:solidFill>
              </a:rPr>
              <a:t>Source : Insee ; Banque de France ; HCFP (avis 2026-5) ; PLF 2027 ; AFP (taux et écart du 16/10/2026, Moody's) ; BNP Paribas (taux 2025)</a:t>
            </a:r>
            <a:endParaRPr lang="en-US" sz="10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Étiquette"/>
          <p:cNvSpPr txBox="1"/>
          <p:nvPr/>
        </p:nvSpPr>
        <p:spPr>
          <a:xfrm>
            <a:off x="548640" y="256032"/>
            <a:ext cx="1965960" cy="310896"/>
          </a:xfrm>
          <a:prstGeom prst="roundRect">
            <a:avLst>
              <a:gd name="adj" fmla="val 50000"/>
            </a:avLst>
          </a:prstGeom>
          <a:solidFill>
            <a:schemeClr val="tx2"/>
          </a:solidFill>
          <a:ln/>
        </p:spPr>
        <p:txBody>
          <a:bodyPr wrap="square" lIns="0" tIns="0" rIns="0" bIns="0" rtlCol="0" anchor="ctr"/>
          <a:lstStyle/>
          <a:p>
            <a:pPr algn="ctr" indent="0" marL="0">
              <a:buNone/>
            </a:pPr>
            <a:r>
              <a:rPr lang="en-US" sz="1200" b="1" spc="100" kern="0" dirty="0">
                <a:solidFill>
                  <a:schemeClr val="bg1"/>
                </a:solidFill>
              </a:rPr>
              <a:t>TABLEAU DE BORD</a:t>
            </a:r>
            <a:endParaRPr lang="en-US" sz="1200" dirty="0"/>
          </a:p>
        </p:txBody>
      </p:sp>
      <p:sp>
        <p:nvSpPr>
          <p:cNvPr id="3" name="Text 0"/>
          <p:cNvSpPr/>
          <p:nvPr>
            <p:ph idx="100" type="title" hasCustomPrompt="1"/>
          </p:nvPr>
        </p:nvSpPr>
        <p:spPr>
          <a:xfrm>
            <a:off x="548640" y="658368"/>
            <a:ext cx="11064240" cy="73152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La France face à ses voisins</a:t>
            </a:r>
            <a:endParaRPr lang="en-US" sz="3400" dirty="0"/>
          </a:p>
        </p:txBody>
      </p:sp>
      <p:graphicFrame>
        <p:nvGraphicFramePr>
          <p:cNvPr id="4" name="Comparaison européenne"/>
          <p:cNvGraphicFramePr>
            <a:graphicFrameLocks noGrp="1"/>
          </p:cNvGraphicFramePr>
          <p:nvPr>
            <p:extLst>
              <p:ext uri="{D42A27DB-BD31-4B8C-83A1-F6EECF244321}">
                <p14:modId xmlns:p14="http://schemas.microsoft.com/office/powerpoint/2010/main" val="1579011935"/>
              </p:ext>
            </p:extLst>
          </p:nvPr>
        </p:nvGraphicFramePr>
        <p:xfrm>
          <a:off x="548640" y="1554480"/>
          <a:ext cx="11064240" cy="914400"/>
        </p:xfrm>
        <a:graphic>
          <a:graphicData uri="http://schemas.openxmlformats.org/drawingml/2006/table">
            <a:tbl>
              <a:tblPr/>
              <a:tblGrid>
                <a:gridCol w="2377440"/>
                <a:gridCol w="1737360"/>
                <a:gridCol w="1737360"/>
                <a:gridCol w="1737360"/>
                <a:gridCol w="1737360"/>
                <a:gridCol w="1737360"/>
              </a:tblGrid>
              <a:tr h="548640">
                <a:tc>
                  <a:txBody>
                    <a:bodyPr/>
                    <a:lstStyle/>
                    <a:p>
                      <a:pPr algn="l" indent="0" marL="0">
                        <a:buNone/>
                      </a:pPr>
                      <a:endParaRPr lang="en-US" sz="1400" dirty="0">
                        <a:latin typeface="Calibri" charset="0"/>
                        <a:ea typeface="Calibri" charset="0"/>
                        <a:cs typeface="Calibri" charset="0"/>
                      </a:endParaRPr>
                    </a:p>
                  </a:txBody>
                  <a:tcPr marL="45720" marR="45720" marT="45720" marB="45720"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Croissance</a:t>
                      </a:r>
                      <a:endParaRPr lang="en-US" sz="1400" dirty="0">
                        <a:latin typeface="Calibri" charset="0"/>
                        <a:ea typeface="Calibri" charset="0"/>
                        <a:cs typeface="Calibri" charset="0"/>
                      </a:endParaRPr>
                    </a:p>
                    <a:p>
                      <a:pPr algn="ctr" indent="0" marL="0">
                        <a:buNone/>
                      </a:pPr>
                      <a:r>
                        <a:rPr lang="en-US" sz="1400" b="1" dirty="0">
                          <a:solidFill>
                            <a:schemeClr val="bg1"/>
                          </a:solidFill>
                          <a:latin typeface="Calibri" pitchFamily="34" charset="0"/>
                          <a:ea typeface="Calibri" pitchFamily="34" charset="-122"/>
                          <a:cs typeface="Calibri" pitchFamily="34" charset="-120"/>
                        </a:rPr>
                        <a:t>2025</a:t>
                      </a:r>
                      <a:endParaRPr lang="en-US" sz="1400" dirty="0">
                        <a:latin typeface="Calibri" charset="0"/>
                        <a:ea typeface="Calibri" charset="0"/>
                        <a:cs typeface="Calibri" charset="0"/>
                      </a:endParaRPr>
                    </a:p>
                  </a:txBody>
                  <a:tcPr marL="45720" marR="45720" marT="45720" marB="45720"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Chômage</a:t>
                      </a:r>
                      <a:endParaRPr lang="en-US" sz="1400" dirty="0">
                        <a:latin typeface="Calibri" charset="0"/>
                        <a:ea typeface="Calibri" charset="0"/>
                        <a:cs typeface="Calibri" charset="0"/>
                      </a:endParaRPr>
                    </a:p>
                    <a:p>
                      <a:pPr algn="ctr" indent="0" marL="0">
                        <a:buNone/>
                      </a:pPr>
                      <a:r>
                        <a:rPr lang="en-US" sz="1400" b="1" dirty="0">
                          <a:solidFill>
                            <a:schemeClr val="bg1"/>
                          </a:solidFill>
                          <a:latin typeface="Calibri" pitchFamily="34" charset="0"/>
                          <a:ea typeface="Calibri" pitchFamily="34" charset="-122"/>
                          <a:cs typeface="Calibri" pitchFamily="34" charset="-120"/>
                        </a:rPr>
                        <a:t>août 2026</a:t>
                      </a:r>
                      <a:endParaRPr lang="en-US" sz="1400" dirty="0">
                        <a:latin typeface="Calibri" charset="0"/>
                        <a:ea typeface="Calibri" charset="0"/>
                        <a:cs typeface="Calibri" charset="0"/>
                      </a:endParaRPr>
                    </a:p>
                  </a:txBody>
                  <a:tcPr marL="45720" marR="45720" marT="45720" marB="45720"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Inflation (IPCH)</a:t>
                      </a:r>
                      <a:endParaRPr lang="en-US" sz="1400" dirty="0">
                        <a:latin typeface="Calibri" charset="0"/>
                        <a:ea typeface="Calibri" charset="0"/>
                        <a:cs typeface="Calibri" charset="0"/>
                      </a:endParaRPr>
                    </a:p>
                    <a:p>
                      <a:pPr algn="ctr" indent="0" marL="0">
                        <a:buNone/>
                      </a:pPr>
                      <a:r>
                        <a:rPr lang="en-US" sz="1400" b="1" dirty="0">
                          <a:solidFill>
                            <a:schemeClr val="bg1"/>
                          </a:solidFill>
                          <a:latin typeface="Calibri" pitchFamily="34" charset="0"/>
                          <a:ea typeface="Calibri" pitchFamily="34" charset="-122"/>
                          <a:cs typeface="Calibri" pitchFamily="34" charset="-120"/>
                        </a:rPr>
                        <a:t>sept. 2026</a:t>
                      </a:r>
                      <a:endParaRPr lang="en-US" sz="1400" dirty="0">
                        <a:latin typeface="Calibri" charset="0"/>
                        <a:ea typeface="Calibri" charset="0"/>
                        <a:cs typeface="Calibri" charset="0"/>
                      </a:endParaRPr>
                    </a:p>
                  </a:txBody>
                  <a:tcPr marL="45720" marR="45720" marT="45720" marB="45720"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Déficit</a:t>
                      </a:r>
                      <a:endParaRPr lang="en-US" sz="1400" dirty="0">
                        <a:latin typeface="Calibri" charset="0"/>
                        <a:ea typeface="Calibri" charset="0"/>
                        <a:cs typeface="Calibri" charset="0"/>
                      </a:endParaRPr>
                    </a:p>
                    <a:p>
                      <a:pPr algn="ctr" indent="0" marL="0">
                        <a:buNone/>
                      </a:pPr>
                      <a:r>
                        <a:rPr lang="en-US" sz="1400" b="1" dirty="0">
                          <a:solidFill>
                            <a:schemeClr val="bg1"/>
                          </a:solidFill>
                          <a:latin typeface="Calibri" pitchFamily="34" charset="0"/>
                          <a:ea typeface="Calibri" pitchFamily="34" charset="-122"/>
                          <a:cs typeface="Calibri" pitchFamily="34" charset="-120"/>
                        </a:rPr>
                        <a:t>2025</a:t>
                      </a:r>
                      <a:endParaRPr lang="en-US" sz="1400" dirty="0">
                        <a:latin typeface="Calibri" charset="0"/>
                        <a:ea typeface="Calibri" charset="0"/>
                        <a:cs typeface="Calibri" charset="0"/>
                      </a:endParaRPr>
                    </a:p>
                  </a:txBody>
                  <a:tcPr marL="45720" marR="45720" marT="45720" marB="45720"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Dette</a:t>
                      </a:r>
                      <a:endParaRPr lang="en-US" sz="1400" dirty="0">
                        <a:latin typeface="Calibri" charset="0"/>
                        <a:ea typeface="Calibri" charset="0"/>
                        <a:cs typeface="Calibri" charset="0"/>
                      </a:endParaRPr>
                    </a:p>
                    <a:p>
                      <a:pPr algn="ctr" indent="0" marL="0">
                        <a:buNone/>
                      </a:pPr>
                      <a:r>
                        <a:rPr lang="en-US" sz="1400" b="1" dirty="0">
                          <a:solidFill>
                            <a:schemeClr val="bg1"/>
                          </a:solidFill>
                          <a:latin typeface="Calibri" pitchFamily="34" charset="0"/>
                          <a:ea typeface="Calibri" pitchFamily="34" charset="-122"/>
                          <a:cs typeface="Calibri" pitchFamily="34" charset="-120"/>
                        </a:rPr>
                        <a:t>2025</a:t>
                      </a:r>
                      <a:endParaRPr lang="en-US" sz="1400" dirty="0">
                        <a:latin typeface="Calibri" charset="0"/>
                        <a:ea typeface="Calibri" charset="0"/>
                        <a:cs typeface="Calibri" charset="0"/>
                      </a:endParaRPr>
                    </a:p>
                  </a:txBody>
                  <a:tcPr marL="45720" marR="45720" marT="45720" marB="45720"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solidFill>
                      <a:schemeClr val="tx2"/>
                    </a:solidFill>
                  </a:tcPr>
                </a:tc>
              </a:tr>
              <a:tr h="457200">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France</a:t>
                      </a:r>
                      <a:endParaRPr lang="en-US" sz="1400" dirty="0">
                        <a:latin typeface="Calibri" charset="0"/>
                        <a:ea typeface="Calibri" charset="0"/>
                        <a:cs typeface="Calibri" charset="0"/>
                      </a:endParaRPr>
                    </a:p>
                  </a:txBody>
                  <a:tcPr marL="45720" marR="45720" marT="45720" marB="45720"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0,8 %</a:t>
                      </a:r>
                      <a:endParaRPr lang="en-US" sz="1400" dirty="0">
                        <a:latin typeface="Calibri" charset="0"/>
                        <a:ea typeface="Calibri" charset="0"/>
                        <a:cs typeface="Calibri" charset="0"/>
                      </a:endParaRPr>
                    </a:p>
                  </a:txBody>
                  <a:tcPr marL="45720" marR="45720" marT="45720" marB="45720"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8,2 %</a:t>
                      </a:r>
                      <a:endParaRPr lang="en-US" sz="1400" dirty="0">
                        <a:latin typeface="Calibri" charset="0"/>
                        <a:ea typeface="Calibri" charset="0"/>
                        <a:cs typeface="Calibri" charset="0"/>
                      </a:endParaRPr>
                    </a:p>
                  </a:txBody>
                  <a:tcPr marL="45720" marR="45720" marT="45720" marB="45720"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3,4 %</a:t>
                      </a:r>
                      <a:endParaRPr lang="en-US" sz="1400" dirty="0">
                        <a:latin typeface="Calibri" charset="0"/>
                        <a:ea typeface="Calibri" charset="0"/>
                        <a:cs typeface="Calibri" charset="0"/>
                      </a:endParaRPr>
                    </a:p>
                  </a:txBody>
                  <a:tcPr marL="45720" marR="45720" marT="45720" marB="45720"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5,1 %</a:t>
                      </a:r>
                      <a:endParaRPr lang="en-US" sz="1400" dirty="0">
                        <a:latin typeface="Calibri" charset="0"/>
                        <a:ea typeface="Calibri" charset="0"/>
                        <a:cs typeface="Calibri" charset="0"/>
                      </a:endParaRPr>
                    </a:p>
                  </a:txBody>
                  <a:tcPr marL="45720" marR="45720" marT="45720" marB="45720"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115,6 %</a:t>
                      </a:r>
                      <a:endParaRPr lang="en-US" sz="1400" dirty="0">
                        <a:latin typeface="Calibri" charset="0"/>
                        <a:ea typeface="Calibri" charset="0"/>
                        <a:cs typeface="Calibri" charset="0"/>
                      </a:endParaRPr>
                    </a:p>
                  </a:txBody>
                  <a:tcPr marL="45720" marR="45720" marT="45720" marB="45720"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solidFill>
                      <a:schemeClr val="tx2"/>
                    </a:solidFill>
                  </a:tcPr>
                </a:tc>
              </a:tr>
              <a:tr h="457200">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Zone euro</a:t>
                      </a:r>
                      <a:endParaRPr lang="en-US" sz="1400" dirty="0">
                        <a:latin typeface="Calibri" charset="0"/>
                        <a:ea typeface="Calibri" charset="0"/>
                        <a:cs typeface="Calibri" charset="0"/>
                      </a:endParaRPr>
                    </a:p>
                  </a:txBody>
                  <a:tcPr marL="45720" marR="45720" marT="45720" marB="45720"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1,5 %</a:t>
                      </a:r>
                      <a:endParaRPr lang="en-US" sz="1400" dirty="0">
                        <a:latin typeface="Calibri" charset="0"/>
                        <a:ea typeface="Calibri" charset="0"/>
                        <a:cs typeface="Calibri" charset="0"/>
                      </a:endParaRPr>
                    </a:p>
                  </a:txBody>
                  <a:tcPr marL="45720" marR="45720" marT="45720" marB="45720"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6,4 %</a:t>
                      </a:r>
                      <a:endParaRPr lang="en-US" sz="1400" dirty="0">
                        <a:latin typeface="Calibri" charset="0"/>
                        <a:ea typeface="Calibri" charset="0"/>
                        <a:cs typeface="Calibri" charset="0"/>
                      </a:endParaRPr>
                    </a:p>
                  </a:txBody>
                  <a:tcPr marL="45720" marR="45720" marT="45720" marB="45720"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3,8 %</a:t>
                      </a:r>
                      <a:endParaRPr lang="en-US" sz="1400" dirty="0">
                        <a:latin typeface="Calibri" charset="0"/>
                        <a:ea typeface="Calibri" charset="0"/>
                        <a:cs typeface="Calibri" charset="0"/>
                      </a:endParaRPr>
                    </a:p>
                  </a:txBody>
                  <a:tcPr marL="45720" marR="45720" marT="45720" marB="45720"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2,9 %</a:t>
                      </a:r>
                      <a:endParaRPr lang="en-US" sz="1400" dirty="0">
                        <a:latin typeface="Calibri" charset="0"/>
                        <a:ea typeface="Calibri" charset="0"/>
                        <a:cs typeface="Calibri" charset="0"/>
                      </a:endParaRPr>
                    </a:p>
                  </a:txBody>
                  <a:tcPr marL="45720" marR="45720" marT="45720" marB="45720"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87,8 %</a:t>
                      </a:r>
                      <a:endParaRPr lang="en-US" sz="1400" dirty="0">
                        <a:latin typeface="Calibri" charset="0"/>
                        <a:ea typeface="Calibri" charset="0"/>
                        <a:cs typeface="Calibri" charset="0"/>
                      </a:endParaRPr>
                    </a:p>
                  </a:txBody>
                  <a:tcPr marL="45720" marR="45720" marT="45720" marB="45720"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tcPr>
                </a:tc>
              </a:tr>
              <a:tr h="457200">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Allemagne</a:t>
                      </a:r>
                      <a:endParaRPr lang="en-US" sz="1400" dirty="0">
                        <a:latin typeface="Calibri" charset="0"/>
                        <a:ea typeface="Calibri" charset="0"/>
                        <a:cs typeface="Calibri" charset="0"/>
                      </a:endParaRPr>
                    </a:p>
                  </a:txBody>
                  <a:tcPr marL="45720" marR="45720" marT="45720" marB="45720"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0,3 %</a:t>
                      </a:r>
                      <a:endParaRPr lang="en-US" sz="1400" dirty="0">
                        <a:latin typeface="Calibri" charset="0"/>
                        <a:ea typeface="Calibri" charset="0"/>
                        <a:cs typeface="Calibri" charset="0"/>
                      </a:endParaRPr>
                    </a:p>
                  </a:txBody>
                  <a:tcPr marL="45720" marR="45720" marT="45720" marB="45720"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4,0 %</a:t>
                      </a:r>
                      <a:endParaRPr lang="en-US" sz="1400" dirty="0">
                        <a:latin typeface="Calibri" charset="0"/>
                        <a:ea typeface="Calibri" charset="0"/>
                        <a:cs typeface="Calibri" charset="0"/>
                      </a:endParaRPr>
                    </a:p>
                  </a:txBody>
                  <a:tcPr marL="45720" marR="45720" marT="45720" marB="45720"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3,3 %</a:t>
                      </a:r>
                      <a:endParaRPr lang="en-US" sz="1400" dirty="0">
                        <a:latin typeface="Calibri" charset="0"/>
                        <a:ea typeface="Calibri" charset="0"/>
                        <a:cs typeface="Calibri" charset="0"/>
                      </a:endParaRPr>
                    </a:p>
                  </a:txBody>
                  <a:tcPr marL="45720" marR="45720" marT="45720" marB="45720"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2,7 %</a:t>
                      </a:r>
                      <a:endParaRPr lang="en-US" sz="1400" dirty="0">
                        <a:latin typeface="Calibri" charset="0"/>
                        <a:ea typeface="Calibri" charset="0"/>
                        <a:cs typeface="Calibri" charset="0"/>
                      </a:endParaRPr>
                    </a:p>
                  </a:txBody>
                  <a:tcPr marL="45720" marR="45720" marT="45720" marB="45720"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63,5 %</a:t>
                      </a:r>
                      <a:endParaRPr lang="en-US" sz="1400" dirty="0">
                        <a:latin typeface="Calibri" charset="0"/>
                        <a:ea typeface="Calibri" charset="0"/>
                        <a:cs typeface="Calibri" charset="0"/>
                      </a:endParaRPr>
                    </a:p>
                  </a:txBody>
                  <a:tcPr marL="45720" marR="45720" marT="45720" marB="45720"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tcPr>
                </a:tc>
              </a:tr>
              <a:tr h="457200">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Italie</a:t>
                      </a:r>
                      <a:endParaRPr lang="en-US" sz="1400" dirty="0">
                        <a:latin typeface="Calibri" charset="0"/>
                        <a:ea typeface="Calibri" charset="0"/>
                        <a:cs typeface="Calibri" charset="0"/>
                      </a:endParaRPr>
                    </a:p>
                  </a:txBody>
                  <a:tcPr marL="45720" marR="45720" marT="45720" marB="45720"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0,7 %</a:t>
                      </a:r>
                      <a:endParaRPr lang="en-US" sz="1400" dirty="0">
                        <a:latin typeface="Calibri" charset="0"/>
                        <a:ea typeface="Calibri" charset="0"/>
                        <a:cs typeface="Calibri" charset="0"/>
                      </a:endParaRPr>
                    </a:p>
                  </a:txBody>
                  <a:tcPr marL="45720" marR="45720" marT="45720" marB="45720"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6,2 %</a:t>
                      </a:r>
                      <a:endParaRPr lang="en-US" sz="1400" dirty="0">
                        <a:latin typeface="Calibri" charset="0"/>
                        <a:ea typeface="Calibri" charset="0"/>
                        <a:cs typeface="Calibri" charset="0"/>
                      </a:endParaRPr>
                    </a:p>
                  </a:txBody>
                  <a:tcPr marL="45720" marR="45720" marT="45720" marB="45720"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4,2 %</a:t>
                      </a:r>
                      <a:endParaRPr lang="en-US" sz="1400" dirty="0">
                        <a:latin typeface="Calibri" charset="0"/>
                        <a:ea typeface="Calibri" charset="0"/>
                        <a:cs typeface="Calibri" charset="0"/>
                      </a:endParaRPr>
                    </a:p>
                  </a:txBody>
                  <a:tcPr marL="45720" marR="45720" marT="45720" marB="45720"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3,1 %</a:t>
                      </a:r>
                      <a:endParaRPr lang="en-US" sz="1400" dirty="0">
                        <a:latin typeface="Calibri" charset="0"/>
                        <a:ea typeface="Calibri" charset="0"/>
                        <a:cs typeface="Calibri" charset="0"/>
                      </a:endParaRPr>
                    </a:p>
                  </a:txBody>
                  <a:tcPr marL="45720" marR="45720" marT="45720" marB="45720"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137,1 %</a:t>
                      </a:r>
                      <a:endParaRPr lang="en-US" sz="1400" dirty="0">
                        <a:latin typeface="Calibri" charset="0"/>
                        <a:ea typeface="Calibri" charset="0"/>
                        <a:cs typeface="Calibri" charset="0"/>
                      </a:endParaRPr>
                    </a:p>
                  </a:txBody>
                  <a:tcPr marL="45720" marR="45720" marT="45720" marB="45720"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tcPr>
                </a:tc>
              </a:tr>
              <a:tr h="457200">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Espagne</a:t>
                      </a:r>
                      <a:endParaRPr lang="en-US" sz="1400" dirty="0">
                        <a:latin typeface="Calibri" charset="0"/>
                        <a:ea typeface="Calibri" charset="0"/>
                        <a:cs typeface="Calibri" charset="0"/>
                      </a:endParaRPr>
                    </a:p>
                  </a:txBody>
                  <a:tcPr marL="45720" marR="45720" marT="45720" marB="45720"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2,8 %</a:t>
                      </a:r>
                      <a:endParaRPr lang="en-US" sz="1400" dirty="0">
                        <a:latin typeface="Calibri" charset="0"/>
                        <a:ea typeface="Calibri" charset="0"/>
                        <a:cs typeface="Calibri" charset="0"/>
                      </a:endParaRPr>
                    </a:p>
                  </a:txBody>
                  <a:tcPr marL="45720" marR="45720" marT="45720" marB="45720"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10,0 %</a:t>
                      </a:r>
                      <a:endParaRPr lang="en-US" sz="1400" dirty="0">
                        <a:latin typeface="Calibri" charset="0"/>
                        <a:ea typeface="Calibri" charset="0"/>
                        <a:cs typeface="Calibri" charset="0"/>
                      </a:endParaRPr>
                    </a:p>
                  </a:txBody>
                  <a:tcPr marL="45720" marR="45720" marT="45720" marB="45720"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5,0 %</a:t>
                      </a:r>
                      <a:endParaRPr lang="en-US" sz="1400" dirty="0">
                        <a:latin typeface="Calibri" charset="0"/>
                        <a:ea typeface="Calibri" charset="0"/>
                        <a:cs typeface="Calibri" charset="0"/>
                      </a:endParaRPr>
                    </a:p>
                  </a:txBody>
                  <a:tcPr marL="45720" marR="45720" marT="45720" marB="45720"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2,4 %</a:t>
                      </a:r>
                      <a:endParaRPr lang="en-US" sz="1400" dirty="0">
                        <a:latin typeface="Calibri" charset="0"/>
                        <a:ea typeface="Calibri" charset="0"/>
                        <a:cs typeface="Calibri" charset="0"/>
                      </a:endParaRPr>
                    </a:p>
                  </a:txBody>
                  <a:tcPr marL="45720" marR="45720" marT="45720" marB="45720"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100,7 %</a:t>
                      </a:r>
                      <a:endParaRPr lang="en-US" sz="1400" dirty="0">
                        <a:latin typeface="Calibri" charset="0"/>
                        <a:ea typeface="Calibri" charset="0"/>
                        <a:cs typeface="Calibri" charset="0"/>
                      </a:endParaRPr>
                    </a:p>
                  </a:txBody>
                  <a:tcPr marL="45720" marR="45720" marT="45720" marB="45720"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tcPr>
                </a:tc>
              </a:tr>
              <a:tr h="457200">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Position de la France</a:t>
                      </a:r>
                      <a:endParaRPr lang="en-US" sz="1400" dirty="0">
                        <a:latin typeface="Calibri" charset="0"/>
                        <a:ea typeface="Calibri" charset="0"/>
                        <a:cs typeface="Calibri" charset="0"/>
                      </a:endParaRPr>
                    </a:p>
                  </a:txBody>
                  <a:tcPr marL="45720" marR="45720" marT="45720" marB="45720"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tcPr>
                </a:tc>
                <a:tc>
                  <a:txBody>
                    <a:bodyPr/>
                    <a:lstStyle/>
                    <a:p>
                      <a:pPr algn="ctr" indent="0" marL="0">
                        <a:buNone/>
                      </a:pPr>
                      <a:r>
                        <a:rPr lang="en-US" sz="1400" b="1" dirty="0">
                          <a:solidFill>
                            <a:srgbClr val="B3261E"/>
                          </a:solidFill>
                          <a:latin typeface="Calibri" pitchFamily="34" charset="0"/>
                          <a:ea typeface="Calibri" pitchFamily="34" charset="-122"/>
                          <a:cs typeface="Calibri" pitchFamily="34" charset="-120"/>
                        </a:rPr>
                        <a:t>● sous la moyenne</a:t>
                      </a:r>
                      <a:endParaRPr lang="en-US" sz="1400" dirty="0">
                        <a:latin typeface="Calibri" charset="0"/>
                        <a:ea typeface="Calibri" charset="0"/>
                        <a:cs typeface="Calibri" charset="0"/>
                      </a:endParaRPr>
                    </a:p>
                  </a:txBody>
                  <a:tcPr marL="45720" marR="45720" marT="45720" marB="45720"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tcPr>
                </a:tc>
                <a:tc>
                  <a:txBody>
                    <a:bodyPr/>
                    <a:lstStyle/>
                    <a:p>
                      <a:pPr algn="ctr" indent="0" marL="0">
                        <a:buNone/>
                      </a:pPr>
                      <a:r>
                        <a:rPr lang="en-US" sz="1400" b="1" dirty="0">
                          <a:solidFill>
                            <a:srgbClr val="B3261E"/>
                          </a:solidFill>
                          <a:latin typeface="Calibri" pitchFamily="34" charset="0"/>
                          <a:ea typeface="Calibri" pitchFamily="34" charset="-122"/>
                          <a:cs typeface="Calibri" pitchFamily="34" charset="-120"/>
                        </a:rPr>
                        <a:t>● au-dessus</a:t>
                      </a:r>
                      <a:endParaRPr lang="en-US" sz="1400" dirty="0">
                        <a:latin typeface="Calibri" charset="0"/>
                        <a:ea typeface="Calibri" charset="0"/>
                        <a:cs typeface="Calibri" charset="0"/>
                      </a:endParaRPr>
                    </a:p>
                  </a:txBody>
                  <a:tcPr marL="45720" marR="45720" marT="45720" marB="45720"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tcPr>
                </a:tc>
                <a:tc>
                  <a:txBody>
                    <a:bodyPr/>
                    <a:lstStyle/>
                    <a:p>
                      <a:pPr algn="ctr" indent="0" marL="0">
                        <a:buNone/>
                      </a:pPr>
                      <a:r>
                        <a:rPr lang="en-US" sz="1400" b="1" dirty="0">
                          <a:solidFill>
                            <a:srgbClr val="2E7D32"/>
                          </a:solidFill>
                          <a:latin typeface="Calibri" pitchFamily="34" charset="0"/>
                          <a:ea typeface="Calibri" pitchFamily="34" charset="-122"/>
                          <a:cs typeface="Calibri" pitchFamily="34" charset="-120"/>
                        </a:rPr>
                        <a:t>● en dessous</a:t>
                      </a:r>
                      <a:endParaRPr lang="en-US" sz="1400" dirty="0">
                        <a:latin typeface="Calibri" charset="0"/>
                        <a:ea typeface="Calibri" charset="0"/>
                        <a:cs typeface="Calibri" charset="0"/>
                      </a:endParaRPr>
                    </a:p>
                  </a:txBody>
                  <a:tcPr marL="45720" marR="45720" marT="45720" marB="45720"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tcPr>
                </a:tc>
                <a:tc>
                  <a:txBody>
                    <a:bodyPr/>
                    <a:lstStyle/>
                    <a:p>
                      <a:pPr algn="ctr" indent="0" marL="0">
                        <a:buNone/>
                      </a:pPr>
                      <a:r>
                        <a:rPr lang="en-US" sz="1400" b="1" dirty="0">
                          <a:solidFill>
                            <a:srgbClr val="B3261E"/>
                          </a:solidFill>
                          <a:latin typeface="Calibri" pitchFamily="34" charset="0"/>
                          <a:ea typeface="Calibri" pitchFamily="34" charset="-122"/>
                          <a:cs typeface="Calibri" pitchFamily="34" charset="-120"/>
                        </a:rPr>
                        <a:t>● le plus élevé</a:t>
                      </a:r>
                      <a:endParaRPr lang="en-US" sz="1400" dirty="0">
                        <a:latin typeface="Calibri" charset="0"/>
                        <a:ea typeface="Calibri" charset="0"/>
                        <a:cs typeface="Calibri" charset="0"/>
                      </a:endParaRPr>
                    </a:p>
                  </a:txBody>
                  <a:tcPr marL="45720" marR="45720" marT="45720" marB="45720"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tcPr>
                </a:tc>
                <a:tc>
                  <a:txBody>
                    <a:bodyPr/>
                    <a:lstStyle/>
                    <a:p>
                      <a:pPr algn="ctr" indent="0" marL="0">
                        <a:buNone/>
                      </a:pPr>
                      <a:r>
                        <a:rPr lang="en-US" sz="1400" b="1" dirty="0">
                          <a:solidFill>
                            <a:srgbClr val="B3261E"/>
                          </a:solidFill>
                          <a:latin typeface="Calibri" pitchFamily="34" charset="0"/>
                          <a:ea typeface="Calibri" pitchFamily="34" charset="-122"/>
                          <a:cs typeface="Calibri" pitchFamily="34" charset="-120"/>
                        </a:rPr>
                        <a:t>● 2e plus élevée</a:t>
                      </a:r>
                      <a:endParaRPr lang="en-US" sz="1400" dirty="0">
                        <a:latin typeface="Calibri" charset="0"/>
                        <a:ea typeface="Calibri" charset="0"/>
                        <a:cs typeface="Calibri" charset="0"/>
                      </a:endParaRPr>
                    </a:p>
                  </a:txBody>
                  <a:tcPr marL="45720" marR="45720" marT="45720" marB="45720"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tcPr>
                </a:tc>
              </a:tr>
            </a:tbl>
          </a:graphicData>
        </a:graphic>
      </p:graphicFrame>
      <p:sp>
        <p:nvSpPr>
          <p:cNvPr id="5" name="À retenir"/>
          <p:cNvSpPr/>
          <p:nvPr/>
        </p:nvSpPr>
        <p:spPr>
          <a:xfrm>
            <a:off x="548640" y="5074920"/>
            <a:ext cx="11064240" cy="1051560"/>
          </a:xfrm>
          <a:prstGeom prst="roundRect">
            <a:avLst>
              <a:gd name="adj" fmla="val 6957"/>
            </a:avLst>
          </a:prstGeom>
          <a:solidFill>
            <a:schemeClr val="bg2"/>
          </a:solidFill>
          <a:ln w="12700">
            <a:solidFill>
              <a:schemeClr val="bg2"/>
            </a:solidFill>
            <a:prstDash val="solid"/>
          </a:ln>
        </p:spPr>
      </p:sp>
      <p:sp>
        <p:nvSpPr>
          <p:cNvPr id="6" name="Text 3"/>
          <p:cNvSpPr txBox="1"/>
          <p:nvPr/>
        </p:nvSpPr>
        <p:spPr>
          <a:xfrm>
            <a:off x="777240" y="5120640"/>
            <a:ext cx="10607040" cy="960120"/>
          </a:xfrm>
          <a:prstGeom prst="rect">
            <a:avLst/>
          </a:prstGeom>
          <a:noFill/>
          <a:ln/>
        </p:spPr>
        <p:txBody>
          <a:bodyPr wrap="square" lIns="0" tIns="0" rIns="0" bIns="0" rtlCol="0" anchor="ctr"/>
          <a:lstStyle/>
          <a:p>
            <a:pPr indent="0" marL="0">
              <a:buNone/>
            </a:pPr>
            <a:r>
              <a:rPr lang="en-US" sz="1500" b="1" dirty="0">
                <a:solidFill>
                  <a:schemeClr val="tx2"/>
                </a:solidFill>
              </a:rPr>
              <a:t>À retenir : </a:t>
            </a:r>
            <a:pPr indent="0" marL="0">
              <a:buNone/>
            </a:pPr>
            <a:r>
              <a:rPr lang="en-US" sz="1500" dirty="0">
                <a:solidFill>
                  <a:schemeClr val="tx1"/>
                </a:solidFill>
              </a:rPr>
              <a:t>l'inflation touche toute la zone euro, et la France est légèrement en dessous de la moyenne. Son déficit est le plus élevé des cinq et sa dette la deuxième : ces données vont dans le sens d'une difficulté propre à la France sur les finances publiques, sans permettre de le démontrer (5 pays, une seule année, sans test statistique).</a:t>
            </a:r>
            <a:endParaRPr lang="en-US" sz="1500" dirty="0"/>
          </a:p>
        </p:txBody>
      </p:sp>
      <p:sp>
        <p:nvSpPr>
          <p:cNvPr id="7" name="Source"/>
          <p:cNvSpPr txBox="1"/>
          <p:nvPr/>
        </p:nvSpPr>
        <p:spPr>
          <a:xfrm>
            <a:off x="548640" y="6355080"/>
            <a:ext cx="10424160" cy="274320"/>
          </a:xfrm>
          <a:prstGeom prst="rect">
            <a:avLst/>
          </a:prstGeom>
          <a:noFill/>
          <a:ln/>
        </p:spPr>
        <p:txBody>
          <a:bodyPr wrap="square" lIns="0" tIns="0" rIns="0" bIns="0" rtlCol="0" anchor="ctr"/>
          <a:lstStyle/>
          <a:p>
            <a:pPr indent="0" marL="0">
              <a:buNone/>
            </a:pPr>
            <a:r>
              <a:rPr lang="en-US" sz="1000" dirty="0">
                <a:solidFill>
                  <a:schemeClr val="accent5"/>
                </a:solidFill>
              </a:rPr>
              <a:t>Source : Eurostat (déficit et dette 2025, 22/04/2026 ; inflation, 16/10/2026 ; chômage, 01/10/2026) ; croissance 2025 : Eurostat (zone euro), Destatis, Istat, INE.</a:t>
            </a:r>
            <a:endParaRPr lang="en-US" sz="10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10698480" cy="1188720"/>
          </a:xfrm>
          <a:prstGeom prst="rect">
            <a:avLst/>
          </a:prstGeom>
          <a:noFill/>
          <a:ln/>
        </p:spPr>
        <p:txBody>
          <a:bodyPr wrap="square" lIns="0" tIns="0" rIns="0" bIns="0" rtlCol="0" anchor="b"/>
          <a:lstStyle/>
          <a:p>
            <a:pPr algn="l" indent="0" marL="0">
              <a:buNone/>
            </a:pPr>
            <a:r>
              <a:rPr lang="en-US" sz="4800" b="1" dirty="0">
                <a:solidFill>
                  <a:schemeClr val="bg1"/>
                </a:solidFill>
                <a:latin typeface="Cambria" pitchFamily="34" charset="0"/>
                <a:ea typeface="Cambria" pitchFamily="34" charset="-122"/>
                <a:cs typeface="Cambria" pitchFamily="34" charset="-120"/>
              </a:rPr>
              <a:t>La pauvreté en France</a:t>
            </a:r>
            <a:endParaRPr lang="en-US" sz="4800" dirty="0"/>
          </a:p>
        </p:txBody>
      </p:sp>
      <p:sp>
        <p:nvSpPr>
          <p:cNvPr id="3" name="Text 0"/>
          <p:cNvSpPr/>
          <p:nvPr>
            <p:ph idx="101" type="body" hasCustomPrompt="1"/>
          </p:nvPr>
        </p:nvSpPr>
        <p:spPr>
          <a:xfrm>
            <a:off x="731520" y="2788920"/>
            <a:ext cx="10698480" cy="731520"/>
          </a:xfrm>
          <a:prstGeom prst="rect">
            <a:avLst/>
          </a:prstGeom>
          <a:noFill/>
          <a:ln/>
        </p:spPr>
        <p:txBody>
          <a:bodyPr wrap="square" lIns="0" tIns="0" rIns="0" bIns="0" rtlCol="0" anchor="t"/>
          <a:lstStyle/>
          <a:p>
            <a:pPr indent="0" marL="0">
              <a:buNone/>
            </a:pPr>
            <a:r>
              <a:rPr lang="en-US" sz="2400" dirty="0">
                <a:solidFill>
                  <a:schemeClr val="accent6"/>
                </a:solidFill>
                <a:latin typeface="Calibri" pitchFamily="34" charset="0"/>
                <a:ea typeface="Calibri" pitchFamily="34" charset="-122"/>
                <a:cs typeface="Calibri" pitchFamily="34" charset="-120"/>
              </a:rPr>
              <a:t>Choix politique, échec de l'État ou phénomène complexe ?</a:t>
            </a:r>
            <a:endParaRPr lang="en-US" sz="2400" dirty="0"/>
          </a:p>
        </p:txBody>
      </p:sp>
      <p:sp>
        <p:nvSpPr>
          <p:cNvPr id="4" name="Point de vue 1"/>
          <p:cNvSpPr txBox="1"/>
          <p:nvPr/>
        </p:nvSpPr>
        <p:spPr>
          <a:xfrm>
            <a:off x="731520" y="4572000"/>
            <a:ext cx="3200400" cy="548640"/>
          </a:xfrm>
          <a:prstGeom prst="roundRect">
            <a:avLst>
              <a:gd name="adj" fmla="val 50000"/>
            </a:avLst>
          </a:prstGeom>
          <a:solidFill>
            <a:schemeClr val="accent1"/>
          </a:solidFill>
          <a:ln/>
        </p:spPr>
        <p:txBody>
          <a:bodyPr wrap="square" lIns="0" tIns="0" rIns="0" bIns="0" rtlCol="0" anchor="ctr"/>
          <a:lstStyle/>
          <a:p>
            <a:pPr algn="ctr" indent="0" marL="0">
              <a:buNone/>
            </a:pPr>
            <a:r>
              <a:rPr lang="en-US" sz="1600" b="1" dirty="0">
                <a:solidFill>
                  <a:schemeClr val="bg1"/>
                </a:solidFill>
              </a:rPr>
              <a:t>Gauche · L'Essentiel de l'Éco</a:t>
            </a:r>
            <a:endParaRPr lang="en-US" sz="1600" dirty="0"/>
          </a:p>
        </p:txBody>
      </p:sp>
      <p:sp>
        <p:nvSpPr>
          <p:cNvPr id="5" name="Point de vue 2"/>
          <p:cNvSpPr txBox="1"/>
          <p:nvPr/>
        </p:nvSpPr>
        <p:spPr>
          <a:xfrm>
            <a:off x="4160520" y="4572000"/>
            <a:ext cx="3200400" cy="548640"/>
          </a:xfrm>
          <a:prstGeom prst="roundRect">
            <a:avLst>
              <a:gd name="adj" fmla="val 50000"/>
            </a:avLst>
          </a:prstGeom>
          <a:solidFill>
            <a:schemeClr val="accent3"/>
          </a:solidFill>
          <a:ln/>
        </p:spPr>
        <p:txBody>
          <a:bodyPr wrap="square" lIns="0" tIns="0" rIns="0" bIns="0" rtlCol="0" anchor="ctr"/>
          <a:lstStyle/>
          <a:p>
            <a:pPr algn="ctr" indent="0" marL="0">
              <a:buNone/>
            </a:pPr>
            <a:r>
              <a:rPr lang="en-US" sz="1600" b="1" dirty="0">
                <a:solidFill>
                  <a:schemeClr val="bg1"/>
                </a:solidFill>
              </a:rPr>
              <a:t>Milieu · OFCE</a:t>
            </a:r>
            <a:endParaRPr lang="en-US" sz="1600" dirty="0"/>
          </a:p>
        </p:txBody>
      </p:sp>
      <p:sp>
        <p:nvSpPr>
          <p:cNvPr id="6" name="Point de vue 3"/>
          <p:cNvSpPr txBox="1"/>
          <p:nvPr/>
        </p:nvSpPr>
        <p:spPr>
          <a:xfrm>
            <a:off x="7589520" y="4572000"/>
            <a:ext cx="3200400" cy="548640"/>
          </a:xfrm>
          <a:prstGeom prst="roundRect">
            <a:avLst>
              <a:gd name="adj" fmla="val 50000"/>
            </a:avLst>
          </a:prstGeom>
          <a:solidFill>
            <a:schemeClr val="accent2"/>
          </a:solidFill>
          <a:ln/>
        </p:spPr>
        <p:txBody>
          <a:bodyPr wrap="square" lIns="0" tIns="0" rIns="0" bIns="0" rtlCol="0" anchor="ctr"/>
          <a:lstStyle/>
          <a:p>
            <a:pPr algn="ctr" indent="0" marL="0">
              <a:buNone/>
            </a:pPr>
            <a:r>
              <a:rPr lang="en-US" sz="1600" b="1" dirty="0">
                <a:solidFill>
                  <a:schemeClr val="bg1"/>
                </a:solidFill>
              </a:rPr>
              <a:t>Libéral · IREF</a:t>
            </a:r>
            <a:endParaRPr lang="en-US" sz="1600" dirty="0"/>
          </a:p>
        </p:txBody>
      </p:sp>
      <p:sp>
        <p:nvSpPr>
          <p:cNvPr id="7" name="Text 5"/>
          <p:cNvSpPr txBox="1"/>
          <p:nvPr/>
        </p:nvSpPr>
        <p:spPr>
          <a:xfrm>
            <a:off x="731520" y="4069080"/>
            <a:ext cx="10698480" cy="365760"/>
          </a:xfrm>
          <a:prstGeom prst="rect">
            <a:avLst/>
          </a:prstGeom>
          <a:noFill/>
          <a:ln/>
        </p:spPr>
        <p:txBody>
          <a:bodyPr wrap="square" lIns="0" tIns="0" rIns="0" bIns="0" rtlCol="0" anchor="ctr"/>
          <a:lstStyle/>
          <a:p>
            <a:pPr indent="0" marL="0">
              <a:buNone/>
            </a:pPr>
            <a:r>
              <a:rPr lang="en-US" sz="1600" dirty="0">
                <a:solidFill>
                  <a:schemeClr val="accent6"/>
                </a:solidFill>
              </a:rPr>
              <a:t>Trois lectures d'un même chiffre de l'Insee</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Étiquette"/>
          <p:cNvSpPr txBox="1"/>
          <p:nvPr/>
        </p:nvSpPr>
        <p:spPr>
          <a:xfrm>
            <a:off x="548640" y="256032"/>
            <a:ext cx="1664208" cy="310896"/>
          </a:xfrm>
          <a:prstGeom prst="roundRect">
            <a:avLst>
              <a:gd name="adj" fmla="val 50000"/>
            </a:avLst>
          </a:prstGeom>
          <a:solidFill>
            <a:schemeClr val="tx2"/>
          </a:solidFill>
          <a:ln/>
        </p:spPr>
        <p:txBody>
          <a:bodyPr wrap="square" lIns="0" tIns="0" rIns="0" bIns="0" rtlCol="0" anchor="ctr"/>
          <a:lstStyle/>
          <a:p>
            <a:pPr algn="ctr" indent="0" marL="0">
              <a:buNone/>
            </a:pPr>
            <a:r>
              <a:rPr lang="en-US" sz="1200" b="1" spc="100" kern="0" dirty="0">
                <a:solidFill>
                  <a:schemeClr val="bg1"/>
                </a:solidFill>
              </a:rPr>
              <a:t>INTRODUCTION</a:t>
            </a:r>
            <a:endParaRPr lang="en-US" sz="1200" dirty="0"/>
          </a:p>
        </p:txBody>
      </p:sp>
      <p:sp>
        <p:nvSpPr>
          <p:cNvPr id="3" name="Text 0"/>
          <p:cNvSpPr/>
          <p:nvPr>
            <p:ph idx="100" type="title" hasCustomPrompt="1"/>
          </p:nvPr>
        </p:nvSpPr>
        <p:spPr>
          <a:xfrm>
            <a:off x="548640" y="658368"/>
            <a:ext cx="11064240" cy="73152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Un record depuis 1996</a:t>
            </a:r>
            <a:endParaRPr lang="en-US" sz="3400" dirty="0"/>
          </a:p>
        </p:txBody>
      </p:sp>
      <p:graphicFrame>
        <p:nvGraphicFramePr>
          <p:cNvPr id="4" name="Graphique taux de pauvreté" descr=""/>
          <p:cNvGraphicFramePr/>
          <p:nvPr/>
        </p:nvGraphicFramePr>
        <p:xfrm>
          <a:off x="548640" y="1600200"/>
          <a:ext cx="6675120" cy="452628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7772400" y="1691640"/>
            <a:ext cx="3840480" cy="777240"/>
          </a:xfrm>
          <a:prstGeom prst="rect">
            <a:avLst/>
          </a:prstGeom>
          <a:noFill/>
          <a:ln/>
        </p:spPr>
        <p:txBody>
          <a:bodyPr wrap="square" lIns="0" tIns="0" rIns="0" bIns="0" rtlCol="0" anchor="b"/>
          <a:lstStyle/>
          <a:p>
            <a:pPr indent="0" marL="0">
              <a:buNone/>
            </a:pPr>
            <a:r>
              <a:rPr lang="en-US" sz="5400" b="1" dirty="0">
                <a:solidFill>
                  <a:schemeClr val="tx2"/>
                </a:solidFill>
                <a:latin typeface="Cambria" pitchFamily="34" charset="0"/>
                <a:ea typeface="Cambria" pitchFamily="34" charset="-122"/>
                <a:cs typeface="Cambria" pitchFamily="34" charset="-120"/>
              </a:rPr>
              <a:t>15,4 %</a:t>
            </a:r>
            <a:endParaRPr lang="en-US" sz="5400" dirty="0"/>
          </a:p>
        </p:txBody>
      </p:sp>
      <p:sp>
        <p:nvSpPr>
          <p:cNvPr id="6" name="Text 3"/>
          <p:cNvSpPr txBox="1"/>
          <p:nvPr/>
        </p:nvSpPr>
        <p:spPr>
          <a:xfrm>
            <a:off x="7772400" y="2496312"/>
            <a:ext cx="3840480" cy="548640"/>
          </a:xfrm>
          <a:prstGeom prst="rect">
            <a:avLst/>
          </a:prstGeom>
          <a:noFill/>
          <a:ln/>
        </p:spPr>
        <p:txBody>
          <a:bodyPr wrap="square" lIns="0" tIns="0" rIns="0" bIns="0" rtlCol="0" anchor="t"/>
          <a:lstStyle/>
          <a:p>
            <a:pPr indent="0" marL="0">
              <a:buNone/>
            </a:pPr>
            <a:r>
              <a:rPr lang="en-US" sz="1500" dirty="0">
                <a:solidFill>
                  <a:schemeClr val="accent5"/>
                </a:solidFill>
              </a:rPr>
              <a:t>de la population sous le seuil de pauvreté en 2023</a:t>
            </a:r>
            <a:endParaRPr lang="en-US" sz="1500" dirty="0"/>
          </a:p>
        </p:txBody>
      </p:sp>
      <p:sp>
        <p:nvSpPr>
          <p:cNvPr id="7" name="Text 4"/>
          <p:cNvSpPr txBox="1"/>
          <p:nvPr/>
        </p:nvSpPr>
        <p:spPr>
          <a:xfrm>
            <a:off x="7772400" y="3200400"/>
            <a:ext cx="3840480" cy="777240"/>
          </a:xfrm>
          <a:prstGeom prst="rect">
            <a:avLst/>
          </a:prstGeom>
          <a:noFill/>
          <a:ln/>
        </p:spPr>
        <p:txBody>
          <a:bodyPr wrap="square" lIns="0" tIns="0" rIns="0" bIns="0" rtlCol="0" anchor="b"/>
          <a:lstStyle/>
          <a:p>
            <a:pPr indent="0" marL="0">
              <a:buNone/>
            </a:pPr>
            <a:r>
              <a:rPr lang="en-US" sz="4000" b="1" dirty="0">
                <a:solidFill>
                  <a:schemeClr val="tx2"/>
                </a:solidFill>
                <a:latin typeface="Cambria" pitchFamily="34" charset="0"/>
                <a:ea typeface="Cambria" pitchFamily="34" charset="-122"/>
                <a:cs typeface="Cambria" pitchFamily="34" charset="-120"/>
              </a:rPr>
              <a:t>9,8 millions</a:t>
            </a:r>
            <a:endParaRPr lang="en-US" sz="4000" dirty="0"/>
          </a:p>
        </p:txBody>
      </p:sp>
      <p:sp>
        <p:nvSpPr>
          <p:cNvPr id="8" name="Text 5"/>
          <p:cNvSpPr txBox="1"/>
          <p:nvPr/>
        </p:nvSpPr>
        <p:spPr>
          <a:xfrm>
            <a:off x="7772400" y="4005072"/>
            <a:ext cx="3840480" cy="548640"/>
          </a:xfrm>
          <a:prstGeom prst="rect">
            <a:avLst/>
          </a:prstGeom>
          <a:noFill/>
          <a:ln/>
        </p:spPr>
        <p:txBody>
          <a:bodyPr wrap="square" lIns="0" tIns="0" rIns="0" bIns="0" rtlCol="0" anchor="t"/>
          <a:lstStyle/>
          <a:p>
            <a:pPr indent="0" marL="0">
              <a:buNone/>
            </a:pPr>
            <a:r>
              <a:rPr lang="en-US" sz="1500" dirty="0">
                <a:solidFill>
                  <a:schemeClr val="accent5"/>
                </a:solidFill>
              </a:rPr>
              <a:t>de personnes pauvres</a:t>
            </a:r>
            <a:endParaRPr lang="en-US" sz="1500" dirty="0"/>
          </a:p>
        </p:txBody>
      </p:sp>
      <p:sp>
        <p:nvSpPr>
          <p:cNvPr id="9" name="Text 6"/>
          <p:cNvSpPr txBox="1"/>
          <p:nvPr/>
        </p:nvSpPr>
        <p:spPr>
          <a:xfrm>
            <a:off x="7772400" y="4709160"/>
            <a:ext cx="3840480" cy="777240"/>
          </a:xfrm>
          <a:prstGeom prst="rect">
            <a:avLst/>
          </a:prstGeom>
          <a:noFill/>
          <a:ln/>
        </p:spPr>
        <p:txBody>
          <a:bodyPr wrap="square" lIns="0" tIns="0" rIns="0" bIns="0" rtlCol="0" anchor="b"/>
          <a:lstStyle/>
          <a:p>
            <a:pPr indent="0" marL="0">
              <a:buNone/>
            </a:pPr>
            <a:r>
              <a:rPr lang="en-US" sz="4000" b="1" dirty="0">
                <a:solidFill>
                  <a:schemeClr val="accent2"/>
                </a:solidFill>
                <a:latin typeface="Cambria" pitchFamily="34" charset="0"/>
                <a:ea typeface="Cambria" pitchFamily="34" charset="-122"/>
                <a:cs typeface="Cambria" pitchFamily="34" charset="-120"/>
              </a:rPr>
              <a:t>+ 650 000</a:t>
            </a:r>
            <a:endParaRPr lang="en-US" sz="4000" dirty="0"/>
          </a:p>
        </p:txBody>
      </p:sp>
      <p:sp>
        <p:nvSpPr>
          <p:cNvPr id="10" name="Text 7"/>
          <p:cNvSpPr txBox="1"/>
          <p:nvPr/>
        </p:nvSpPr>
        <p:spPr>
          <a:xfrm>
            <a:off x="7772400" y="5513832"/>
            <a:ext cx="3840480" cy="548640"/>
          </a:xfrm>
          <a:prstGeom prst="rect">
            <a:avLst/>
          </a:prstGeom>
          <a:noFill/>
          <a:ln/>
        </p:spPr>
        <p:txBody>
          <a:bodyPr wrap="square" lIns="0" tIns="0" rIns="0" bIns="0" rtlCol="0" anchor="t"/>
          <a:lstStyle/>
          <a:p>
            <a:pPr indent="0" marL="0">
              <a:buNone/>
            </a:pPr>
            <a:r>
              <a:rPr lang="en-US" sz="1500" dirty="0">
                <a:solidFill>
                  <a:schemeClr val="accent5"/>
                </a:solidFill>
              </a:rPr>
              <a:t>pauvres en un an (2022 → 2023)</a:t>
            </a:r>
            <a:endParaRPr lang="en-US" sz="1500" dirty="0"/>
          </a:p>
        </p:txBody>
      </p:sp>
      <p:sp>
        <p:nvSpPr>
          <p:cNvPr id="11" name="Source"/>
          <p:cNvSpPr txBox="1"/>
          <p:nvPr/>
        </p:nvSpPr>
        <p:spPr>
          <a:xfrm>
            <a:off x="548640" y="6355080"/>
            <a:ext cx="10424160" cy="274320"/>
          </a:xfrm>
          <a:prstGeom prst="rect">
            <a:avLst/>
          </a:prstGeom>
          <a:noFill/>
          <a:ln/>
        </p:spPr>
        <p:txBody>
          <a:bodyPr wrap="square" lIns="0" tIns="0" rIns="0" bIns="0" rtlCol="0" anchor="ctr"/>
          <a:lstStyle/>
          <a:p>
            <a:pPr indent="0" marL="0">
              <a:buNone/>
            </a:pPr>
            <a:r>
              <a:rPr lang="en-US" sz="1000" dirty="0">
                <a:solidFill>
                  <a:schemeClr val="accent5"/>
                </a:solidFill>
              </a:rPr>
              <a:t>Source : Insee (juillet 2025) ; L'Essentiel de l'Éco (08/07/2025)</a:t>
            </a:r>
            <a:endParaRPr lang="en-US" sz="10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Étiquette"/>
          <p:cNvSpPr txBox="1"/>
          <p:nvPr/>
        </p:nvSpPr>
        <p:spPr>
          <a:xfrm>
            <a:off x="548640" y="256032"/>
            <a:ext cx="1463040" cy="310896"/>
          </a:xfrm>
          <a:prstGeom prst="roundRect">
            <a:avLst>
              <a:gd name="adj" fmla="val 50000"/>
            </a:avLst>
          </a:prstGeom>
          <a:solidFill>
            <a:schemeClr val="tx2"/>
          </a:solidFill>
          <a:ln/>
        </p:spPr>
        <p:txBody>
          <a:bodyPr wrap="square" lIns="0" tIns="0" rIns="0" bIns="0" rtlCol="0" anchor="ctr"/>
          <a:lstStyle/>
          <a:p>
            <a:pPr algn="ctr" indent="0" marL="0">
              <a:buNone/>
            </a:pPr>
            <a:r>
              <a:rPr lang="en-US" sz="1200" b="1" spc="100" kern="0" dirty="0">
                <a:solidFill>
                  <a:schemeClr val="bg1"/>
                </a:solidFill>
              </a:rPr>
              <a:t>LE CONSTAT</a:t>
            </a:r>
            <a:endParaRPr lang="en-US" sz="1200" dirty="0"/>
          </a:p>
        </p:txBody>
      </p:sp>
      <p:sp>
        <p:nvSpPr>
          <p:cNvPr id="3" name="Text 0"/>
          <p:cNvSpPr/>
          <p:nvPr>
            <p:ph idx="100" type="title" hasCustomPrompt="1"/>
          </p:nvPr>
        </p:nvSpPr>
        <p:spPr>
          <a:xfrm>
            <a:off x="548640" y="658368"/>
            <a:ext cx="11064240" cy="73152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Qui est pauvre en France ?</a:t>
            </a:r>
            <a:endParaRPr lang="en-US" sz="3400" dirty="0"/>
          </a:p>
        </p:txBody>
      </p:sp>
      <p:sp>
        <p:nvSpPr>
          <p:cNvPr id="4" name="Carte définition"/>
          <p:cNvSpPr/>
          <p:nvPr/>
        </p:nvSpPr>
        <p:spPr>
          <a:xfrm>
            <a:off x="548640" y="1600200"/>
            <a:ext cx="4023360" cy="4526280"/>
          </a:xfrm>
          <a:prstGeom prst="roundRect">
            <a:avLst>
              <a:gd name="adj" fmla="val 1818"/>
            </a:avLst>
          </a:prstGeom>
          <a:solidFill>
            <a:schemeClr val="bg2"/>
          </a:solidFill>
          <a:ln w="12700">
            <a:solidFill>
              <a:schemeClr val="bg2"/>
            </a:solidFill>
            <a:prstDash val="solid"/>
          </a:ln>
        </p:spPr>
      </p:sp>
      <p:sp>
        <p:nvSpPr>
          <p:cNvPr id="5" name="Text 3"/>
          <p:cNvSpPr txBox="1"/>
          <p:nvPr/>
        </p:nvSpPr>
        <p:spPr>
          <a:xfrm>
            <a:off x="822960" y="1828800"/>
            <a:ext cx="3474720" cy="365760"/>
          </a:xfrm>
          <a:prstGeom prst="rect">
            <a:avLst/>
          </a:prstGeom>
          <a:noFill/>
          <a:ln/>
        </p:spPr>
        <p:txBody>
          <a:bodyPr wrap="square" lIns="0" tIns="0" rIns="0" bIns="0" rtlCol="0" anchor="ctr"/>
          <a:lstStyle/>
          <a:p>
            <a:pPr indent="0" marL="0">
              <a:buNone/>
            </a:pPr>
            <a:r>
              <a:rPr lang="en-US" sz="1700" b="1" dirty="0">
                <a:solidFill>
                  <a:schemeClr val="tx2"/>
                </a:solidFill>
              </a:rPr>
              <a:t>Définition de l'Insee</a:t>
            </a:r>
            <a:endParaRPr lang="en-US" sz="1700" dirty="0"/>
          </a:p>
        </p:txBody>
      </p:sp>
      <p:sp>
        <p:nvSpPr>
          <p:cNvPr id="6" name="Text 4"/>
          <p:cNvSpPr txBox="1"/>
          <p:nvPr/>
        </p:nvSpPr>
        <p:spPr>
          <a:xfrm>
            <a:off x="822960" y="2331720"/>
            <a:ext cx="3474720" cy="365760"/>
          </a:xfrm>
          <a:prstGeom prst="rect">
            <a:avLst/>
          </a:prstGeom>
          <a:noFill/>
          <a:ln/>
        </p:spPr>
        <p:txBody>
          <a:bodyPr wrap="square" lIns="0" tIns="0" rIns="0" bIns="0" rtlCol="0" anchor="ctr"/>
          <a:lstStyle/>
          <a:p>
            <a:pPr indent="0" marL="0">
              <a:buNone/>
            </a:pPr>
            <a:r>
              <a:rPr lang="en-US" sz="1600" dirty="0">
                <a:solidFill>
                  <a:schemeClr val="tx1"/>
                </a:solidFill>
              </a:rPr>
              <a:t>Pauvre = moins de</a:t>
            </a:r>
            <a:endParaRPr lang="en-US" sz="1600" dirty="0"/>
          </a:p>
        </p:txBody>
      </p:sp>
      <p:sp>
        <p:nvSpPr>
          <p:cNvPr id="7" name="Text 5"/>
          <p:cNvSpPr txBox="1"/>
          <p:nvPr/>
        </p:nvSpPr>
        <p:spPr>
          <a:xfrm>
            <a:off x="822960" y="2697480"/>
            <a:ext cx="3474720" cy="914400"/>
          </a:xfrm>
          <a:prstGeom prst="rect">
            <a:avLst/>
          </a:prstGeom>
          <a:noFill/>
          <a:ln/>
        </p:spPr>
        <p:txBody>
          <a:bodyPr wrap="square" lIns="0" tIns="0" rIns="0" bIns="0" rtlCol="0" anchor="ctr"/>
          <a:lstStyle/>
          <a:p>
            <a:pPr indent="0" marL="0">
              <a:buNone/>
            </a:pPr>
            <a:r>
              <a:rPr lang="en-US" sz="6000" b="1" dirty="0">
                <a:solidFill>
                  <a:schemeClr val="tx2"/>
                </a:solidFill>
                <a:latin typeface="Cambria" pitchFamily="34" charset="0"/>
                <a:ea typeface="Cambria" pitchFamily="34" charset="-122"/>
                <a:cs typeface="Cambria" pitchFamily="34" charset="-120"/>
              </a:rPr>
              <a:t>60 %</a:t>
            </a:r>
            <a:endParaRPr lang="en-US" sz="6000" dirty="0"/>
          </a:p>
        </p:txBody>
      </p:sp>
      <p:sp>
        <p:nvSpPr>
          <p:cNvPr id="8" name="Text 6"/>
          <p:cNvSpPr txBox="1"/>
          <p:nvPr/>
        </p:nvSpPr>
        <p:spPr>
          <a:xfrm>
            <a:off x="822960" y="3611880"/>
            <a:ext cx="3474720" cy="365760"/>
          </a:xfrm>
          <a:prstGeom prst="rect">
            <a:avLst/>
          </a:prstGeom>
          <a:noFill/>
          <a:ln/>
        </p:spPr>
        <p:txBody>
          <a:bodyPr wrap="square" lIns="0" tIns="0" rIns="0" bIns="0" rtlCol="0" anchor="ctr"/>
          <a:lstStyle/>
          <a:p>
            <a:pPr indent="0" marL="0">
              <a:buNone/>
            </a:pPr>
            <a:r>
              <a:rPr lang="en-US" sz="1600" dirty="0">
                <a:solidFill>
                  <a:schemeClr val="tx1"/>
                </a:solidFill>
              </a:rPr>
              <a:t>du niveau de vie médian</a:t>
            </a:r>
            <a:endParaRPr lang="en-US" sz="1600" dirty="0"/>
          </a:p>
        </p:txBody>
      </p:sp>
      <p:sp>
        <p:nvSpPr>
          <p:cNvPr id="9" name="Text 7"/>
          <p:cNvSpPr txBox="1"/>
          <p:nvPr/>
        </p:nvSpPr>
        <p:spPr>
          <a:xfrm>
            <a:off x="822960" y="4206240"/>
            <a:ext cx="3474720" cy="1645920"/>
          </a:xfrm>
          <a:prstGeom prst="rect">
            <a:avLst/>
          </a:prstGeom>
          <a:noFill/>
          <a:ln/>
        </p:spPr>
        <p:txBody>
          <a:bodyPr wrap="square" lIns="0" tIns="0" rIns="0" bIns="0" rtlCol="0" anchor="t"/>
          <a:lstStyle/>
          <a:p>
            <a:pPr indent="0" marL="0">
              <a:buNone/>
            </a:pPr>
            <a:r>
              <a:rPr lang="en-US" sz="1500" dirty="0">
                <a:solidFill>
                  <a:schemeClr val="accent5"/>
                </a:solidFill>
              </a:rPr>
              <a:t>Le médian coupe la population en deux moitiés. La pauvreté est donc relative : elle dépend du revenu des autres.</a:t>
            </a:r>
            <a:endParaRPr lang="en-US" sz="1500" dirty="0"/>
          </a:p>
        </p:txBody>
      </p:sp>
      <p:graphicFrame>
        <p:nvGraphicFramePr>
          <p:cNvPr id="10" name="Graphique catégories" descr=""/>
          <p:cNvGraphicFramePr/>
          <p:nvPr/>
        </p:nvGraphicFramePr>
        <p:xfrm>
          <a:off x="4937760" y="1600200"/>
          <a:ext cx="6675120" cy="4526280"/>
        </p:xfrm>
        <a:graphic xmlns:a="http://schemas.openxmlformats.org/drawingml/2006/main">
          <a:graphicData uri="http://schemas.openxmlformats.org/drawingml/2006/chart">
            <c:chart xmlns:c="http://schemas.openxmlformats.org/drawingml/2006/chart" r:id="rId1"/>
          </a:graphicData>
        </a:graphic>
      </p:graphicFrame>
      <p:sp>
        <p:nvSpPr>
          <p:cNvPr id="11" name="Source"/>
          <p:cNvSpPr txBox="1"/>
          <p:nvPr/>
        </p:nvSpPr>
        <p:spPr>
          <a:xfrm>
            <a:off x="548640" y="6355080"/>
            <a:ext cx="10424160" cy="274320"/>
          </a:xfrm>
          <a:prstGeom prst="rect">
            <a:avLst/>
          </a:prstGeom>
          <a:noFill/>
          <a:ln/>
        </p:spPr>
        <p:txBody>
          <a:bodyPr wrap="square" lIns="0" tIns="0" rIns="0" bIns="0" rtlCol="0" anchor="ctr"/>
          <a:lstStyle/>
          <a:p>
            <a:pPr indent="0" marL="0">
              <a:buNone/>
            </a:pPr>
            <a:r>
              <a:rPr lang="en-US" sz="1000" dirty="0">
                <a:solidFill>
                  <a:schemeClr val="accent5"/>
                </a:solidFill>
              </a:rPr>
              <a:t>Source : Insee (juillet 2025), chiffres cités par L'Essentiel de l'Éco (08/07/2025)</a:t>
            </a:r>
            <a:endParaRPr lang="en-US" sz="10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Étiquette"/>
          <p:cNvSpPr txBox="1"/>
          <p:nvPr/>
        </p:nvSpPr>
        <p:spPr>
          <a:xfrm>
            <a:off x="548640" y="256032"/>
            <a:ext cx="2770632" cy="310896"/>
          </a:xfrm>
          <a:prstGeom prst="roundRect">
            <a:avLst>
              <a:gd name="adj" fmla="val 50000"/>
            </a:avLst>
          </a:prstGeom>
          <a:solidFill>
            <a:schemeClr val="accent1"/>
          </a:solidFill>
          <a:ln/>
        </p:spPr>
        <p:txBody>
          <a:bodyPr wrap="square" lIns="0" tIns="0" rIns="0" bIns="0" rtlCol="0" anchor="ctr"/>
          <a:lstStyle/>
          <a:p>
            <a:pPr algn="ctr" indent="0" marL="0">
              <a:buNone/>
            </a:pPr>
            <a:r>
              <a:rPr lang="en-US" sz="1200" b="1" spc="100" kern="0" dirty="0">
                <a:solidFill>
                  <a:schemeClr val="bg1"/>
                </a:solidFill>
              </a:rPr>
              <a:t>POINT DE VUE 1 · GAUCHE</a:t>
            </a:r>
            <a:endParaRPr lang="en-US" sz="1200" dirty="0"/>
          </a:p>
        </p:txBody>
      </p:sp>
      <p:sp>
        <p:nvSpPr>
          <p:cNvPr id="3" name="Text 0"/>
          <p:cNvSpPr/>
          <p:nvPr>
            <p:ph idx="100" type="title" hasCustomPrompt="1"/>
          </p:nvPr>
        </p:nvSpPr>
        <p:spPr>
          <a:xfrm>
            <a:off x="548640" y="658368"/>
            <a:ext cx="11064240" cy="73152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 Le résultat de choix politiques »</a:t>
            </a:r>
            <a:endParaRPr lang="en-US" sz="3400" dirty="0"/>
          </a:p>
        </p:txBody>
      </p:sp>
      <p:sp>
        <p:nvSpPr>
          <p:cNvPr id="4" name="Auteur"/>
          <p:cNvSpPr txBox="1"/>
          <p:nvPr/>
        </p:nvSpPr>
        <p:spPr>
          <a:xfrm>
            <a:off x="548640" y="1572768"/>
            <a:ext cx="11064240" cy="329184"/>
          </a:xfrm>
          <a:prstGeom prst="rect">
            <a:avLst/>
          </a:prstGeom>
          <a:noFill/>
          <a:ln/>
        </p:spPr>
        <p:txBody>
          <a:bodyPr wrap="square" lIns="0" tIns="0" rIns="0" bIns="0" rtlCol="0" anchor="ctr"/>
          <a:lstStyle/>
          <a:p>
            <a:pPr indent="0" marL="0">
              <a:buNone/>
            </a:pPr>
            <a:r>
              <a:rPr lang="en-US" sz="1500" i="1" dirty="0">
                <a:solidFill>
                  <a:schemeClr val="accent5"/>
                </a:solidFill>
              </a:rPr>
              <a:t>Paul Crauchet, L'Essentiel de l'Éco, 8 juillet 2025</a:t>
            </a:r>
            <a:endParaRPr lang="en-US" sz="1500" dirty="0"/>
          </a:p>
        </p:txBody>
      </p:sp>
      <p:sp>
        <p:nvSpPr>
          <p:cNvPr id="5" name="Text 3"/>
          <p:cNvSpPr txBox="1"/>
          <p:nvPr/>
        </p:nvSpPr>
        <p:spPr>
          <a:xfrm>
            <a:off x="548640" y="2103120"/>
            <a:ext cx="5120640" cy="3931920"/>
          </a:xfrm>
          <a:prstGeom prst="rect">
            <a:avLst/>
          </a:prstGeom>
          <a:noFill/>
          <a:ln/>
        </p:spPr>
        <p:txBody>
          <a:bodyPr wrap="square" lIns="0" tIns="0" rIns="0" bIns="0" rtlCol="0" anchor="t"/>
          <a:lstStyle/>
          <a:p>
            <a:pPr marL="228600" indent="-228600">
              <a:spcAft>
                <a:spcPts val="1000"/>
              </a:spcAft>
              <a:buSzPct val="100000"/>
              <a:buChar char="•"/>
            </a:pPr>
            <a:r>
              <a:rPr lang="en-US" sz="1700" b="1" dirty="0">
                <a:solidFill>
                  <a:schemeClr val="tx1"/>
                </a:solidFill>
              </a:rPr>
              <a:t>Depuis 2017 : </a:t>
            </a:r>
            <a:pPr indent="0" marL="0">
              <a:buNone/>
            </a:pPr>
            <a:r>
              <a:rPr lang="en-US" sz="1700" dirty="0">
                <a:solidFill>
                  <a:schemeClr val="tx1"/>
                </a:solidFill>
              </a:rPr>
              <a:t>13,8 % → 15,4 %, soit 1,2 million de pauvres en plus</a:t>
            </a:r>
            <a:endParaRPr lang="en-US" sz="1700" dirty="0"/>
          </a:p>
          <a:p>
            <a:pPr marL="228600" indent="-228600">
              <a:spcAft>
                <a:spcPts val="1000"/>
              </a:spcAft>
              <a:buSzPct val="100000"/>
              <a:buChar char="•"/>
            </a:pPr>
            <a:r>
              <a:rPr lang="en-US" sz="1700" b="1" dirty="0">
                <a:solidFill>
                  <a:schemeClr val="tx1"/>
                </a:solidFill>
              </a:rPr>
              <a:t>Aides anti-inflation </a:t>
            </a:r>
            <a:pPr indent="0" marL="0">
              <a:buNone/>
            </a:pPr>
            <a:r>
              <a:rPr lang="en-US" sz="1700" dirty="0">
                <a:solidFill>
                  <a:schemeClr val="tx1"/>
                </a:solidFill>
              </a:rPr>
              <a:t>de 2022 non reconduites</a:t>
            </a:r>
            <a:endParaRPr lang="en-US" sz="1700" dirty="0"/>
          </a:p>
          <a:p>
            <a:pPr marL="228600" indent="-228600">
              <a:spcAft>
                <a:spcPts val="1000"/>
              </a:spcAft>
              <a:buSzPct val="100000"/>
              <a:buChar char="•"/>
            </a:pPr>
            <a:r>
              <a:rPr lang="en-US" sz="1700" b="1" dirty="0">
                <a:solidFill>
                  <a:schemeClr val="tx1"/>
                </a:solidFill>
              </a:rPr>
              <a:t>Aides au logement </a:t>
            </a:r>
            <a:pPr indent="0" marL="0">
              <a:buNone/>
            </a:pPr>
            <a:r>
              <a:rPr lang="en-US" sz="1700" dirty="0">
                <a:solidFill>
                  <a:schemeClr val="tx1"/>
                </a:solidFill>
              </a:rPr>
              <a:t>revalorisées moins vite que les prix</a:t>
            </a:r>
            <a:endParaRPr lang="en-US" sz="1700" dirty="0"/>
          </a:p>
          <a:p>
            <a:pPr marL="228600" indent="-228600">
              <a:spcAft>
                <a:spcPts val="1000"/>
              </a:spcAft>
              <a:buSzPct val="100000"/>
              <a:buChar char="•"/>
            </a:pPr>
            <a:r>
              <a:rPr lang="en-US" sz="1700" b="1" dirty="0">
                <a:solidFill>
                  <a:schemeClr val="tx1"/>
                </a:solidFill>
              </a:rPr>
              <a:t>Conclusion : </a:t>
            </a:r>
            <a:pPr indent="0" marL="0">
              <a:buNone/>
            </a:pPr>
            <a:r>
              <a:rPr lang="en-US" sz="1700" dirty="0">
                <a:solidFill>
                  <a:schemeClr val="tx1"/>
                </a:solidFill>
              </a:rPr>
              <a:t>un « projet » politique, pas un accident</a:t>
            </a:r>
            <a:endParaRPr lang="en-US" sz="1700" dirty="0"/>
          </a:p>
        </p:txBody>
      </p:sp>
      <p:sp>
        <p:nvSpPr>
          <p:cNvPr id="6" name="Carte Gini"/>
          <p:cNvSpPr/>
          <p:nvPr/>
        </p:nvSpPr>
        <p:spPr>
          <a:xfrm>
            <a:off x="6126480" y="1600200"/>
            <a:ext cx="5486400" cy="2148840"/>
          </a:xfrm>
          <a:prstGeom prst="roundRect">
            <a:avLst>
              <a:gd name="adj" fmla="val 3404"/>
            </a:avLst>
          </a:prstGeom>
          <a:solidFill>
            <a:schemeClr val="bg2"/>
          </a:solidFill>
          <a:ln w="12700">
            <a:solidFill>
              <a:schemeClr val="bg2"/>
            </a:solidFill>
            <a:prstDash val="solid"/>
          </a:ln>
        </p:spPr>
      </p:sp>
      <p:sp>
        <p:nvSpPr>
          <p:cNvPr id="7" name="Text 5"/>
          <p:cNvSpPr txBox="1"/>
          <p:nvPr/>
        </p:nvSpPr>
        <p:spPr>
          <a:xfrm>
            <a:off x="6400800" y="1755648"/>
            <a:ext cx="5029200" cy="365760"/>
          </a:xfrm>
          <a:prstGeom prst="rect">
            <a:avLst/>
          </a:prstGeom>
          <a:noFill/>
          <a:ln/>
        </p:spPr>
        <p:txBody>
          <a:bodyPr wrap="square" lIns="0" tIns="0" rIns="0" bIns="0" rtlCol="0" anchor="ctr"/>
          <a:lstStyle/>
          <a:p>
            <a:pPr indent="0" marL="0">
              <a:buNone/>
            </a:pPr>
            <a:r>
              <a:rPr lang="en-US" sz="1600" b="1" dirty="0">
                <a:solidFill>
                  <a:schemeClr val="tx2"/>
                </a:solidFill>
              </a:rPr>
              <a:t>Les inégalités se creusent : indice de Gini</a:t>
            </a:r>
            <a:endParaRPr lang="en-US" sz="1600" dirty="0"/>
          </a:p>
        </p:txBody>
      </p:sp>
      <p:sp>
        <p:nvSpPr>
          <p:cNvPr id="8" name="Shape 6"/>
          <p:cNvSpPr/>
          <p:nvPr/>
        </p:nvSpPr>
        <p:spPr>
          <a:xfrm>
            <a:off x="6492240" y="2990088"/>
            <a:ext cx="4754880" cy="54864"/>
          </a:xfrm>
          <a:prstGeom prst="rect">
            <a:avLst/>
          </a:prstGeom>
          <a:solidFill>
            <a:schemeClr val="accent4"/>
          </a:solidFill>
          <a:ln w="12700">
            <a:solidFill>
              <a:schemeClr val="accent4"/>
            </a:solidFill>
            <a:prstDash val="solid"/>
          </a:ln>
        </p:spPr>
      </p:sp>
      <p:sp>
        <p:nvSpPr>
          <p:cNvPr id="9" name="Shape 7"/>
          <p:cNvSpPr/>
          <p:nvPr/>
        </p:nvSpPr>
        <p:spPr>
          <a:xfrm>
            <a:off x="8762565" y="3017520"/>
            <a:ext cx="757646" cy="0"/>
          </a:xfrm>
          <a:prstGeom prst="line">
            <a:avLst/>
          </a:prstGeom>
          <a:noFill/>
          <a:ln w="38100">
            <a:solidFill>
              <a:schemeClr val="accent2"/>
            </a:solidFill>
            <a:prstDash val="solid"/>
            <a:tailEnd type="triangle"/>
          </a:ln>
        </p:spPr>
      </p:sp>
      <p:sp>
        <p:nvSpPr>
          <p:cNvPr id="10" name="Shape 8"/>
          <p:cNvSpPr/>
          <p:nvPr/>
        </p:nvSpPr>
        <p:spPr>
          <a:xfrm>
            <a:off x="8442525" y="2862072"/>
            <a:ext cx="310896" cy="310896"/>
          </a:xfrm>
          <a:prstGeom prst="ellipse">
            <a:avLst/>
          </a:prstGeom>
          <a:solidFill>
            <a:schemeClr val="accent1"/>
          </a:solidFill>
          <a:ln w="25400">
            <a:solidFill>
              <a:schemeClr val="bg1"/>
            </a:solidFill>
            <a:prstDash val="solid"/>
          </a:ln>
        </p:spPr>
      </p:sp>
      <p:sp>
        <p:nvSpPr>
          <p:cNvPr id="11" name="Text 9"/>
          <p:cNvSpPr txBox="1"/>
          <p:nvPr/>
        </p:nvSpPr>
        <p:spPr>
          <a:xfrm>
            <a:off x="6586293" y="2331720"/>
            <a:ext cx="2194560" cy="411480"/>
          </a:xfrm>
          <a:prstGeom prst="rect">
            <a:avLst/>
          </a:prstGeom>
          <a:noFill/>
          <a:ln/>
        </p:spPr>
        <p:txBody>
          <a:bodyPr wrap="square" lIns="0" tIns="0" rIns="0" bIns="0" rtlCol="0" anchor="ctr"/>
          <a:lstStyle/>
          <a:p>
            <a:pPr algn="r" indent="0" marL="0">
              <a:buNone/>
            </a:pPr>
            <a:r>
              <a:rPr lang="en-US" sz="1800" b="1" dirty="0">
                <a:solidFill>
                  <a:schemeClr val="tx1"/>
                </a:solidFill>
              </a:rPr>
              <a:t>2017 · 0,281</a:t>
            </a:r>
            <a:endParaRPr lang="en-US" sz="1800" dirty="0"/>
          </a:p>
        </p:txBody>
      </p:sp>
      <p:sp>
        <p:nvSpPr>
          <p:cNvPr id="12" name="Shape 10"/>
          <p:cNvSpPr/>
          <p:nvPr/>
        </p:nvSpPr>
        <p:spPr>
          <a:xfrm>
            <a:off x="9529354" y="2862072"/>
            <a:ext cx="310896" cy="310896"/>
          </a:xfrm>
          <a:prstGeom prst="ellipse">
            <a:avLst/>
          </a:prstGeom>
          <a:solidFill>
            <a:schemeClr val="accent2"/>
          </a:solidFill>
          <a:ln w="25400">
            <a:solidFill>
              <a:schemeClr val="bg1"/>
            </a:solidFill>
            <a:prstDash val="solid"/>
          </a:ln>
        </p:spPr>
      </p:sp>
      <p:sp>
        <p:nvSpPr>
          <p:cNvPr id="13" name="Text 11"/>
          <p:cNvSpPr txBox="1"/>
          <p:nvPr/>
        </p:nvSpPr>
        <p:spPr>
          <a:xfrm>
            <a:off x="9501922" y="2331720"/>
            <a:ext cx="2194560" cy="411480"/>
          </a:xfrm>
          <a:prstGeom prst="rect">
            <a:avLst/>
          </a:prstGeom>
          <a:noFill/>
          <a:ln/>
        </p:spPr>
        <p:txBody>
          <a:bodyPr wrap="square" lIns="0" tIns="0" rIns="0" bIns="0" rtlCol="0" anchor="ctr"/>
          <a:lstStyle/>
          <a:p>
            <a:pPr algn="l" indent="0" marL="0">
              <a:buNone/>
            </a:pPr>
            <a:r>
              <a:rPr lang="en-US" sz="1800" b="1" dirty="0">
                <a:solidFill>
                  <a:schemeClr val="tx1"/>
                </a:solidFill>
              </a:rPr>
              <a:t>2023 · 0,297</a:t>
            </a:r>
            <a:endParaRPr lang="en-US" sz="1800" dirty="0"/>
          </a:p>
        </p:txBody>
      </p:sp>
      <p:sp>
        <p:nvSpPr>
          <p:cNvPr id="14" name="Text 12"/>
          <p:cNvSpPr txBox="1"/>
          <p:nvPr/>
        </p:nvSpPr>
        <p:spPr>
          <a:xfrm>
            <a:off x="6400800" y="3310128"/>
            <a:ext cx="5029200" cy="274320"/>
          </a:xfrm>
          <a:prstGeom prst="rect">
            <a:avLst/>
          </a:prstGeom>
          <a:noFill/>
          <a:ln/>
        </p:spPr>
        <p:txBody>
          <a:bodyPr wrap="square" lIns="0" tIns="0" rIns="0" bIns="0" rtlCol="0" anchor="ctr"/>
          <a:lstStyle/>
          <a:p>
            <a:pPr indent="0" marL="0">
              <a:buNone/>
            </a:pPr>
            <a:r>
              <a:rPr lang="en-US" sz="1200" dirty="0">
                <a:solidFill>
                  <a:schemeClr val="accent5"/>
                </a:solidFill>
              </a:rPr>
              <a:t>0 = égalité parfaite, 1 = une seule personne a tout (échelle zoomée)</a:t>
            </a:r>
            <a:endParaRPr lang="en-US" sz="1200" dirty="0"/>
          </a:p>
        </p:txBody>
      </p:sp>
      <p:sp>
        <p:nvSpPr>
          <p:cNvPr id="15" name="Carte sous-estimation"/>
          <p:cNvSpPr/>
          <p:nvPr/>
        </p:nvSpPr>
        <p:spPr>
          <a:xfrm>
            <a:off x="6126480" y="3977640"/>
            <a:ext cx="5486400" cy="2148840"/>
          </a:xfrm>
          <a:prstGeom prst="roundRect">
            <a:avLst>
              <a:gd name="adj" fmla="val 3404"/>
            </a:avLst>
          </a:prstGeom>
          <a:solidFill>
            <a:schemeClr val="bg2"/>
          </a:solidFill>
          <a:ln w="12700">
            <a:solidFill>
              <a:schemeClr val="bg2"/>
            </a:solidFill>
            <a:prstDash val="solid"/>
          </a:ln>
        </p:spPr>
      </p:sp>
      <p:sp>
        <p:nvSpPr>
          <p:cNvPr id="16" name="Text 14"/>
          <p:cNvSpPr txBox="1"/>
          <p:nvPr/>
        </p:nvSpPr>
        <p:spPr>
          <a:xfrm>
            <a:off x="6400800" y="4133088"/>
            <a:ext cx="5029200" cy="365760"/>
          </a:xfrm>
          <a:prstGeom prst="rect">
            <a:avLst/>
          </a:prstGeom>
          <a:noFill/>
          <a:ln/>
        </p:spPr>
        <p:txBody>
          <a:bodyPr wrap="square" lIns="0" tIns="0" rIns="0" bIns="0" rtlCol="0" anchor="ctr"/>
          <a:lstStyle/>
          <a:p>
            <a:pPr indent="0" marL="0">
              <a:buNone/>
            </a:pPr>
            <a:r>
              <a:rPr lang="en-US" sz="1600" b="1" dirty="0">
                <a:solidFill>
                  <a:schemeClr val="tx2"/>
                </a:solidFill>
              </a:rPr>
              <a:t>Un chiffre officiel sous-estimé ?</a:t>
            </a:r>
            <a:endParaRPr lang="en-US" sz="1600" dirty="0"/>
          </a:p>
        </p:txBody>
      </p:sp>
      <p:sp>
        <p:nvSpPr>
          <p:cNvPr id="17" name="Text 15"/>
          <p:cNvSpPr txBox="1"/>
          <p:nvPr/>
        </p:nvSpPr>
        <p:spPr>
          <a:xfrm>
            <a:off x="6400800" y="4663440"/>
            <a:ext cx="3211068" cy="548640"/>
          </a:xfrm>
          <a:prstGeom prst="rect">
            <a:avLst/>
          </a:prstGeom>
          <a:solidFill>
            <a:schemeClr val="accent1"/>
          </a:solidFill>
          <a:ln/>
        </p:spPr>
        <p:txBody>
          <a:bodyPr wrap="square" lIns="0" tIns="0" rIns="0" bIns="0" rtlCol="0" anchor="ctr"/>
          <a:lstStyle/>
          <a:p>
            <a:pPr algn="ctr" indent="0" marL="0">
              <a:buNone/>
            </a:pPr>
            <a:r>
              <a:rPr lang="en-US" sz="1500" b="1" dirty="0">
                <a:solidFill>
                  <a:schemeClr val="bg1"/>
                </a:solidFill>
              </a:rPr>
              <a:t>9,8 M comptés</a:t>
            </a:r>
            <a:endParaRPr lang="en-US" sz="1500" dirty="0"/>
          </a:p>
        </p:txBody>
      </p:sp>
      <p:sp>
        <p:nvSpPr>
          <p:cNvPr id="18" name="Text 16"/>
          <p:cNvSpPr txBox="1"/>
          <p:nvPr/>
        </p:nvSpPr>
        <p:spPr>
          <a:xfrm>
            <a:off x="9639300" y="4663440"/>
            <a:ext cx="688086" cy="548640"/>
          </a:xfrm>
          <a:prstGeom prst="rect">
            <a:avLst/>
          </a:prstGeom>
          <a:solidFill>
            <a:schemeClr val="accent2"/>
          </a:solidFill>
          <a:ln/>
        </p:spPr>
        <p:txBody>
          <a:bodyPr wrap="square" lIns="0" tIns="0" rIns="0" bIns="0" rtlCol="0" anchor="ctr"/>
          <a:lstStyle/>
          <a:p>
            <a:pPr algn="ctr" indent="0" marL="0">
              <a:buNone/>
            </a:pPr>
            <a:r>
              <a:rPr lang="en-US" sz="1400" b="1" dirty="0">
                <a:solidFill>
                  <a:schemeClr val="bg1"/>
                </a:solidFill>
              </a:rPr>
              <a:t>+ 2,1</a:t>
            </a:r>
            <a:endParaRPr lang="en-US" sz="1400" dirty="0"/>
          </a:p>
        </p:txBody>
      </p:sp>
      <p:sp>
        <p:nvSpPr>
          <p:cNvPr id="19" name="Text 17"/>
          <p:cNvSpPr txBox="1"/>
          <p:nvPr/>
        </p:nvSpPr>
        <p:spPr>
          <a:xfrm>
            <a:off x="10469880" y="4663440"/>
            <a:ext cx="1005840" cy="548640"/>
          </a:xfrm>
          <a:prstGeom prst="rect">
            <a:avLst/>
          </a:prstGeom>
          <a:noFill/>
          <a:ln/>
        </p:spPr>
        <p:txBody>
          <a:bodyPr wrap="square" lIns="0" tIns="0" rIns="0" bIns="0" rtlCol="0" anchor="ctr"/>
          <a:lstStyle/>
          <a:p>
            <a:pPr indent="0" marL="0">
              <a:buNone/>
            </a:pPr>
            <a:r>
              <a:rPr lang="en-US" sz="2000" b="1" dirty="0">
                <a:solidFill>
                  <a:schemeClr val="tx1"/>
                </a:solidFill>
              </a:rPr>
              <a:t>≈ 12 M</a:t>
            </a:r>
            <a:endParaRPr lang="en-US" sz="2000" dirty="0"/>
          </a:p>
        </p:txBody>
      </p:sp>
      <p:sp>
        <p:nvSpPr>
          <p:cNvPr id="20" name="Text 18"/>
          <p:cNvSpPr txBox="1"/>
          <p:nvPr/>
        </p:nvSpPr>
        <p:spPr>
          <a:xfrm>
            <a:off x="6400800" y="5394960"/>
            <a:ext cx="5029200" cy="502920"/>
          </a:xfrm>
          <a:prstGeom prst="rect">
            <a:avLst/>
          </a:prstGeom>
          <a:noFill/>
          <a:ln/>
        </p:spPr>
        <p:txBody>
          <a:bodyPr wrap="square" lIns="0" tIns="0" rIns="0" bIns="0" rtlCol="0" anchor="t"/>
          <a:lstStyle/>
          <a:p>
            <a:pPr indent="0" marL="0">
              <a:buNone/>
            </a:pPr>
            <a:r>
              <a:rPr lang="en-US" sz="1300" dirty="0">
                <a:solidFill>
                  <a:schemeClr val="accent5"/>
                </a:solidFill>
              </a:rPr>
              <a:t>Non comptés : sans-abri, foyers, étudiants précaires, outre-mer</a:t>
            </a:r>
            <a:endParaRPr lang="en-US" sz="1300" dirty="0"/>
          </a:p>
        </p:txBody>
      </p:sp>
      <p:sp>
        <p:nvSpPr>
          <p:cNvPr id="21" name="Source"/>
          <p:cNvSpPr txBox="1"/>
          <p:nvPr/>
        </p:nvSpPr>
        <p:spPr>
          <a:xfrm>
            <a:off x="548640" y="6355080"/>
            <a:ext cx="10424160" cy="274320"/>
          </a:xfrm>
          <a:prstGeom prst="rect">
            <a:avLst/>
          </a:prstGeom>
          <a:noFill/>
          <a:ln/>
        </p:spPr>
        <p:txBody>
          <a:bodyPr wrap="square" lIns="0" tIns="0" rIns="0" bIns="0" rtlCol="0" anchor="ctr"/>
          <a:lstStyle/>
          <a:p>
            <a:pPr indent="0" marL="0">
              <a:buNone/>
            </a:pPr>
            <a:r>
              <a:rPr lang="en-US" sz="1000" dirty="0">
                <a:solidFill>
                  <a:schemeClr val="accent5"/>
                </a:solidFill>
              </a:rPr>
              <a:t>Source : Paul Crauchet, L'Essentiel de l'Éco, 08/07/2025 ; Insee (Gini). Les 2,1 M hors champ : estimation Insee pour 2021.</a:t>
            </a:r>
            <a:endParaRPr lang="en-US" sz="10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Étiquette"/>
          <p:cNvSpPr txBox="1"/>
          <p:nvPr/>
        </p:nvSpPr>
        <p:spPr>
          <a:xfrm>
            <a:off x="548640" y="256032"/>
            <a:ext cx="2871216" cy="310896"/>
          </a:xfrm>
          <a:prstGeom prst="roundRect">
            <a:avLst>
              <a:gd name="adj" fmla="val 50000"/>
            </a:avLst>
          </a:prstGeom>
          <a:solidFill>
            <a:schemeClr val="accent2"/>
          </a:solidFill>
          <a:ln/>
        </p:spPr>
        <p:txBody>
          <a:bodyPr wrap="square" lIns="0" tIns="0" rIns="0" bIns="0" rtlCol="0" anchor="ctr"/>
          <a:lstStyle/>
          <a:p>
            <a:pPr algn="ctr" indent="0" marL="0">
              <a:buNone/>
            </a:pPr>
            <a:r>
              <a:rPr lang="en-US" sz="1200" b="1" spc="100" kern="0" dirty="0">
                <a:solidFill>
                  <a:schemeClr val="bg1"/>
                </a:solidFill>
              </a:rPr>
              <a:t>POINT DE VUE 2 · LIBÉRAL</a:t>
            </a:r>
            <a:endParaRPr lang="en-US" sz="1200" dirty="0"/>
          </a:p>
        </p:txBody>
      </p:sp>
      <p:sp>
        <p:nvSpPr>
          <p:cNvPr id="3" name="Text 0"/>
          <p:cNvSpPr/>
          <p:nvPr>
            <p:ph idx="100" type="title" hasCustomPrompt="1"/>
          </p:nvPr>
        </p:nvSpPr>
        <p:spPr>
          <a:xfrm>
            <a:off x="548640" y="658368"/>
            <a:ext cx="11064240" cy="73152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 La pauvreté relative est trompeuse »</a:t>
            </a:r>
            <a:endParaRPr lang="en-US" sz="3400" dirty="0"/>
          </a:p>
        </p:txBody>
      </p:sp>
      <p:sp>
        <p:nvSpPr>
          <p:cNvPr id="4" name="Auteur"/>
          <p:cNvSpPr txBox="1"/>
          <p:nvPr/>
        </p:nvSpPr>
        <p:spPr>
          <a:xfrm>
            <a:off x="548640" y="1572768"/>
            <a:ext cx="11064240" cy="329184"/>
          </a:xfrm>
          <a:prstGeom prst="rect">
            <a:avLst/>
          </a:prstGeom>
          <a:noFill/>
          <a:ln/>
        </p:spPr>
        <p:txBody>
          <a:bodyPr wrap="square" lIns="0" tIns="0" rIns="0" bIns="0" rtlCol="0" anchor="ctr"/>
          <a:lstStyle/>
          <a:p>
            <a:pPr indent="0" marL="0">
              <a:buNone/>
            </a:pPr>
            <a:r>
              <a:rPr lang="en-US" sz="1500" i="1" dirty="0">
                <a:solidFill>
                  <a:schemeClr val="accent5"/>
                </a:solidFill>
              </a:rPr>
              <a:t>Élodie Messéant, IREF (repris de L'Opinion), 26 août 2025</a:t>
            </a:r>
            <a:endParaRPr lang="en-US" sz="1500" dirty="0"/>
          </a:p>
        </p:txBody>
      </p:sp>
      <p:sp>
        <p:nvSpPr>
          <p:cNvPr id="5" name="Text 3"/>
          <p:cNvSpPr txBox="1"/>
          <p:nvPr/>
        </p:nvSpPr>
        <p:spPr>
          <a:xfrm>
            <a:off x="548640" y="2103120"/>
            <a:ext cx="4937760" cy="3931920"/>
          </a:xfrm>
          <a:prstGeom prst="rect">
            <a:avLst/>
          </a:prstGeom>
          <a:noFill/>
          <a:ln/>
        </p:spPr>
        <p:txBody>
          <a:bodyPr wrap="square" lIns="0" tIns="0" rIns="0" bIns="0" rtlCol="0" anchor="t"/>
          <a:lstStyle/>
          <a:p>
            <a:pPr marL="228600" indent="-228600">
              <a:spcAft>
                <a:spcPts val="1000"/>
              </a:spcAft>
              <a:buSzPct val="100000"/>
              <a:buChar char="•"/>
            </a:pPr>
            <a:r>
              <a:rPr lang="en-US" sz="1700" b="1" dirty="0">
                <a:solidFill>
                  <a:schemeClr val="tx1"/>
                </a:solidFill>
              </a:rPr>
              <a:t>Le seuil suit le revenu médian : </a:t>
            </a:r>
            <a:pPr indent="0" marL="0">
              <a:buNone/>
            </a:pPr>
            <a:r>
              <a:rPr lang="en-US" sz="1700" dirty="0">
                <a:solidFill>
                  <a:schemeClr val="tx1"/>
                </a:solidFill>
              </a:rPr>
              <a:t>si tout le monde s'enrichit, le seuil monte aussi</a:t>
            </a:r>
            <a:endParaRPr lang="en-US" sz="1700" dirty="0"/>
          </a:p>
          <a:p>
            <a:pPr marL="228600" indent="-228600">
              <a:spcAft>
                <a:spcPts val="1000"/>
              </a:spcAft>
              <a:buSzPct val="100000"/>
              <a:buChar char="•"/>
            </a:pPr>
            <a:r>
              <a:rPr lang="en-US" sz="1700" b="1" dirty="0">
                <a:solidFill>
                  <a:schemeClr val="tx1"/>
                </a:solidFill>
              </a:rPr>
              <a:t>Un pauvre d'aujourd'hui </a:t>
            </a:r>
            <a:pPr indent="0" marL="0">
              <a:buNone/>
            </a:pPr>
            <a:r>
              <a:rPr lang="en-US" sz="1700" dirty="0">
                <a:solidFill>
                  <a:schemeClr val="tx1"/>
                </a:solidFill>
              </a:rPr>
              <a:t>vit bien mieux qu'un pauvre d'il y a deux siècles</a:t>
            </a:r>
            <a:endParaRPr lang="en-US" sz="1700" dirty="0"/>
          </a:p>
          <a:p>
            <a:pPr marL="228600" indent="-228600">
              <a:spcAft>
                <a:spcPts val="1000"/>
              </a:spcAft>
              <a:buSzPct val="100000"/>
              <a:buChar char="•"/>
            </a:pPr>
            <a:r>
              <a:rPr lang="en-US" sz="1700" b="1" dirty="0">
                <a:solidFill>
                  <a:schemeClr val="tx1"/>
                </a:solidFill>
              </a:rPr>
              <a:t>Le bon indicateur : </a:t>
            </a:r>
            <a:pPr indent="0" marL="0">
              <a:buNone/>
            </a:pPr>
            <a:r>
              <a:rPr lang="en-US" sz="1700" dirty="0">
                <a:solidFill>
                  <a:schemeClr val="tx1"/>
                </a:solidFill>
              </a:rPr>
              <a:t>la pauvreté extrême, qui recule fortement grâce à la liberté économique et à la mondialisation</a:t>
            </a:r>
            <a:endParaRPr lang="en-US" sz="1700" dirty="0"/>
          </a:p>
          <a:p>
            <a:pPr marL="228600" indent="-228600">
              <a:spcAft>
                <a:spcPts val="1000"/>
              </a:spcAft>
              <a:buSzPct val="100000"/>
              <a:buChar char="•"/>
            </a:pPr>
            <a:r>
              <a:rPr lang="en-US" sz="1700" b="1" dirty="0">
                <a:solidFill>
                  <a:schemeClr val="tx1"/>
                </a:solidFill>
              </a:rPr>
              <a:t>Conclusion : </a:t>
            </a:r>
            <a:pPr indent="0" marL="0">
              <a:buNone/>
            </a:pPr>
            <a:r>
              <a:rPr lang="en-US" sz="1700" dirty="0">
                <a:solidFill>
                  <a:schemeClr val="tx1"/>
                </a:solidFill>
              </a:rPr>
              <a:t>le chiffre mesure surtout les inégalités, pas la misère</a:t>
            </a:r>
            <a:endParaRPr lang="en-US" sz="1700" dirty="0"/>
          </a:p>
        </p:txBody>
      </p:sp>
      <p:graphicFrame>
        <p:nvGraphicFramePr>
          <p:cNvPr id="6" name="Graphique pauvreté extrême" descr=""/>
          <p:cNvGraphicFramePr/>
          <p:nvPr/>
        </p:nvGraphicFramePr>
        <p:xfrm>
          <a:off x="5852160" y="1600200"/>
          <a:ext cx="5760720" cy="4526280"/>
        </p:xfrm>
        <a:graphic xmlns:a="http://schemas.openxmlformats.org/drawingml/2006/main">
          <a:graphicData uri="http://schemas.openxmlformats.org/drawingml/2006/chart">
            <c:chart xmlns:c="http://schemas.openxmlformats.org/drawingml/2006/chart" r:id="rId1"/>
          </a:graphicData>
        </a:graphic>
      </p:graphicFrame>
      <p:sp>
        <p:nvSpPr>
          <p:cNvPr id="7" name="Source"/>
          <p:cNvSpPr txBox="1"/>
          <p:nvPr/>
        </p:nvSpPr>
        <p:spPr>
          <a:xfrm>
            <a:off x="548640" y="6355080"/>
            <a:ext cx="10424160" cy="274320"/>
          </a:xfrm>
          <a:prstGeom prst="rect">
            <a:avLst/>
          </a:prstGeom>
          <a:noFill/>
          <a:ln/>
        </p:spPr>
        <p:txBody>
          <a:bodyPr wrap="square" lIns="0" tIns="0" rIns="0" bIns="0" rtlCol="0" anchor="ctr"/>
          <a:lstStyle/>
          <a:p>
            <a:pPr indent="0" marL="0">
              <a:buNone/>
            </a:pPr>
            <a:r>
              <a:rPr lang="en-US" sz="1000" dirty="0">
                <a:solidFill>
                  <a:schemeClr val="accent5"/>
                </a:solidFill>
              </a:rPr>
              <a:t>Source : IREF (26/08/2025) ; graphique : Banque mondiale, Poverty and Shared Prosperity 2018 (seuil de 1,90 $ par jour)</a:t>
            </a:r>
            <a:endParaRPr lang="en-US" sz="10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Étiquette"/>
          <p:cNvSpPr txBox="1"/>
          <p:nvPr/>
        </p:nvSpPr>
        <p:spPr>
          <a:xfrm>
            <a:off x="548640" y="256032"/>
            <a:ext cx="2871216" cy="310896"/>
          </a:xfrm>
          <a:prstGeom prst="roundRect">
            <a:avLst>
              <a:gd name="adj" fmla="val 50000"/>
            </a:avLst>
          </a:prstGeom>
          <a:solidFill>
            <a:schemeClr val="accent2"/>
          </a:solidFill>
          <a:ln/>
        </p:spPr>
        <p:txBody>
          <a:bodyPr wrap="square" lIns="0" tIns="0" rIns="0" bIns="0" rtlCol="0" anchor="ctr"/>
          <a:lstStyle/>
          <a:p>
            <a:pPr algn="ctr" indent="0" marL="0">
              <a:buNone/>
            </a:pPr>
            <a:r>
              <a:rPr lang="en-US" sz="1200" b="1" spc="100" kern="0" dirty="0">
                <a:solidFill>
                  <a:schemeClr val="bg1"/>
                </a:solidFill>
              </a:rPr>
              <a:t>POINT DE VUE 2 · LIBÉRAL</a:t>
            </a:r>
            <a:endParaRPr lang="en-US" sz="1200" dirty="0"/>
          </a:p>
        </p:txBody>
      </p:sp>
      <p:sp>
        <p:nvSpPr>
          <p:cNvPr id="3" name="Text 0"/>
          <p:cNvSpPr/>
          <p:nvPr>
            <p:ph idx="100" type="title" hasCustomPrompt="1"/>
          </p:nvPr>
        </p:nvSpPr>
        <p:spPr>
          <a:xfrm>
            <a:off x="548640" y="658368"/>
            <a:ext cx="11064240" cy="73152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 La France redistribue déjà énormément »</a:t>
            </a:r>
            <a:endParaRPr lang="en-US" sz="3400" dirty="0"/>
          </a:p>
        </p:txBody>
      </p:sp>
      <p:graphicFrame>
        <p:nvGraphicFramePr>
          <p:cNvPr id="4" name="Graphique redistribution" descr=""/>
          <p:cNvGraphicFramePr/>
          <p:nvPr/>
        </p:nvGraphicFramePr>
        <p:xfrm>
          <a:off x="548640" y="1600200"/>
          <a:ext cx="5760720" cy="452628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6766560" y="1645920"/>
            <a:ext cx="4846320" cy="868680"/>
          </a:xfrm>
          <a:prstGeom prst="rect">
            <a:avLst/>
          </a:prstGeom>
          <a:noFill/>
          <a:ln/>
        </p:spPr>
        <p:txBody>
          <a:bodyPr wrap="square" lIns="0" tIns="0" rIns="0" bIns="0" rtlCol="0" anchor="b"/>
          <a:lstStyle/>
          <a:p>
            <a:pPr indent="0" marL="0">
              <a:buNone/>
            </a:pPr>
            <a:r>
              <a:rPr lang="en-US" sz="5400" b="1" dirty="0">
                <a:solidFill>
                  <a:schemeClr val="accent2"/>
                </a:solidFill>
                <a:latin typeface="Cambria" pitchFamily="34" charset="0"/>
                <a:ea typeface="Cambria" pitchFamily="34" charset="-122"/>
                <a:cs typeface="Cambria" pitchFamily="34" charset="-120"/>
              </a:rPr>
              <a:t>45,6 %</a:t>
            </a:r>
            <a:endParaRPr lang="en-US" sz="5400" dirty="0"/>
          </a:p>
        </p:txBody>
      </p:sp>
      <p:sp>
        <p:nvSpPr>
          <p:cNvPr id="6" name="Text 3"/>
          <p:cNvSpPr txBox="1"/>
          <p:nvPr/>
        </p:nvSpPr>
        <p:spPr>
          <a:xfrm>
            <a:off x="6766560" y="2560320"/>
            <a:ext cx="4846320" cy="640080"/>
          </a:xfrm>
          <a:prstGeom prst="rect">
            <a:avLst/>
          </a:prstGeom>
          <a:noFill/>
          <a:ln/>
        </p:spPr>
        <p:txBody>
          <a:bodyPr wrap="square" lIns="0" tIns="0" rIns="0" bIns="0" rtlCol="0" anchor="t"/>
          <a:lstStyle/>
          <a:p>
            <a:pPr indent="0" marL="0">
              <a:buNone/>
            </a:pPr>
            <a:r>
              <a:rPr lang="en-US" sz="1500" dirty="0">
                <a:solidFill>
                  <a:schemeClr val="accent5"/>
                </a:solidFill>
              </a:rPr>
              <a:t>de prélèvements obligatoires en France, contre environ 40 % dans l'UE</a:t>
            </a:r>
            <a:endParaRPr lang="en-US" sz="1500" dirty="0"/>
          </a:p>
        </p:txBody>
      </p:sp>
      <p:sp>
        <p:nvSpPr>
          <p:cNvPr id="7" name="Text 4"/>
          <p:cNvSpPr txBox="1"/>
          <p:nvPr/>
        </p:nvSpPr>
        <p:spPr>
          <a:xfrm>
            <a:off x="6766560" y="3520440"/>
            <a:ext cx="4846320" cy="2560320"/>
          </a:xfrm>
          <a:prstGeom prst="rect">
            <a:avLst/>
          </a:prstGeom>
          <a:noFill/>
          <a:ln/>
        </p:spPr>
        <p:txBody>
          <a:bodyPr wrap="square" lIns="0" tIns="0" rIns="0" bIns="0" rtlCol="0" anchor="t"/>
          <a:lstStyle/>
          <a:p>
            <a:pPr marL="228600" indent="-228600">
              <a:spcAft>
                <a:spcPts val="1000"/>
              </a:spcAft>
              <a:buSzPct val="100000"/>
              <a:buChar char="•"/>
            </a:pPr>
            <a:r>
              <a:rPr lang="en-US" sz="1700" b="1" dirty="0">
                <a:solidFill>
                  <a:schemeClr val="tx1"/>
                </a:solidFill>
              </a:rPr>
              <a:t>Effets pervers : </a:t>
            </a:r>
            <a:pPr indent="0" marL="0">
              <a:buNone/>
            </a:pPr>
            <a:r>
              <a:rPr lang="en-US" sz="1700" dirty="0">
                <a:solidFill>
                  <a:schemeClr val="tx1"/>
                </a:solidFill>
              </a:rPr>
              <a:t>la redistribution crée de la dépendance et décourage le travail</a:t>
            </a:r>
            <a:endParaRPr lang="en-US" sz="1700" dirty="0"/>
          </a:p>
          <a:p>
            <a:pPr marL="228600" indent="-228600">
              <a:spcAft>
                <a:spcPts val="1000"/>
              </a:spcAft>
              <a:buSzPct val="100000"/>
              <a:buChar char="•"/>
            </a:pPr>
            <a:r>
              <a:rPr lang="en-US" sz="1700" b="1" dirty="0">
                <a:solidFill>
                  <a:schemeClr val="tx1"/>
                </a:solidFill>
              </a:rPr>
              <a:t>Solution : </a:t>
            </a:r>
            <a:pPr indent="0" marL="0">
              <a:buNone/>
            </a:pPr>
            <a:r>
              <a:rPr lang="en-US" sz="1700" dirty="0">
                <a:solidFill>
                  <a:schemeClr val="tx1"/>
                </a:solidFill>
              </a:rPr>
              <a:t>liberté économique, emploi, investissement privé</a:t>
            </a:r>
            <a:endParaRPr lang="en-US" sz="1700" dirty="0"/>
          </a:p>
          <a:p>
            <a:pPr marL="228600" indent="-228600">
              <a:spcAft>
                <a:spcPts val="1000"/>
              </a:spcAft>
              <a:buSzPct val="100000"/>
              <a:buChar char="•"/>
            </a:pPr>
            <a:r>
              <a:rPr lang="en-US" sz="1700" b="1" dirty="0">
                <a:solidFill>
                  <a:schemeClr val="tx1"/>
                </a:solidFill>
              </a:rPr>
              <a:t>Exemple cité : </a:t>
            </a:r>
            <a:pPr indent="0" marL="0">
              <a:buNone/>
            </a:pPr>
            <a:r>
              <a:rPr lang="en-US" sz="1700" dirty="0">
                <a:solidFill>
                  <a:schemeClr val="tx1"/>
                </a:solidFill>
              </a:rPr>
              <a:t>l'Argentine de Javier Milei</a:t>
            </a:r>
            <a:endParaRPr lang="en-US" sz="1700" dirty="0"/>
          </a:p>
        </p:txBody>
      </p:sp>
      <p:sp>
        <p:nvSpPr>
          <p:cNvPr id="8" name="Source"/>
          <p:cNvSpPr txBox="1"/>
          <p:nvPr/>
        </p:nvSpPr>
        <p:spPr>
          <a:xfrm>
            <a:off x="548640" y="6355080"/>
            <a:ext cx="10424160" cy="274320"/>
          </a:xfrm>
          <a:prstGeom prst="rect">
            <a:avLst/>
          </a:prstGeom>
          <a:noFill/>
          <a:ln/>
        </p:spPr>
        <p:txBody>
          <a:bodyPr wrap="square" lIns="0" tIns="0" rIns="0" bIns="0" rtlCol="0" anchor="ctr"/>
          <a:lstStyle/>
          <a:p>
            <a:pPr indent="0" marL="0">
              <a:buNone/>
            </a:pPr>
            <a:r>
              <a:rPr lang="en-US" sz="1000" dirty="0">
                <a:solidFill>
                  <a:schemeClr val="accent5"/>
                </a:solidFill>
              </a:rPr>
              <a:t>Source : Élodie Messéant, « Hausse du taux de pauvreté : le socialisme ne fonctionne pas », IREF, 26/08/2025</a:t>
            </a:r>
            <a:endParaRPr lang="en-US" sz="10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Étiquette"/>
          <p:cNvSpPr txBox="1"/>
          <p:nvPr/>
        </p:nvSpPr>
        <p:spPr>
          <a:xfrm>
            <a:off x="548640" y="256032"/>
            <a:ext cx="2770632" cy="310896"/>
          </a:xfrm>
          <a:prstGeom prst="roundRect">
            <a:avLst>
              <a:gd name="adj" fmla="val 50000"/>
            </a:avLst>
          </a:prstGeom>
          <a:solidFill>
            <a:schemeClr val="accent3"/>
          </a:solidFill>
          <a:ln/>
        </p:spPr>
        <p:txBody>
          <a:bodyPr wrap="square" lIns="0" tIns="0" rIns="0" bIns="0" rtlCol="0" anchor="ctr"/>
          <a:lstStyle/>
          <a:p>
            <a:pPr algn="ctr" indent="0" marL="0">
              <a:buNone/>
            </a:pPr>
            <a:r>
              <a:rPr lang="en-US" sz="1200" b="1" spc="100" kern="0" dirty="0">
                <a:solidFill>
                  <a:schemeClr val="bg1"/>
                </a:solidFill>
              </a:rPr>
              <a:t>POINT DE VUE 3 · MILIEU</a:t>
            </a:r>
            <a:endParaRPr lang="en-US" sz="1200" dirty="0"/>
          </a:p>
        </p:txBody>
      </p:sp>
      <p:sp>
        <p:nvSpPr>
          <p:cNvPr id="3" name="Text 0"/>
          <p:cNvSpPr/>
          <p:nvPr>
            <p:ph idx="100" type="title" hasCustomPrompt="1"/>
          </p:nvPr>
        </p:nvSpPr>
        <p:spPr>
          <a:xfrm>
            <a:off x="548640" y="658368"/>
            <a:ext cx="11064240" cy="73152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 Il faut séparer les causes »</a:t>
            </a:r>
            <a:endParaRPr lang="en-US" sz="3400" dirty="0"/>
          </a:p>
        </p:txBody>
      </p:sp>
      <p:sp>
        <p:nvSpPr>
          <p:cNvPr id="4" name="Auteur"/>
          <p:cNvSpPr txBox="1"/>
          <p:nvPr/>
        </p:nvSpPr>
        <p:spPr>
          <a:xfrm>
            <a:off x="548640" y="1572768"/>
            <a:ext cx="11064240" cy="329184"/>
          </a:xfrm>
          <a:prstGeom prst="rect">
            <a:avLst/>
          </a:prstGeom>
          <a:noFill/>
          <a:ln/>
        </p:spPr>
        <p:txBody>
          <a:bodyPr wrap="square" lIns="0" tIns="0" rIns="0" bIns="0" rtlCol="0" anchor="ctr"/>
          <a:lstStyle/>
          <a:p>
            <a:pPr indent="0" marL="0">
              <a:buNone/>
            </a:pPr>
            <a:r>
              <a:rPr lang="en-US" sz="1500" i="1" dirty="0">
                <a:solidFill>
                  <a:schemeClr val="accent5"/>
                </a:solidFill>
              </a:rPr>
              <a:t>Pierre Madec, OFCE – Sciences Po, 27 mars 2026</a:t>
            </a:r>
            <a:endParaRPr lang="en-US" sz="1500" dirty="0"/>
          </a:p>
        </p:txBody>
      </p:sp>
      <p:sp>
        <p:nvSpPr>
          <p:cNvPr id="5" name="Cause 1"/>
          <p:cNvSpPr/>
          <p:nvPr/>
        </p:nvSpPr>
        <p:spPr>
          <a:xfrm>
            <a:off x="548640" y="2103120"/>
            <a:ext cx="2606040" cy="1691640"/>
          </a:xfrm>
          <a:prstGeom prst="roundRect">
            <a:avLst>
              <a:gd name="adj" fmla="val 4324"/>
            </a:avLst>
          </a:prstGeom>
          <a:solidFill>
            <a:schemeClr val="bg2"/>
          </a:solidFill>
          <a:ln w="12700">
            <a:solidFill>
              <a:schemeClr val="bg2"/>
            </a:solidFill>
            <a:prstDash val="solid"/>
          </a:ln>
        </p:spPr>
      </p:sp>
      <p:sp>
        <p:nvSpPr>
          <p:cNvPr id="6" name="Text 4"/>
          <p:cNvSpPr txBox="1"/>
          <p:nvPr/>
        </p:nvSpPr>
        <p:spPr>
          <a:xfrm>
            <a:off x="749808" y="2304288"/>
            <a:ext cx="420624" cy="420624"/>
          </a:xfrm>
          <a:prstGeom prst="ellipse">
            <a:avLst/>
          </a:prstGeom>
          <a:solidFill>
            <a:schemeClr val="accent3"/>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7" name="Text 5"/>
          <p:cNvSpPr txBox="1"/>
          <p:nvPr/>
        </p:nvSpPr>
        <p:spPr>
          <a:xfrm>
            <a:off x="749808" y="2834640"/>
            <a:ext cx="2203704" cy="365760"/>
          </a:xfrm>
          <a:prstGeom prst="rect">
            <a:avLst/>
          </a:prstGeom>
          <a:noFill/>
          <a:ln/>
        </p:spPr>
        <p:txBody>
          <a:bodyPr wrap="square" lIns="0" tIns="0" rIns="0" bIns="0" rtlCol="0" anchor="ctr"/>
          <a:lstStyle/>
          <a:p>
            <a:pPr indent="0" marL="0">
              <a:buNone/>
            </a:pPr>
            <a:r>
              <a:rPr lang="en-US" sz="1700" b="1" dirty="0">
                <a:solidFill>
                  <a:schemeClr val="tx2"/>
                </a:solidFill>
              </a:rPr>
              <a:t>Le seuil</a:t>
            </a:r>
            <a:endParaRPr lang="en-US" sz="1700" dirty="0"/>
          </a:p>
        </p:txBody>
      </p:sp>
      <p:sp>
        <p:nvSpPr>
          <p:cNvPr id="8" name="Text 6"/>
          <p:cNvSpPr txBox="1"/>
          <p:nvPr/>
        </p:nvSpPr>
        <p:spPr>
          <a:xfrm>
            <a:off x="749808" y="3200400"/>
            <a:ext cx="2203704" cy="502920"/>
          </a:xfrm>
          <a:prstGeom prst="rect">
            <a:avLst/>
          </a:prstGeom>
          <a:noFill/>
          <a:ln/>
        </p:spPr>
        <p:txBody>
          <a:bodyPr wrap="square" lIns="0" tIns="0" rIns="0" bIns="0" rtlCol="0" anchor="t"/>
          <a:lstStyle/>
          <a:p>
            <a:pPr indent="0" marL="0">
              <a:buNone/>
            </a:pPr>
            <a:r>
              <a:rPr lang="en-US" sz="1400" dirty="0">
                <a:solidFill>
                  <a:schemeClr val="accent5"/>
                </a:solidFill>
              </a:rPr>
              <a:t>monte avec le revenu médian</a:t>
            </a:r>
            <a:endParaRPr lang="en-US" sz="1400" dirty="0"/>
          </a:p>
        </p:txBody>
      </p:sp>
      <p:sp>
        <p:nvSpPr>
          <p:cNvPr id="9" name="Shape 7"/>
          <p:cNvSpPr/>
          <p:nvPr/>
        </p:nvSpPr>
        <p:spPr>
          <a:xfrm>
            <a:off x="1851660" y="3840480"/>
            <a:ext cx="4242816" cy="502920"/>
          </a:xfrm>
          <a:prstGeom prst="line">
            <a:avLst/>
          </a:prstGeom>
          <a:noFill/>
          <a:ln w="19050">
            <a:solidFill>
              <a:schemeClr val="accent5"/>
            </a:solidFill>
            <a:prstDash val="solid"/>
            <a:tailEnd type="triangle"/>
          </a:ln>
        </p:spPr>
      </p:sp>
      <p:sp>
        <p:nvSpPr>
          <p:cNvPr id="10" name="Cause 2"/>
          <p:cNvSpPr/>
          <p:nvPr/>
        </p:nvSpPr>
        <p:spPr>
          <a:xfrm>
            <a:off x="3367735" y="2103120"/>
            <a:ext cx="2606040" cy="1691640"/>
          </a:xfrm>
          <a:prstGeom prst="roundRect">
            <a:avLst>
              <a:gd name="adj" fmla="val 4324"/>
            </a:avLst>
          </a:prstGeom>
          <a:solidFill>
            <a:schemeClr val="bg2"/>
          </a:solidFill>
          <a:ln w="12700">
            <a:solidFill>
              <a:schemeClr val="bg2"/>
            </a:solidFill>
            <a:prstDash val="solid"/>
          </a:ln>
        </p:spPr>
      </p:sp>
      <p:sp>
        <p:nvSpPr>
          <p:cNvPr id="11" name="Text 9"/>
          <p:cNvSpPr txBox="1"/>
          <p:nvPr/>
        </p:nvSpPr>
        <p:spPr>
          <a:xfrm>
            <a:off x="3568903" y="2304288"/>
            <a:ext cx="420624" cy="420624"/>
          </a:xfrm>
          <a:prstGeom prst="ellipse">
            <a:avLst/>
          </a:prstGeom>
          <a:solidFill>
            <a:schemeClr val="accent3"/>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2" name="Text 10"/>
          <p:cNvSpPr txBox="1"/>
          <p:nvPr/>
        </p:nvSpPr>
        <p:spPr>
          <a:xfrm>
            <a:off x="3568903" y="2834640"/>
            <a:ext cx="2203704" cy="365760"/>
          </a:xfrm>
          <a:prstGeom prst="rect">
            <a:avLst/>
          </a:prstGeom>
          <a:noFill/>
          <a:ln/>
        </p:spPr>
        <p:txBody>
          <a:bodyPr wrap="square" lIns="0" tIns="0" rIns="0" bIns="0" rtlCol="0" anchor="ctr"/>
          <a:lstStyle/>
          <a:p>
            <a:pPr indent="0" marL="0">
              <a:buNone/>
            </a:pPr>
            <a:r>
              <a:rPr lang="en-US" sz="1700" b="1" dirty="0">
                <a:solidFill>
                  <a:schemeClr val="tx2"/>
                </a:solidFill>
              </a:rPr>
              <a:t>La démographie</a:t>
            </a:r>
            <a:endParaRPr lang="en-US" sz="1700" dirty="0"/>
          </a:p>
        </p:txBody>
      </p:sp>
      <p:sp>
        <p:nvSpPr>
          <p:cNvPr id="13" name="Text 11"/>
          <p:cNvSpPr txBox="1"/>
          <p:nvPr/>
        </p:nvSpPr>
        <p:spPr>
          <a:xfrm>
            <a:off x="3568903" y="3200400"/>
            <a:ext cx="2203704" cy="502920"/>
          </a:xfrm>
          <a:prstGeom prst="rect">
            <a:avLst/>
          </a:prstGeom>
          <a:noFill/>
          <a:ln/>
        </p:spPr>
        <p:txBody>
          <a:bodyPr wrap="square" lIns="0" tIns="0" rIns="0" bIns="0" rtlCol="0" anchor="t"/>
          <a:lstStyle/>
          <a:p>
            <a:pPr indent="0" marL="0">
              <a:buNone/>
            </a:pPr>
            <a:r>
              <a:rPr lang="en-US" sz="1400" dirty="0">
                <a:solidFill>
                  <a:schemeClr val="accent5"/>
                </a:solidFill>
              </a:rPr>
              <a:t>ex. plus de familles monoparentales</a:t>
            </a:r>
            <a:endParaRPr lang="en-US" sz="1400" dirty="0"/>
          </a:p>
        </p:txBody>
      </p:sp>
      <p:sp>
        <p:nvSpPr>
          <p:cNvPr id="14" name="Shape 12"/>
          <p:cNvSpPr/>
          <p:nvPr/>
        </p:nvSpPr>
        <p:spPr>
          <a:xfrm>
            <a:off x="4670755" y="3840480"/>
            <a:ext cx="1423721" cy="502920"/>
          </a:xfrm>
          <a:prstGeom prst="line">
            <a:avLst/>
          </a:prstGeom>
          <a:noFill/>
          <a:ln w="19050">
            <a:solidFill>
              <a:schemeClr val="accent5"/>
            </a:solidFill>
            <a:prstDash val="solid"/>
            <a:tailEnd type="triangle"/>
          </a:ln>
        </p:spPr>
      </p:sp>
      <p:sp>
        <p:nvSpPr>
          <p:cNvPr id="15" name="Cause 3"/>
          <p:cNvSpPr/>
          <p:nvPr/>
        </p:nvSpPr>
        <p:spPr>
          <a:xfrm>
            <a:off x="6186830" y="2103120"/>
            <a:ext cx="2606040" cy="1691640"/>
          </a:xfrm>
          <a:prstGeom prst="roundRect">
            <a:avLst>
              <a:gd name="adj" fmla="val 4324"/>
            </a:avLst>
          </a:prstGeom>
          <a:solidFill>
            <a:schemeClr val="bg2"/>
          </a:solidFill>
          <a:ln w="12700">
            <a:solidFill>
              <a:schemeClr val="bg2"/>
            </a:solidFill>
            <a:prstDash val="solid"/>
          </a:ln>
        </p:spPr>
      </p:sp>
      <p:sp>
        <p:nvSpPr>
          <p:cNvPr id="16" name="Text 14"/>
          <p:cNvSpPr txBox="1"/>
          <p:nvPr/>
        </p:nvSpPr>
        <p:spPr>
          <a:xfrm>
            <a:off x="6387998" y="2304288"/>
            <a:ext cx="420624" cy="420624"/>
          </a:xfrm>
          <a:prstGeom prst="ellipse">
            <a:avLst/>
          </a:prstGeom>
          <a:solidFill>
            <a:schemeClr val="accent3"/>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7" name="Text 15"/>
          <p:cNvSpPr txBox="1"/>
          <p:nvPr/>
        </p:nvSpPr>
        <p:spPr>
          <a:xfrm>
            <a:off x="6387998" y="2834640"/>
            <a:ext cx="2203704" cy="365760"/>
          </a:xfrm>
          <a:prstGeom prst="rect">
            <a:avLst/>
          </a:prstGeom>
          <a:noFill/>
          <a:ln/>
        </p:spPr>
        <p:txBody>
          <a:bodyPr wrap="square" lIns="0" tIns="0" rIns="0" bIns="0" rtlCol="0" anchor="ctr"/>
          <a:lstStyle/>
          <a:p>
            <a:pPr indent="0" marL="0">
              <a:buNone/>
            </a:pPr>
            <a:r>
              <a:rPr lang="en-US" sz="1700" b="1" dirty="0">
                <a:solidFill>
                  <a:schemeClr val="tx2"/>
                </a:solidFill>
              </a:rPr>
              <a:t>Les aides sociales</a:t>
            </a:r>
            <a:endParaRPr lang="en-US" sz="1700" dirty="0"/>
          </a:p>
        </p:txBody>
      </p:sp>
      <p:sp>
        <p:nvSpPr>
          <p:cNvPr id="18" name="Text 16"/>
          <p:cNvSpPr txBox="1"/>
          <p:nvPr/>
        </p:nvSpPr>
        <p:spPr>
          <a:xfrm>
            <a:off x="6387998" y="3200400"/>
            <a:ext cx="2203704" cy="502920"/>
          </a:xfrm>
          <a:prstGeom prst="rect">
            <a:avLst/>
          </a:prstGeom>
          <a:noFill/>
          <a:ln/>
        </p:spPr>
        <p:txBody>
          <a:bodyPr wrap="square" lIns="0" tIns="0" rIns="0" bIns="0" rtlCol="0" anchor="t"/>
          <a:lstStyle/>
          <a:p>
            <a:pPr indent="0" marL="0">
              <a:buNone/>
            </a:pPr>
            <a:r>
              <a:rPr lang="en-US" sz="1400" dirty="0">
                <a:solidFill>
                  <a:schemeClr val="accent5"/>
                </a:solidFill>
              </a:rPr>
              <a:t>sont-elles assez efficaces ?</a:t>
            </a:r>
            <a:endParaRPr lang="en-US" sz="1400" dirty="0"/>
          </a:p>
        </p:txBody>
      </p:sp>
      <p:sp>
        <p:nvSpPr>
          <p:cNvPr id="19" name="Shape 17"/>
          <p:cNvSpPr/>
          <p:nvPr/>
        </p:nvSpPr>
        <p:spPr>
          <a:xfrm flipH="1">
            <a:off x="6094476" y="3840480"/>
            <a:ext cx="1395374" cy="502920"/>
          </a:xfrm>
          <a:prstGeom prst="line">
            <a:avLst/>
          </a:prstGeom>
          <a:noFill/>
          <a:ln w="19050">
            <a:solidFill>
              <a:schemeClr val="accent5"/>
            </a:solidFill>
            <a:prstDash val="solid"/>
            <a:tailEnd type="triangle"/>
          </a:ln>
        </p:spPr>
      </p:sp>
      <p:sp>
        <p:nvSpPr>
          <p:cNvPr id="20" name="Cause 4"/>
          <p:cNvSpPr/>
          <p:nvPr/>
        </p:nvSpPr>
        <p:spPr>
          <a:xfrm>
            <a:off x="9005926" y="2103120"/>
            <a:ext cx="2606040" cy="1691640"/>
          </a:xfrm>
          <a:prstGeom prst="roundRect">
            <a:avLst>
              <a:gd name="adj" fmla="val 4324"/>
            </a:avLst>
          </a:prstGeom>
          <a:solidFill>
            <a:schemeClr val="bg2"/>
          </a:solidFill>
          <a:ln w="12700">
            <a:solidFill>
              <a:schemeClr val="bg2"/>
            </a:solidFill>
            <a:prstDash val="solid"/>
          </a:ln>
        </p:spPr>
      </p:sp>
      <p:sp>
        <p:nvSpPr>
          <p:cNvPr id="21" name="Text 19"/>
          <p:cNvSpPr txBox="1"/>
          <p:nvPr/>
        </p:nvSpPr>
        <p:spPr>
          <a:xfrm>
            <a:off x="9207094" y="2304288"/>
            <a:ext cx="420624" cy="420624"/>
          </a:xfrm>
          <a:prstGeom prst="ellipse">
            <a:avLst/>
          </a:prstGeom>
          <a:solidFill>
            <a:schemeClr val="accent3"/>
          </a:solid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2" name="Text 20"/>
          <p:cNvSpPr txBox="1"/>
          <p:nvPr/>
        </p:nvSpPr>
        <p:spPr>
          <a:xfrm>
            <a:off x="9207094" y="2834640"/>
            <a:ext cx="2203704" cy="365760"/>
          </a:xfrm>
          <a:prstGeom prst="rect">
            <a:avLst/>
          </a:prstGeom>
          <a:noFill/>
          <a:ln/>
        </p:spPr>
        <p:txBody>
          <a:bodyPr wrap="square" lIns="0" tIns="0" rIns="0" bIns="0" rtlCol="0" anchor="ctr"/>
          <a:lstStyle/>
          <a:p>
            <a:pPr indent="0" marL="0">
              <a:buNone/>
            </a:pPr>
            <a:r>
              <a:rPr lang="en-US" sz="1700" b="1" dirty="0">
                <a:solidFill>
                  <a:schemeClr val="tx2"/>
                </a:solidFill>
              </a:rPr>
              <a:t>Les revenus du travail</a:t>
            </a:r>
            <a:endParaRPr lang="en-US" sz="1700" dirty="0"/>
          </a:p>
        </p:txBody>
      </p:sp>
      <p:sp>
        <p:nvSpPr>
          <p:cNvPr id="23" name="Text 21"/>
          <p:cNvSpPr txBox="1"/>
          <p:nvPr/>
        </p:nvSpPr>
        <p:spPr>
          <a:xfrm>
            <a:off x="9207094" y="3200400"/>
            <a:ext cx="2203704" cy="502920"/>
          </a:xfrm>
          <a:prstGeom prst="rect">
            <a:avLst/>
          </a:prstGeom>
          <a:noFill/>
          <a:ln/>
        </p:spPr>
        <p:txBody>
          <a:bodyPr wrap="square" lIns="0" tIns="0" rIns="0" bIns="0" rtlCol="0" anchor="t"/>
          <a:lstStyle/>
          <a:p>
            <a:pPr indent="0" marL="0">
              <a:buNone/>
            </a:pPr>
            <a:r>
              <a:rPr lang="en-US" sz="1400" dirty="0">
                <a:solidFill>
                  <a:schemeClr val="accent5"/>
                </a:solidFill>
              </a:rPr>
              <a:t>emploi, salaires, précarité</a:t>
            </a:r>
            <a:endParaRPr lang="en-US" sz="1400" dirty="0"/>
          </a:p>
        </p:txBody>
      </p:sp>
      <p:sp>
        <p:nvSpPr>
          <p:cNvPr id="24" name="Shape 22"/>
          <p:cNvSpPr/>
          <p:nvPr/>
        </p:nvSpPr>
        <p:spPr>
          <a:xfrm flipH="1">
            <a:off x="6094476" y="3840480"/>
            <a:ext cx="4214470" cy="502920"/>
          </a:xfrm>
          <a:prstGeom prst="line">
            <a:avLst/>
          </a:prstGeom>
          <a:noFill/>
          <a:ln w="19050">
            <a:solidFill>
              <a:schemeClr val="accent5"/>
            </a:solidFill>
            <a:prstDash val="solid"/>
            <a:tailEnd type="triangle"/>
          </a:ln>
        </p:spPr>
      </p:sp>
      <p:sp>
        <p:nvSpPr>
          <p:cNvPr id="25" name="Résultat"/>
          <p:cNvSpPr txBox="1"/>
          <p:nvPr/>
        </p:nvSpPr>
        <p:spPr>
          <a:xfrm>
            <a:off x="3808476" y="4389120"/>
            <a:ext cx="4572000" cy="777240"/>
          </a:xfrm>
          <a:prstGeom prst="roundRect">
            <a:avLst>
              <a:gd name="adj" fmla="val 11765"/>
            </a:avLst>
          </a:prstGeom>
          <a:solidFill>
            <a:schemeClr val="accent3"/>
          </a:solidFill>
          <a:ln/>
        </p:spPr>
        <p:txBody>
          <a:bodyPr wrap="square" lIns="0" tIns="0" rIns="0" bIns="0" rtlCol="0" anchor="ctr"/>
          <a:lstStyle/>
          <a:p>
            <a:pPr algn="ctr" indent="0" marL="0">
              <a:buNone/>
            </a:pPr>
            <a:r>
              <a:rPr lang="en-US" sz="2200" b="1" dirty="0">
                <a:solidFill>
                  <a:schemeClr val="bg1"/>
                </a:solidFill>
              </a:rPr>
              <a:t>Taux de pauvreté : 15,4 %</a:t>
            </a:r>
            <a:endParaRPr lang="en-US" sz="2200" dirty="0"/>
          </a:p>
        </p:txBody>
      </p:sp>
      <p:sp>
        <p:nvSpPr>
          <p:cNvPr id="26" name="Text 24"/>
          <p:cNvSpPr txBox="1"/>
          <p:nvPr/>
        </p:nvSpPr>
        <p:spPr>
          <a:xfrm>
            <a:off x="548640" y="5486400"/>
            <a:ext cx="11064240" cy="457200"/>
          </a:xfrm>
          <a:prstGeom prst="rect">
            <a:avLst/>
          </a:prstGeom>
          <a:noFill/>
          <a:ln/>
        </p:spPr>
        <p:txBody>
          <a:bodyPr wrap="square" lIns="0" tIns="0" rIns="0" bIns="0" rtlCol="0" anchor="ctr"/>
          <a:lstStyle/>
          <a:p>
            <a:pPr algn="ctr" indent="0" marL="0">
              <a:buNone/>
            </a:pPr>
            <a:r>
              <a:rPr lang="en-US" sz="1500" b="1" i="1" dirty="0">
                <a:solidFill>
                  <a:schemeClr val="tx2"/>
                </a:solidFill>
              </a:rPr>
              <a:t>+ regarder le « reste à vivre » : </a:t>
            </a:r>
            <a:pPr algn="ctr" indent="0" marL="0">
              <a:buNone/>
            </a:pPr>
            <a:r>
              <a:rPr lang="en-US" sz="1500" i="1" dirty="0">
                <a:solidFill>
                  <a:schemeClr val="accent5"/>
                </a:solidFill>
              </a:rPr>
              <a:t>ce qui reste une fois le loyer, l'énergie et les autres dépenses obligatoires payés</a:t>
            </a:r>
            <a:endParaRPr lang="en-US" sz="1500" dirty="0"/>
          </a:p>
        </p:txBody>
      </p:sp>
      <p:sp>
        <p:nvSpPr>
          <p:cNvPr id="27" name="Source"/>
          <p:cNvSpPr txBox="1"/>
          <p:nvPr/>
        </p:nvSpPr>
        <p:spPr>
          <a:xfrm>
            <a:off x="548640" y="6355080"/>
            <a:ext cx="10424160" cy="274320"/>
          </a:xfrm>
          <a:prstGeom prst="rect">
            <a:avLst/>
          </a:prstGeom>
          <a:noFill/>
          <a:ln/>
        </p:spPr>
        <p:txBody>
          <a:bodyPr wrap="square" lIns="0" tIns="0" rIns="0" bIns="0" rtlCol="0" anchor="ctr"/>
          <a:lstStyle/>
          <a:p>
            <a:pPr indent="0" marL="0">
              <a:buNone/>
            </a:pPr>
            <a:r>
              <a:rPr lang="en-US" sz="1000" dirty="0">
                <a:solidFill>
                  <a:schemeClr val="accent5"/>
                </a:solidFill>
              </a:rPr>
              <a:t>Source : Pierre Madec, « Pauvreté monétaire en France : les causes d'un décrochage inquiétant », OFCE, 27/03/2026</a:t>
            </a:r>
            <a:endParaRPr lang="en-US" sz="10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Étiquette"/>
          <p:cNvSpPr txBox="1"/>
          <p:nvPr/>
        </p:nvSpPr>
        <p:spPr>
          <a:xfrm>
            <a:off x="548640" y="256032"/>
            <a:ext cx="1463040" cy="310896"/>
          </a:xfrm>
          <a:prstGeom prst="roundRect">
            <a:avLst>
              <a:gd name="adj" fmla="val 50000"/>
            </a:avLst>
          </a:prstGeom>
          <a:solidFill>
            <a:schemeClr val="tx2"/>
          </a:solidFill>
          <a:ln/>
        </p:spPr>
        <p:txBody>
          <a:bodyPr wrap="square" lIns="0" tIns="0" rIns="0" bIns="0" rtlCol="0" anchor="ctr"/>
          <a:lstStyle/>
          <a:p>
            <a:pPr algn="ctr" indent="0" marL="0">
              <a:buNone/>
            </a:pPr>
            <a:r>
              <a:rPr lang="en-US" sz="1200" b="1" spc="100" kern="0" dirty="0">
                <a:solidFill>
                  <a:schemeClr val="bg1"/>
                </a:solidFill>
              </a:rPr>
              <a:t>CONCLUSION</a:t>
            </a:r>
            <a:endParaRPr lang="en-US" sz="1200" dirty="0"/>
          </a:p>
        </p:txBody>
      </p:sp>
      <p:sp>
        <p:nvSpPr>
          <p:cNvPr id="3" name="Text 0"/>
          <p:cNvSpPr/>
          <p:nvPr>
            <p:ph idx="100" type="title" hasCustomPrompt="1"/>
          </p:nvPr>
        </p:nvSpPr>
        <p:spPr>
          <a:xfrm>
            <a:off x="548640" y="658368"/>
            <a:ext cx="11064240" cy="73152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Trois lectures d'un même chiffre</a:t>
            </a:r>
            <a:endParaRPr lang="en-US" sz="3400" dirty="0"/>
          </a:p>
        </p:txBody>
      </p:sp>
      <p:graphicFrame>
        <p:nvGraphicFramePr>
          <p:cNvPr id="12" name="Tableau synthèse"/>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914400"/>
        </p:xfrm>
        <a:graphic>
          <a:graphicData uri="http://schemas.openxmlformats.org/drawingml/2006/table">
            <a:tbl>
              <a:tblPr/>
              <a:tblGrid>
                <a:gridCol w="1737360"/>
                <a:gridCol w="3108960"/>
                <a:gridCol w="3108960"/>
                <a:gridCol w="3108960"/>
              </a:tblGrid>
              <a:tr h="548640">
                <a:tc>
                  <a:txBody>
                    <a:bodyPr/>
                    <a:lstStyle/>
                    <a:p>
                      <a:pPr indent="0" marL="0">
                        <a:buNone/>
                      </a:pPr>
                      <a:endParaRPr lang="en-US" sz="1500" dirty="0">
                        <a:latin typeface="Calibri" charset="0"/>
                        <a:ea typeface="Calibri" charset="0"/>
                        <a:cs typeface="Calibri" charset="0"/>
                      </a:endParaRPr>
                    </a:p>
                  </a:txBody>
                  <a:tcPr marL="73152" marR="73152" marT="73152" marB="73152">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tcPr>
                </a:tc>
                <a:tc>
                  <a:txBody>
                    <a:bodyPr/>
                    <a:lstStyle/>
                    <a:p>
                      <a:pPr algn="ctr" indent="0" marL="0">
                        <a:buNone/>
                      </a:pPr>
                      <a:r>
                        <a:rPr lang="en-US" sz="1500" b="1" dirty="0">
                          <a:solidFill>
                            <a:schemeClr val="bg1"/>
                          </a:solidFill>
                          <a:latin typeface="Calibri" pitchFamily="34" charset="0"/>
                          <a:ea typeface="Calibri" pitchFamily="34" charset="-122"/>
                          <a:cs typeface="Calibri" pitchFamily="34" charset="-120"/>
                        </a:rPr>
                        <a:t>Gauche (L'Essentiel de l'Éco)</a:t>
                      </a:r>
                      <a:endParaRPr lang="en-US" sz="1500" dirty="0">
                        <a:latin typeface="Calibri" charset="0"/>
                        <a:ea typeface="Calibri" charset="0"/>
                        <a:cs typeface="Calibri" charset="0"/>
                      </a:endParaRPr>
                    </a:p>
                  </a:txBody>
                  <a:tcPr marL="73152" marR="73152" marT="73152" marB="73152"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solidFill>
                      <a:schemeClr val="accent1"/>
                    </a:solidFill>
                  </a:tcPr>
                </a:tc>
                <a:tc>
                  <a:txBody>
                    <a:bodyPr/>
                    <a:lstStyle/>
                    <a:p>
                      <a:pPr algn="ctr" indent="0" marL="0">
                        <a:buNone/>
                      </a:pPr>
                      <a:r>
                        <a:rPr lang="en-US" sz="1500" b="1" dirty="0">
                          <a:solidFill>
                            <a:schemeClr val="bg1"/>
                          </a:solidFill>
                          <a:latin typeface="Calibri" pitchFamily="34" charset="0"/>
                          <a:ea typeface="Calibri" pitchFamily="34" charset="-122"/>
                          <a:cs typeface="Calibri" pitchFamily="34" charset="-120"/>
                        </a:rPr>
                        <a:t>Milieu (OFCE)</a:t>
                      </a:r>
                      <a:endParaRPr lang="en-US" sz="1500" dirty="0">
                        <a:latin typeface="Calibri" charset="0"/>
                        <a:ea typeface="Calibri" charset="0"/>
                        <a:cs typeface="Calibri" charset="0"/>
                      </a:endParaRPr>
                    </a:p>
                  </a:txBody>
                  <a:tcPr marL="73152" marR="73152" marT="73152" marB="73152"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solidFill>
                      <a:schemeClr val="accent3"/>
                    </a:solidFill>
                  </a:tcPr>
                </a:tc>
                <a:tc>
                  <a:txBody>
                    <a:bodyPr/>
                    <a:lstStyle/>
                    <a:p>
                      <a:pPr algn="ctr" indent="0" marL="0">
                        <a:buNone/>
                      </a:pPr>
                      <a:r>
                        <a:rPr lang="en-US" sz="1500" b="1" dirty="0">
                          <a:solidFill>
                            <a:schemeClr val="bg1"/>
                          </a:solidFill>
                          <a:latin typeface="Calibri" pitchFamily="34" charset="0"/>
                          <a:ea typeface="Calibri" pitchFamily="34" charset="-122"/>
                          <a:cs typeface="Calibri" pitchFamily="34" charset="-120"/>
                        </a:rPr>
                        <a:t>Libéral (IREF)</a:t>
                      </a:r>
                      <a:endParaRPr lang="en-US" sz="1500" dirty="0">
                        <a:latin typeface="Calibri" charset="0"/>
                        <a:ea typeface="Calibri" charset="0"/>
                        <a:cs typeface="Calibri" charset="0"/>
                      </a:endParaRPr>
                    </a:p>
                  </a:txBody>
                  <a:tcPr marL="73152" marR="73152" marT="73152" marB="73152"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solidFill>
                      <a:schemeClr val="accent2"/>
                    </a:solidFill>
                  </a:tcPr>
                </a:tc>
              </a:tr>
              <a:tr h="658368">
                <a:tc>
                  <a:txBody>
                    <a:bodyPr/>
                    <a:lstStyle/>
                    <a:p>
                      <a:pPr indent="0" marL="0">
                        <a:buNone/>
                      </a:pPr>
                      <a:r>
                        <a:rPr lang="en-US" sz="1500" b="1" dirty="0">
                          <a:solidFill>
                            <a:schemeClr val="tx2"/>
                          </a:solidFill>
                          <a:latin typeface="Calibri" pitchFamily="34" charset="0"/>
                          <a:ea typeface="Calibri" pitchFamily="34" charset="-122"/>
                          <a:cs typeface="Calibri" pitchFamily="34" charset="-120"/>
                        </a:rPr>
                        <a:t>Diagnostic</a:t>
                      </a:r>
                      <a:endParaRPr lang="en-US" sz="1500" dirty="0">
                        <a:latin typeface="Calibri" charset="0"/>
                        <a:ea typeface="Calibri" charset="0"/>
                        <a:cs typeface="Calibri" charset="0"/>
                      </a:endParaRPr>
                    </a:p>
                  </a:txBody>
                  <a:tcPr marL="73152" marR="73152" marT="73152" marB="73152"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Des choix politiques depuis 2017</a:t>
                      </a:r>
                      <a:endParaRPr lang="en-US" sz="1500" dirty="0">
                        <a:latin typeface="Calibri" charset="0"/>
                        <a:ea typeface="Calibri" charset="0"/>
                        <a:cs typeface="Calibri" charset="0"/>
                      </a:endParaRPr>
                    </a:p>
                  </a:txBody>
                  <a:tcPr marL="73152" marR="73152" marT="73152" marB="73152"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Plusieurs causes mêlées</a:t>
                      </a:r>
                      <a:endParaRPr lang="en-US" sz="1500" dirty="0">
                        <a:latin typeface="Calibri" charset="0"/>
                        <a:ea typeface="Calibri" charset="0"/>
                        <a:cs typeface="Calibri" charset="0"/>
                      </a:endParaRPr>
                    </a:p>
                  </a:txBody>
                  <a:tcPr marL="73152" marR="73152" marT="73152" marB="73152"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Trop d'État</a:t>
                      </a:r>
                      <a:endParaRPr lang="en-US" sz="1500" dirty="0">
                        <a:latin typeface="Calibri" charset="0"/>
                        <a:ea typeface="Calibri" charset="0"/>
                        <a:cs typeface="Calibri" charset="0"/>
                      </a:endParaRPr>
                    </a:p>
                  </a:txBody>
                  <a:tcPr marL="73152" marR="73152" marT="73152" marB="73152"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tcPr>
                </a:tc>
              </a:tr>
              <a:tr h="658368">
                <a:tc>
                  <a:txBody>
                    <a:bodyPr/>
                    <a:lstStyle/>
                    <a:p>
                      <a:pPr indent="0" marL="0">
                        <a:buNone/>
                      </a:pPr>
                      <a:r>
                        <a:rPr lang="en-US" sz="1500" b="1" dirty="0">
                          <a:solidFill>
                            <a:schemeClr val="tx2"/>
                          </a:solidFill>
                          <a:latin typeface="Calibri" pitchFamily="34" charset="0"/>
                          <a:ea typeface="Calibri" pitchFamily="34" charset="-122"/>
                          <a:cs typeface="Calibri" pitchFamily="34" charset="-120"/>
                        </a:rPr>
                        <a:t>Les aides</a:t>
                      </a:r>
                      <a:endParaRPr lang="en-US" sz="1500" dirty="0">
                        <a:latin typeface="Calibri" charset="0"/>
                        <a:ea typeface="Calibri" charset="0"/>
                        <a:cs typeface="Calibri" charset="0"/>
                      </a:endParaRPr>
                    </a:p>
                  </a:txBody>
                  <a:tcPr marL="73152" marR="73152" marT="73152" marB="73152"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Coupées ou mal revalorisées</a:t>
                      </a:r>
                      <a:endParaRPr lang="en-US" sz="1500" dirty="0">
                        <a:latin typeface="Calibri" charset="0"/>
                        <a:ea typeface="Calibri" charset="0"/>
                        <a:cs typeface="Calibri" charset="0"/>
                      </a:endParaRPr>
                    </a:p>
                  </a:txBody>
                  <a:tcPr marL="73152" marR="73152" marT="73152" marB="73152"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Efficacité à évaluer</a:t>
                      </a:r>
                      <a:endParaRPr lang="en-US" sz="1500" dirty="0">
                        <a:latin typeface="Calibri" charset="0"/>
                        <a:ea typeface="Calibri" charset="0"/>
                        <a:cs typeface="Calibri" charset="0"/>
                      </a:endParaRPr>
                    </a:p>
                  </a:txBody>
                  <a:tcPr marL="73152" marR="73152" marT="73152" marB="73152"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Créent dépendance, découragent le travail</a:t>
                      </a:r>
                      <a:endParaRPr lang="en-US" sz="1500" dirty="0">
                        <a:latin typeface="Calibri" charset="0"/>
                        <a:ea typeface="Calibri" charset="0"/>
                        <a:cs typeface="Calibri" charset="0"/>
                      </a:endParaRPr>
                    </a:p>
                  </a:txBody>
                  <a:tcPr marL="73152" marR="73152" marT="73152" marB="73152"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tcPr>
                </a:tc>
              </a:tr>
              <a:tr h="658368">
                <a:tc>
                  <a:txBody>
                    <a:bodyPr/>
                    <a:lstStyle/>
                    <a:p>
                      <a:pPr indent="0" marL="0">
                        <a:buNone/>
                      </a:pPr>
                      <a:r>
                        <a:rPr lang="en-US" sz="1500" b="1" dirty="0">
                          <a:solidFill>
                            <a:schemeClr val="tx2"/>
                          </a:solidFill>
                          <a:latin typeface="Calibri" pitchFamily="34" charset="0"/>
                          <a:ea typeface="Calibri" pitchFamily="34" charset="-122"/>
                          <a:cs typeface="Calibri" pitchFamily="34" charset="-120"/>
                        </a:rPr>
                        <a:t>Solution</a:t>
                      </a:r>
                      <a:endParaRPr lang="en-US" sz="1500" dirty="0">
                        <a:latin typeface="Calibri" charset="0"/>
                        <a:ea typeface="Calibri" charset="0"/>
                        <a:cs typeface="Calibri" charset="0"/>
                      </a:endParaRPr>
                    </a:p>
                  </a:txBody>
                  <a:tcPr marL="73152" marR="73152" marT="73152" marB="73152"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Protéger davantage les plus modestes</a:t>
                      </a:r>
                      <a:endParaRPr lang="en-US" sz="1500" dirty="0">
                        <a:latin typeface="Calibri" charset="0"/>
                        <a:ea typeface="Calibri" charset="0"/>
                        <a:cs typeface="Calibri" charset="0"/>
                      </a:endParaRPr>
                    </a:p>
                  </a:txBody>
                  <a:tcPr marL="73152" marR="73152" marT="73152" marB="73152"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Analyser avant d'agir</a:t>
                      </a:r>
                      <a:endParaRPr lang="en-US" sz="1500" dirty="0">
                        <a:latin typeface="Calibri" charset="0"/>
                        <a:ea typeface="Calibri" charset="0"/>
                        <a:cs typeface="Calibri" charset="0"/>
                      </a:endParaRPr>
                    </a:p>
                  </a:txBody>
                  <a:tcPr marL="73152" marR="73152" marT="73152" marB="73152"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Liberté économique, emploi</a:t>
                      </a:r>
                      <a:endParaRPr lang="en-US" sz="1500" dirty="0">
                        <a:latin typeface="Calibri" charset="0"/>
                        <a:ea typeface="Calibri" charset="0"/>
                        <a:cs typeface="Calibri" charset="0"/>
                      </a:endParaRPr>
                    </a:p>
                  </a:txBody>
                  <a:tcPr marL="73152" marR="73152" marT="73152" marB="73152"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tcPr>
                </a:tc>
              </a:tr>
              <a:tr h="658368">
                <a:tc>
                  <a:txBody>
                    <a:bodyPr/>
                    <a:lstStyle/>
                    <a:p>
                      <a:pPr indent="0" marL="0">
                        <a:buNone/>
                      </a:pPr>
                      <a:r>
                        <a:rPr lang="en-US" sz="1500" b="1" dirty="0">
                          <a:solidFill>
                            <a:schemeClr val="tx2"/>
                          </a:solidFill>
                          <a:latin typeface="Calibri" pitchFamily="34" charset="0"/>
                          <a:ea typeface="Calibri" pitchFamily="34" charset="-122"/>
                          <a:cs typeface="Calibri" pitchFamily="34" charset="-120"/>
                        </a:rPr>
                        <a:t>La mesure</a:t>
                      </a:r>
                      <a:endParaRPr lang="en-US" sz="1500" dirty="0">
                        <a:latin typeface="Calibri" charset="0"/>
                        <a:ea typeface="Calibri" charset="0"/>
                        <a:cs typeface="Calibri" charset="0"/>
                      </a:endParaRPr>
                    </a:p>
                  </a:txBody>
                  <a:tcPr marL="73152" marR="73152" marT="73152" marB="73152"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Sous-estime (≈ 12 millions)</a:t>
                      </a:r>
                      <a:endParaRPr lang="en-US" sz="1500" dirty="0">
                        <a:latin typeface="Calibri" charset="0"/>
                        <a:ea typeface="Calibri" charset="0"/>
                        <a:cs typeface="Calibri" charset="0"/>
                      </a:endParaRPr>
                    </a:p>
                  </a:txBody>
                  <a:tcPr marL="73152" marR="73152" marT="73152" marB="73152"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Compléter par le « reste à vivre »</a:t>
                      </a:r>
                      <a:endParaRPr lang="en-US" sz="1500" dirty="0">
                        <a:latin typeface="Calibri" charset="0"/>
                        <a:ea typeface="Calibri" charset="0"/>
                        <a:cs typeface="Calibri" charset="0"/>
                      </a:endParaRPr>
                    </a:p>
                  </a:txBody>
                  <a:tcPr marL="73152" marR="73152" marT="73152" marB="73152"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Exagère : mesure les inégalités</a:t>
                      </a:r>
                      <a:endParaRPr lang="en-US" sz="1500" dirty="0">
                        <a:latin typeface="Calibri" charset="0"/>
                        <a:ea typeface="Calibri" charset="0"/>
                        <a:cs typeface="Calibri" charset="0"/>
                      </a:endParaRPr>
                    </a:p>
                  </a:txBody>
                  <a:tcPr marL="73152" marR="73152" marT="73152" marB="73152"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tcPr>
                </a:tc>
              </a:tr>
            </a:tbl>
          </a:graphicData>
        </a:graphic>
      </p:graphicFrame>
      <p:sp>
        <p:nvSpPr>
          <p:cNvPr id="5" name="Question"/>
          <p:cNvSpPr txBox="1"/>
          <p:nvPr/>
        </p:nvSpPr>
        <p:spPr>
          <a:xfrm>
            <a:off x="548640" y="5166360"/>
            <a:ext cx="11064240" cy="914400"/>
          </a:xfrm>
          <a:prstGeom prst="roundRect">
            <a:avLst>
              <a:gd name="adj" fmla="val 10000"/>
            </a:avLst>
          </a:prstGeom>
          <a:solidFill>
            <a:schemeClr val="tx2"/>
          </a:solidFill>
          <a:ln/>
        </p:spPr>
        <p:txBody>
          <a:bodyPr wrap="square" lIns="1270" tIns="1270" rIns="1270" bIns="1270" rtlCol="0" anchor="ctr"/>
          <a:lstStyle/>
          <a:p>
            <a:pPr algn="ctr" indent="0" marL="0">
              <a:buNone/>
            </a:pPr>
            <a:r>
              <a:rPr lang="en-US" sz="2100" b="1" dirty="0">
                <a:solidFill>
                  <a:schemeClr val="bg1"/>
                </a:solidFill>
              </a:rPr>
              <a:t>Pour faire baisser la pauvreté : plus d'aides, des aides différentes, ou moins d'aides ?</a:t>
            </a:r>
            <a:endParaRPr lang="en-US" sz="21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Étiquette"/>
          <p:cNvSpPr txBox="1"/>
          <p:nvPr/>
        </p:nvSpPr>
        <p:spPr>
          <a:xfrm>
            <a:off x="548640" y="256032"/>
            <a:ext cx="1463040" cy="310896"/>
          </a:xfrm>
          <a:prstGeom prst="roundRect">
            <a:avLst>
              <a:gd name="adj" fmla="val 50000"/>
            </a:avLst>
          </a:prstGeom>
          <a:solidFill>
            <a:schemeClr val="tx2"/>
          </a:solidFill>
          <a:ln/>
        </p:spPr>
        <p:txBody>
          <a:bodyPr wrap="square" lIns="0" tIns="0" rIns="0" bIns="0" rtlCol="0" anchor="ctr"/>
          <a:lstStyle/>
          <a:p>
            <a:pPr algn="ctr" indent="0" marL="0">
              <a:buNone/>
            </a:pPr>
            <a:r>
              <a:rPr lang="en-US" sz="1200" b="1" spc="100" kern="0" dirty="0">
                <a:solidFill>
                  <a:schemeClr val="bg1"/>
                </a:solidFill>
              </a:rPr>
              <a:t>SOURCES</a:t>
            </a:r>
            <a:endParaRPr lang="en-US" sz="1200" dirty="0"/>
          </a:p>
        </p:txBody>
      </p:sp>
      <p:sp>
        <p:nvSpPr>
          <p:cNvPr id="3" name="Text 0"/>
          <p:cNvSpPr/>
          <p:nvPr>
            <p:ph idx="100" type="title" hasCustomPrompt="1"/>
          </p:nvPr>
        </p:nvSpPr>
        <p:spPr>
          <a:xfrm>
            <a:off x="548640" y="658368"/>
            <a:ext cx="11064240" cy="73152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Sources</a:t>
            </a:r>
            <a:endParaRPr lang="en-US" sz="3400" dirty="0"/>
          </a:p>
        </p:txBody>
      </p:sp>
      <p:sp>
        <p:nvSpPr>
          <p:cNvPr id="4" name="Shape 2"/>
          <p:cNvSpPr/>
          <p:nvPr/>
        </p:nvSpPr>
        <p:spPr>
          <a:xfrm>
            <a:off x="548640" y="1755648"/>
            <a:ext cx="365760" cy="365760"/>
          </a:xfrm>
          <a:prstGeom prst="ellipse">
            <a:avLst/>
          </a:prstGeom>
          <a:solidFill>
            <a:schemeClr val="accent1"/>
          </a:solidFill>
          <a:ln w="12700">
            <a:solidFill>
              <a:schemeClr val="accent1"/>
            </a:solidFill>
            <a:prstDash val="solid"/>
          </a:ln>
        </p:spPr>
      </p:sp>
      <p:sp>
        <p:nvSpPr>
          <p:cNvPr id="5" name="Text 3"/>
          <p:cNvSpPr txBox="1"/>
          <p:nvPr/>
        </p:nvSpPr>
        <p:spPr>
          <a:xfrm>
            <a:off x="1143000" y="1645920"/>
            <a:ext cx="10424160" cy="868680"/>
          </a:xfrm>
          <a:prstGeom prst="rect">
            <a:avLst/>
          </a:prstGeom>
          <a:noFill/>
          <a:ln/>
        </p:spPr>
        <p:txBody>
          <a:bodyPr wrap="square" lIns="0" tIns="0" rIns="0" bIns="0" rtlCol="0" anchor="t"/>
          <a:lstStyle/>
          <a:p>
            <a:pPr indent="0" marL="0">
              <a:buNone/>
            </a:pPr>
            <a:r>
              <a:rPr lang="en-US" sz="1700" b="1" dirty="0">
                <a:solidFill>
                  <a:schemeClr val="tx1"/>
                </a:solidFill>
              </a:rPr>
              <a:t>Paul Crauchet — </a:t>
            </a:r>
            <a:pPr indent="0" marL="0">
              <a:buNone/>
            </a:pPr>
            <a:r>
              <a:rPr lang="en-US" sz="1700" u="sng" dirty="0">
                <a:solidFill>
                  <a:schemeClr val="tx1"/>
                </a:solidFill>
                <a:hlinkClick r:id="rId1" invalidUrl="" action="" tgtFrame="" tooltip="" history="1" highlightClick="0" endSnd="0">
                  <a:extLst>
                    <a:ext uri="{A12FA001-AC4F-418D-AE19-62706E023703}">
                      <ahyp:hlinkClr xmlns:ahyp="http://schemas.microsoft.com/office/drawing/2018/hyperlinkcolor" val="tx"/>
                    </a:ext>
                  </a:extLst>
                </a:hlinkClick>
              </a:rPr>
              <a:t>« La face cachée du modèle Macron révélée par l'Insee »</a:t>
            </a:r>
            <a:endParaRPr lang="en-US" sz="1700" dirty="0"/>
          </a:p>
          <a:p>
            <a:pPr indent="0" marL="0">
              <a:buNone/>
            </a:pPr>
            <a:r>
              <a:rPr lang="en-US" sz="1400" dirty="0">
                <a:solidFill>
                  <a:schemeClr val="accent5"/>
                </a:solidFill>
              </a:rPr>
              <a:t>L'Essentiel de l'Éco, 8 juillet 2025</a:t>
            </a:r>
            <a:endParaRPr lang="en-US" sz="1700" dirty="0"/>
          </a:p>
        </p:txBody>
      </p:sp>
      <p:sp>
        <p:nvSpPr>
          <p:cNvPr id="6" name="Shape 4"/>
          <p:cNvSpPr/>
          <p:nvPr/>
        </p:nvSpPr>
        <p:spPr>
          <a:xfrm>
            <a:off x="548640" y="2871216"/>
            <a:ext cx="365760" cy="365760"/>
          </a:xfrm>
          <a:prstGeom prst="ellipse">
            <a:avLst/>
          </a:prstGeom>
          <a:solidFill>
            <a:schemeClr val="accent2"/>
          </a:solidFill>
          <a:ln w="12700">
            <a:solidFill>
              <a:schemeClr val="accent2"/>
            </a:solidFill>
            <a:prstDash val="solid"/>
          </a:ln>
        </p:spPr>
      </p:sp>
      <p:sp>
        <p:nvSpPr>
          <p:cNvPr id="7" name="Text 5"/>
          <p:cNvSpPr txBox="1"/>
          <p:nvPr/>
        </p:nvSpPr>
        <p:spPr>
          <a:xfrm>
            <a:off x="1143000" y="2761488"/>
            <a:ext cx="10424160" cy="868680"/>
          </a:xfrm>
          <a:prstGeom prst="rect">
            <a:avLst/>
          </a:prstGeom>
          <a:noFill/>
          <a:ln/>
        </p:spPr>
        <p:txBody>
          <a:bodyPr wrap="square" lIns="0" tIns="0" rIns="0" bIns="0" rtlCol="0" anchor="t"/>
          <a:lstStyle/>
          <a:p>
            <a:pPr indent="0" marL="0">
              <a:buNone/>
            </a:pPr>
            <a:r>
              <a:rPr lang="en-US" sz="1700" b="1" dirty="0">
                <a:solidFill>
                  <a:schemeClr val="tx1"/>
                </a:solidFill>
              </a:rPr>
              <a:t>Élodie Messéant — </a:t>
            </a:r>
            <a:pPr indent="0" marL="0">
              <a:buNone/>
            </a:pPr>
            <a:r>
              <a:rPr lang="en-US" sz="1700" u="sng" dirty="0">
                <a:solidFill>
                  <a:schemeClr val="tx1"/>
                </a:solidFill>
                <a:hlinkClick r:id="rId2" invalidUrl="" action="" tgtFrame="" tooltip="" history="1" highlightClick="0" endSnd="0">
                  <a:extLst>
                    <a:ext uri="{A12FA001-AC4F-418D-AE19-62706E023703}">
                      <ahyp:hlinkClr xmlns:ahyp="http://schemas.microsoft.com/office/drawing/2018/hyperlinkcolor" val="tx"/>
                    </a:ext>
                  </a:extLst>
                </a:hlinkClick>
              </a:rPr>
              <a:t>« Hausse du taux de pauvreté : le socialisme ne fonctionne pas »</a:t>
            </a:r>
            <a:endParaRPr lang="en-US" sz="1700" dirty="0"/>
          </a:p>
          <a:p>
            <a:pPr indent="0" marL="0">
              <a:buNone/>
            </a:pPr>
            <a:r>
              <a:rPr lang="en-US" sz="1400" dirty="0">
                <a:solidFill>
                  <a:schemeClr val="accent5"/>
                </a:solidFill>
              </a:rPr>
              <a:t>IREF / L'Opinion, 26 août 2025</a:t>
            </a:r>
            <a:endParaRPr lang="en-US" sz="1700" dirty="0"/>
          </a:p>
        </p:txBody>
      </p:sp>
      <p:sp>
        <p:nvSpPr>
          <p:cNvPr id="8" name="Shape 6"/>
          <p:cNvSpPr/>
          <p:nvPr/>
        </p:nvSpPr>
        <p:spPr>
          <a:xfrm>
            <a:off x="548640" y="3986784"/>
            <a:ext cx="365760" cy="365760"/>
          </a:xfrm>
          <a:prstGeom prst="ellipse">
            <a:avLst/>
          </a:prstGeom>
          <a:solidFill>
            <a:schemeClr val="accent3"/>
          </a:solidFill>
          <a:ln w="12700">
            <a:solidFill>
              <a:schemeClr val="accent3"/>
            </a:solidFill>
            <a:prstDash val="solid"/>
          </a:ln>
        </p:spPr>
      </p:sp>
      <p:sp>
        <p:nvSpPr>
          <p:cNvPr id="9" name="Text 7"/>
          <p:cNvSpPr txBox="1"/>
          <p:nvPr/>
        </p:nvSpPr>
        <p:spPr>
          <a:xfrm>
            <a:off x="1143000" y="3877056"/>
            <a:ext cx="10424160" cy="868680"/>
          </a:xfrm>
          <a:prstGeom prst="rect">
            <a:avLst/>
          </a:prstGeom>
          <a:noFill/>
          <a:ln/>
        </p:spPr>
        <p:txBody>
          <a:bodyPr wrap="square" lIns="0" tIns="0" rIns="0" bIns="0" rtlCol="0" anchor="t"/>
          <a:lstStyle/>
          <a:p>
            <a:pPr indent="0" marL="0">
              <a:buNone/>
            </a:pPr>
            <a:r>
              <a:rPr lang="en-US" sz="1700" b="1" dirty="0">
                <a:solidFill>
                  <a:schemeClr val="tx1"/>
                </a:solidFill>
              </a:rPr>
              <a:t>Pierre Madec — </a:t>
            </a:r>
            <a:pPr indent="0" marL="0">
              <a:buNone/>
            </a:pPr>
            <a:r>
              <a:rPr lang="en-US" sz="1700" u="sng" dirty="0">
                <a:solidFill>
                  <a:schemeClr val="tx1"/>
                </a:solidFill>
                <a:hlinkClick r:id="rId3" invalidUrl="" action="" tgtFrame="" tooltip="" history="1" highlightClick="0" endSnd="0">
                  <a:extLst>
                    <a:ext uri="{A12FA001-AC4F-418D-AE19-62706E023703}">
                      <ahyp:hlinkClr xmlns:ahyp="http://schemas.microsoft.com/office/drawing/2018/hyperlinkcolor" val="tx"/>
                    </a:ext>
                  </a:extLst>
                </a:hlinkClick>
              </a:rPr>
              <a:t>« Pauvreté monétaire en France : les causes d'un décrochage inquiétant »</a:t>
            </a:r>
            <a:endParaRPr lang="en-US" sz="1700" dirty="0"/>
          </a:p>
          <a:p>
            <a:pPr indent="0" marL="0">
              <a:buNone/>
            </a:pPr>
            <a:r>
              <a:rPr lang="en-US" sz="1400" dirty="0">
                <a:solidFill>
                  <a:schemeClr val="accent5"/>
                </a:solidFill>
              </a:rPr>
              <a:t>OFCE – Sciences Po, 27 mars 2026</a:t>
            </a:r>
            <a:endParaRPr lang="en-US" sz="1700" dirty="0"/>
          </a:p>
        </p:txBody>
      </p:sp>
      <p:sp>
        <p:nvSpPr>
          <p:cNvPr id="10" name="Shape 8"/>
          <p:cNvSpPr/>
          <p:nvPr/>
        </p:nvSpPr>
        <p:spPr>
          <a:xfrm>
            <a:off x="548640" y="5102352"/>
            <a:ext cx="365760" cy="365760"/>
          </a:xfrm>
          <a:prstGeom prst="ellipse">
            <a:avLst/>
          </a:prstGeom>
          <a:solidFill>
            <a:schemeClr val="tx2"/>
          </a:solidFill>
          <a:ln w="12700">
            <a:solidFill>
              <a:schemeClr val="tx2"/>
            </a:solidFill>
            <a:prstDash val="solid"/>
          </a:ln>
        </p:spPr>
      </p:sp>
      <p:sp>
        <p:nvSpPr>
          <p:cNvPr id="11" name="Text 9"/>
          <p:cNvSpPr txBox="1"/>
          <p:nvPr/>
        </p:nvSpPr>
        <p:spPr>
          <a:xfrm>
            <a:off x="1143000" y="4992624"/>
            <a:ext cx="10424160" cy="868680"/>
          </a:xfrm>
          <a:prstGeom prst="rect">
            <a:avLst/>
          </a:prstGeom>
          <a:noFill/>
          <a:ln/>
        </p:spPr>
        <p:txBody>
          <a:bodyPr wrap="square" lIns="0" tIns="0" rIns="0" bIns="0" rtlCol="0" anchor="t"/>
          <a:lstStyle/>
          <a:p>
            <a:pPr indent="0" marL="0">
              <a:buNone/>
            </a:pPr>
            <a:r>
              <a:rPr lang="en-US" sz="1700" b="1" dirty="0">
                <a:solidFill>
                  <a:schemeClr val="tx1"/>
                </a:solidFill>
              </a:rPr>
              <a:t>Insee — </a:t>
            </a:r>
            <a:pPr indent="0" marL="0">
              <a:buNone/>
            </a:pPr>
            <a:r>
              <a:rPr lang="en-US" sz="1700" u="sng" dirty="0">
                <a:solidFill>
                  <a:schemeClr val="tx1"/>
                </a:solidFill>
                <a:hlinkClick r:id="rId4" invalidUrl="" action="" tgtFrame="" tooltip="" history="1" highlightClick="0" endSnd="0">
                  <a:extLst>
                    <a:ext uri="{A12FA001-AC4F-418D-AE19-62706E023703}">
                      <ahyp:hlinkClr xmlns:ahyp="http://schemas.microsoft.com/office/drawing/2018/hyperlinkcolor" val="tx"/>
                    </a:ext>
                  </a:extLst>
                </a:hlinkClick>
              </a:rPr>
              <a:t>« L'essentiel sur… la pauvreté »</a:t>
            </a:r>
            <a:endParaRPr lang="en-US" sz="1700" dirty="0"/>
          </a:p>
          <a:p>
            <a:pPr indent="0" marL="0">
              <a:buNone/>
            </a:pPr>
            <a:r>
              <a:rPr lang="en-US" sz="1400" dirty="0">
                <a:solidFill>
                  <a:schemeClr val="accent5"/>
                </a:solidFill>
              </a:rPr>
              <a:t>Chiffres de référence</a:t>
            </a:r>
            <a:endParaRPr lang="en-US" sz="17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10698480" cy="1188720"/>
          </a:xfrm>
          <a:prstGeom prst="rect">
            <a:avLst/>
          </a:prstGeom>
          <a:noFill/>
          <a:ln/>
        </p:spPr>
        <p:txBody>
          <a:bodyPr wrap="square" lIns="0" tIns="0" rIns="0" bIns="0" rtlCol="0" anchor="b"/>
          <a:lstStyle/>
          <a:p>
            <a:pPr algn="l" indent="0" marL="0">
              <a:buNone/>
            </a:pPr>
            <a:r>
              <a:rPr lang="en-US" sz="4800" b="1" dirty="0">
                <a:solidFill>
                  <a:schemeClr val="bg1"/>
                </a:solidFill>
                <a:latin typeface="Cambria" pitchFamily="34" charset="0"/>
                <a:ea typeface="Cambria" pitchFamily="34" charset="-122"/>
                <a:cs typeface="Cambria" pitchFamily="34" charset="-120"/>
              </a:rPr>
              <a:t>La taxe Zucman</a:t>
            </a:r>
            <a:endParaRPr lang="en-US" sz="4800" dirty="0"/>
          </a:p>
        </p:txBody>
      </p:sp>
      <p:sp>
        <p:nvSpPr>
          <p:cNvPr id="3" name="Text 0"/>
          <p:cNvSpPr/>
          <p:nvPr>
            <p:ph idx="101" type="body" hasCustomPrompt="1"/>
          </p:nvPr>
        </p:nvSpPr>
        <p:spPr>
          <a:xfrm>
            <a:off x="731520" y="2788920"/>
            <a:ext cx="10698480" cy="731520"/>
          </a:xfrm>
          <a:prstGeom prst="rect">
            <a:avLst/>
          </a:prstGeom>
          <a:noFill/>
          <a:ln/>
        </p:spPr>
        <p:txBody>
          <a:bodyPr wrap="square" lIns="0" tIns="0" rIns="0" bIns="0" rtlCol="0" anchor="t"/>
          <a:lstStyle/>
          <a:p>
            <a:pPr indent="0" marL="0">
              <a:buNone/>
            </a:pPr>
            <a:r>
              <a:rPr lang="en-US" sz="2400" dirty="0">
                <a:solidFill>
                  <a:schemeClr val="accent6"/>
                </a:solidFill>
                <a:latin typeface="Calibri" pitchFamily="34" charset="0"/>
                <a:ea typeface="Calibri" pitchFamily="34" charset="-122"/>
                <a:cs typeface="Calibri" pitchFamily="34" charset="-120"/>
              </a:rPr>
              <a:t>Faut-il taxer davantage les ultra-riches ?</a:t>
            </a:r>
            <a:endParaRPr lang="en-US" sz="2400" dirty="0"/>
          </a:p>
        </p:txBody>
      </p:sp>
      <p:sp>
        <p:nvSpPr>
          <p:cNvPr id="4" name="Text 2"/>
          <p:cNvSpPr txBox="1"/>
          <p:nvPr/>
        </p:nvSpPr>
        <p:spPr>
          <a:xfrm>
            <a:off x="731520" y="4069080"/>
            <a:ext cx="10698480" cy="365760"/>
          </a:xfrm>
          <a:prstGeom prst="rect">
            <a:avLst/>
          </a:prstGeom>
          <a:noFill/>
          <a:ln/>
        </p:spPr>
        <p:txBody>
          <a:bodyPr wrap="square" lIns="0" tIns="0" rIns="0" bIns="0" rtlCol="0" anchor="ctr"/>
          <a:lstStyle/>
          <a:p>
            <a:pPr indent="0" marL="0">
              <a:buNone/>
            </a:pPr>
            <a:r>
              <a:rPr lang="en-US" sz="1600" dirty="0">
                <a:solidFill>
                  <a:schemeClr val="accent6"/>
                </a:solidFill>
              </a:rPr>
              <a:t>Trois positions sur l'impôt minimum de 2 % sur les très grandes fortunes</a:t>
            </a:r>
            <a:endParaRPr lang="en-US" sz="1600" dirty="0"/>
          </a:p>
        </p:txBody>
      </p:sp>
      <p:sp>
        <p:nvSpPr>
          <p:cNvPr id="5" name="Position 1"/>
          <p:cNvSpPr txBox="1"/>
          <p:nvPr/>
        </p:nvSpPr>
        <p:spPr>
          <a:xfrm>
            <a:off x="731520" y="4572000"/>
            <a:ext cx="3200400" cy="548640"/>
          </a:xfrm>
          <a:prstGeom prst="roundRect">
            <a:avLst>
              <a:gd name="adj" fmla="val 50000"/>
            </a:avLst>
          </a:prstGeom>
          <a:solidFill>
            <a:schemeClr val="accent1"/>
          </a:solidFill>
          <a:ln/>
        </p:spPr>
        <p:txBody>
          <a:bodyPr wrap="square" lIns="0" tIns="0" rIns="0" bIns="0" rtlCol="0" anchor="ctr"/>
          <a:lstStyle/>
          <a:p>
            <a:pPr algn="ctr" indent="0" marL="0">
              <a:buNone/>
            </a:pPr>
            <a:r>
              <a:rPr lang="en-US" sz="1600" b="1" dirty="0">
                <a:solidFill>
                  <a:schemeClr val="bg1"/>
                </a:solidFill>
              </a:rPr>
              <a:t>Pour · Zucman, Oxfam</a:t>
            </a:r>
            <a:endParaRPr lang="en-US" sz="1600" dirty="0"/>
          </a:p>
        </p:txBody>
      </p:sp>
      <p:sp>
        <p:nvSpPr>
          <p:cNvPr id="6" name="Position 2"/>
          <p:cNvSpPr txBox="1"/>
          <p:nvPr/>
        </p:nvSpPr>
        <p:spPr>
          <a:xfrm>
            <a:off x="4160520" y="4572000"/>
            <a:ext cx="3200400" cy="548640"/>
          </a:xfrm>
          <a:prstGeom prst="roundRect">
            <a:avLst>
              <a:gd name="adj" fmla="val 50000"/>
            </a:avLst>
          </a:prstGeom>
          <a:solidFill>
            <a:schemeClr val="accent3"/>
          </a:solidFill>
          <a:ln/>
        </p:spPr>
        <p:txBody>
          <a:bodyPr wrap="square" lIns="0" tIns="0" rIns="0" bIns="0" rtlCol="0" anchor="ctr"/>
          <a:lstStyle/>
          <a:p>
            <a:pPr algn="ctr" indent="0" marL="0">
              <a:buNone/>
            </a:pPr>
            <a:r>
              <a:rPr lang="en-US" sz="1600" b="1" dirty="0">
                <a:solidFill>
                  <a:schemeClr val="bg1"/>
                </a:solidFill>
              </a:rPr>
              <a:t>Milieu · OFCE</a:t>
            </a:r>
            <a:endParaRPr lang="en-US" sz="1600" dirty="0"/>
          </a:p>
        </p:txBody>
      </p:sp>
      <p:sp>
        <p:nvSpPr>
          <p:cNvPr id="7" name="Position 3"/>
          <p:cNvSpPr txBox="1"/>
          <p:nvPr/>
        </p:nvSpPr>
        <p:spPr>
          <a:xfrm>
            <a:off x="7589520" y="4572000"/>
            <a:ext cx="3200400" cy="548640"/>
          </a:xfrm>
          <a:prstGeom prst="roundRect">
            <a:avLst>
              <a:gd name="adj" fmla="val 50000"/>
            </a:avLst>
          </a:prstGeom>
          <a:solidFill>
            <a:schemeClr val="accent2"/>
          </a:solidFill>
          <a:ln/>
        </p:spPr>
        <p:txBody>
          <a:bodyPr wrap="square" lIns="0" tIns="0" rIns="0" bIns="0" rtlCol="0" anchor="ctr"/>
          <a:lstStyle/>
          <a:p>
            <a:pPr algn="ctr" indent="0" marL="0">
              <a:buNone/>
            </a:pPr>
            <a:r>
              <a:rPr lang="en-US" sz="1600" b="1" dirty="0">
                <a:solidFill>
                  <a:schemeClr val="bg1"/>
                </a:solidFill>
              </a:rPr>
              <a:t>Contre · Fondapol, IFRAP</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Étiquette"/>
          <p:cNvSpPr txBox="1"/>
          <p:nvPr/>
        </p:nvSpPr>
        <p:spPr>
          <a:xfrm>
            <a:off x="548640" y="256032"/>
            <a:ext cx="1664208" cy="310896"/>
          </a:xfrm>
          <a:prstGeom prst="roundRect">
            <a:avLst>
              <a:gd name="adj" fmla="val 50000"/>
            </a:avLst>
          </a:prstGeom>
          <a:solidFill>
            <a:schemeClr val="tx2"/>
          </a:solidFill>
          <a:ln/>
        </p:spPr>
        <p:txBody>
          <a:bodyPr wrap="square" lIns="0" tIns="0" rIns="0" bIns="0" rtlCol="0" anchor="ctr"/>
          <a:lstStyle/>
          <a:p>
            <a:pPr algn="ctr" indent="0" marL="0">
              <a:buNone/>
            </a:pPr>
            <a:r>
              <a:rPr lang="en-US" sz="1200" b="1" spc="100" kern="0" dirty="0">
                <a:solidFill>
                  <a:schemeClr val="bg1"/>
                </a:solidFill>
              </a:rPr>
              <a:t>INTRODUCTION</a:t>
            </a:r>
            <a:endParaRPr lang="en-US" sz="1200" dirty="0"/>
          </a:p>
        </p:txBody>
      </p:sp>
      <p:sp>
        <p:nvSpPr>
          <p:cNvPr id="3" name="Text 0"/>
          <p:cNvSpPr/>
          <p:nvPr>
            <p:ph idx="100" type="title" hasCustomPrompt="1"/>
          </p:nvPr>
        </p:nvSpPr>
        <p:spPr>
          <a:xfrm>
            <a:off x="548640" y="658368"/>
            <a:ext cx="11064240" cy="73152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Qu'est-ce que la taxe Zucman ?</a:t>
            </a:r>
            <a:endParaRPr lang="en-US" sz="3400" dirty="0"/>
          </a:p>
        </p:txBody>
      </p:sp>
      <p:sp>
        <p:nvSpPr>
          <p:cNvPr id="4" name="Chiffre clé"/>
          <p:cNvSpPr/>
          <p:nvPr/>
        </p:nvSpPr>
        <p:spPr>
          <a:xfrm>
            <a:off x="548640" y="1600200"/>
            <a:ext cx="3566160" cy="1920240"/>
          </a:xfrm>
          <a:prstGeom prst="roundRect">
            <a:avLst>
              <a:gd name="adj" fmla="val 3810"/>
            </a:avLst>
          </a:prstGeom>
          <a:solidFill>
            <a:schemeClr val="bg2"/>
          </a:solidFill>
          <a:ln w="12700">
            <a:solidFill>
              <a:schemeClr val="bg2"/>
            </a:solidFill>
            <a:prstDash val="solid"/>
          </a:ln>
        </p:spPr>
      </p:sp>
      <p:sp>
        <p:nvSpPr>
          <p:cNvPr id="5" name="Text 3"/>
          <p:cNvSpPr txBox="1"/>
          <p:nvPr/>
        </p:nvSpPr>
        <p:spPr>
          <a:xfrm>
            <a:off x="822960" y="1783080"/>
            <a:ext cx="3017520" cy="731520"/>
          </a:xfrm>
          <a:prstGeom prst="rect">
            <a:avLst/>
          </a:prstGeom>
          <a:noFill/>
          <a:ln/>
        </p:spPr>
        <p:txBody>
          <a:bodyPr wrap="square" lIns="0" tIns="0" rIns="0" bIns="0" rtlCol="0" anchor="b"/>
          <a:lstStyle/>
          <a:p>
            <a:pPr indent="0" marL="0">
              <a:buNone/>
            </a:pPr>
            <a:r>
              <a:rPr lang="en-US" sz="4000" b="1" dirty="0">
                <a:solidFill>
                  <a:schemeClr val="tx2"/>
                </a:solidFill>
                <a:latin typeface="Cambria" pitchFamily="34" charset="0"/>
                <a:ea typeface="Cambria" pitchFamily="34" charset="-122"/>
                <a:cs typeface="Cambria" pitchFamily="34" charset="-120"/>
              </a:rPr>
              <a:t>2 %</a:t>
            </a:r>
            <a:endParaRPr lang="en-US" sz="4000" dirty="0"/>
          </a:p>
        </p:txBody>
      </p:sp>
      <p:sp>
        <p:nvSpPr>
          <p:cNvPr id="6" name="Text 4"/>
          <p:cNvSpPr txBox="1"/>
          <p:nvPr/>
        </p:nvSpPr>
        <p:spPr>
          <a:xfrm>
            <a:off x="822960" y="2560320"/>
            <a:ext cx="3017520" cy="822960"/>
          </a:xfrm>
          <a:prstGeom prst="rect">
            <a:avLst/>
          </a:prstGeom>
          <a:noFill/>
          <a:ln/>
        </p:spPr>
        <p:txBody>
          <a:bodyPr wrap="square" lIns="0" tIns="0" rIns="0" bIns="0" rtlCol="0" anchor="t"/>
          <a:lstStyle/>
          <a:p>
            <a:pPr indent="0" marL="0">
              <a:buNone/>
            </a:pPr>
            <a:r>
              <a:rPr lang="en-US" sz="1400" dirty="0">
                <a:solidFill>
                  <a:schemeClr val="accent5"/>
                </a:solidFill>
              </a:rPr>
              <a:t>impôt minimum sur le patrimoine net</a:t>
            </a:r>
            <a:endParaRPr lang="en-US" sz="1400" dirty="0"/>
          </a:p>
        </p:txBody>
      </p:sp>
      <p:sp>
        <p:nvSpPr>
          <p:cNvPr id="7" name="Chiffre clé"/>
          <p:cNvSpPr/>
          <p:nvPr/>
        </p:nvSpPr>
        <p:spPr>
          <a:xfrm>
            <a:off x="4297680" y="1600200"/>
            <a:ext cx="3566160" cy="1920240"/>
          </a:xfrm>
          <a:prstGeom prst="roundRect">
            <a:avLst>
              <a:gd name="adj" fmla="val 3810"/>
            </a:avLst>
          </a:prstGeom>
          <a:solidFill>
            <a:schemeClr val="bg2"/>
          </a:solidFill>
          <a:ln w="12700">
            <a:solidFill>
              <a:schemeClr val="bg2"/>
            </a:solidFill>
            <a:prstDash val="solid"/>
          </a:ln>
        </p:spPr>
      </p:sp>
      <p:sp>
        <p:nvSpPr>
          <p:cNvPr id="8" name="Text 6"/>
          <p:cNvSpPr txBox="1"/>
          <p:nvPr/>
        </p:nvSpPr>
        <p:spPr>
          <a:xfrm>
            <a:off x="4572000" y="1783080"/>
            <a:ext cx="3017520" cy="731520"/>
          </a:xfrm>
          <a:prstGeom prst="rect">
            <a:avLst/>
          </a:prstGeom>
          <a:noFill/>
          <a:ln/>
        </p:spPr>
        <p:txBody>
          <a:bodyPr wrap="square" lIns="0" tIns="0" rIns="0" bIns="0" rtlCol="0" anchor="b"/>
          <a:lstStyle/>
          <a:p>
            <a:pPr indent="0" marL="0">
              <a:buNone/>
            </a:pPr>
            <a:r>
              <a:rPr lang="en-US" sz="4000" b="1" dirty="0">
                <a:solidFill>
                  <a:schemeClr val="tx2"/>
                </a:solidFill>
                <a:latin typeface="Cambria" pitchFamily="34" charset="0"/>
                <a:ea typeface="Cambria" pitchFamily="34" charset="-122"/>
                <a:cs typeface="Cambria" pitchFamily="34" charset="-120"/>
              </a:rPr>
              <a:t>100 M€</a:t>
            </a:r>
            <a:endParaRPr lang="en-US" sz="4000" dirty="0"/>
          </a:p>
        </p:txBody>
      </p:sp>
      <p:sp>
        <p:nvSpPr>
          <p:cNvPr id="9" name="Text 7"/>
          <p:cNvSpPr txBox="1"/>
          <p:nvPr/>
        </p:nvSpPr>
        <p:spPr>
          <a:xfrm>
            <a:off x="4572000" y="2560320"/>
            <a:ext cx="3017520" cy="822960"/>
          </a:xfrm>
          <a:prstGeom prst="rect">
            <a:avLst/>
          </a:prstGeom>
          <a:noFill/>
          <a:ln/>
        </p:spPr>
        <p:txBody>
          <a:bodyPr wrap="square" lIns="0" tIns="0" rIns="0" bIns="0" rtlCol="0" anchor="t"/>
          <a:lstStyle/>
          <a:p>
            <a:pPr indent="0" marL="0">
              <a:buNone/>
            </a:pPr>
            <a:r>
              <a:rPr lang="en-US" sz="1400" dirty="0">
                <a:solidFill>
                  <a:schemeClr val="accent5"/>
                </a:solidFill>
              </a:rPr>
              <a:t>seuil de patrimoine à partir duquel la taxe s'applique</a:t>
            </a:r>
            <a:endParaRPr lang="en-US" sz="1400" dirty="0"/>
          </a:p>
        </p:txBody>
      </p:sp>
      <p:sp>
        <p:nvSpPr>
          <p:cNvPr id="10" name="Chiffre clé"/>
          <p:cNvSpPr/>
          <p:nvPr/>
        </p:nvSpPr>
        <p:spPr>
          <a:xfrm>
            <a:off x="8046720" y="1600200"/>
            <a:ext cx="3566160" cy="1920240"/>
          </a:xfrm>
          <a:prstGeom prst="roundRect">
            <a:avLst>
              <a:gd name="adj" fmla="val 3810"/>
            </a:avLst>
          </a:prstGeom>
          <a:solidFill>
            <a:schemeClr val="bg2"/>
          </a:solidFill>
          <a:ln w="12700">
            <a:solidFill>
              <a:schemeClr val="bg2"/>
            </a:solidFill>
            <a:prstDash val="solid"/>
          </a:ln>
        </p:spPr>
      </p:sp>
      <p:sp>
        <p:nvSpPr>
          <p:cNvPr id="11" name="Text 9"/>
          <p:cNvSpPr txBox="1"/>
          <p:nvPr/>
        </p:nvSpPr>
        <p:spPr>
          <a:xfrm>
            <a:off x="8321040" y="1783080"/>
            <a:ext cx="3017520" cy="731520"/>
          </a:xfrm>
          <a:prstGeom prst="rect">
            <a:avLst/>
          </a:prstGeom>
          <a:noFill/>
          <a:ln/>
        </p:spPr>
        <p:txBody>
          <a:bodyPr wrap="square" lIns="0" tIns="0" rIns="0" bIns="0" rtlCol="0" anchor="b"/>
          <a:lstStyle/>
          <a:p>
            <a:pPr indent="0" marL="0">
              <a:buNone/>
            </a:pPr>
            <a:r>
              <a:rPr lang="en-US" sz="4000" b="1" dirty="0">
                <a:solidFill>
                  <a:schemeClr val="tx2"/>
                </a:solidFill>
                <a:latin typeface="Cambria" pitchFamily="34" charset="0"/>
                <a:ea typeface="Cambria" pitchFamily="34" charset="-122"/>
                <a:cs typeface="Cambria" pitchFamily="34" charset="-120"/>
              </a:rPr>
              <a:t>≈ 1 800</a:t>
            </a:r>
            <a:endParaRPr lang="en-US" sz="4000" dirty="0"/>
          </a:p>
        </p:txBody>
      </p:sp>
      <p:sp>
        <p:nvSpPr>
          <p:cNvPr id="12" name="Text 10"/>
          <p:cNvSpPr txBox="1"/>
          <p:nvPr/>
        </p:nvSpPr>
        <p:spPr>
          <a:xfrm>
            <a:off x="8321040" y="2560320"/>
            <a:ext cx="3017520" cy="822960"/>
          </a:xfrm>
          <a:prstGeom prst="rect">
            <a:avLst/>
          </a:prstGeom>
          <a:noFill/>
          <a:ln/>
        </p:spPr>
        <p:txBody>
          <a:bodyPr wrap="square" lIns="0" tIns="0" rIns="0" bIns="0" rtlCol="0" anchor="t"/>
          <a:lstStyle/>
          <a:p>
            <a:pPr indent="0" marL="0">
              <a:buNone/>
            </a:pPr>
            <a:r>
              <a:rPr lang="en-US" sz="1400" dirty="0">
                <a:solidFill>
                  <a:schemeClr val="accent5"/>
                </a:solidFill>
              </a:rPr>
              <a:t>foyers fiscaux concernés en France</a:t>
            </a:r>
            <a:endParaRPr lang="en-US" sz="1400" dirty="0"/>
          </a:p>
        </p:txBody>
      </p:sp>
      <p:sp>
        <p:nvSpPr>
          <p:cNvPr id="13" name="Carte calcul"/>
          <p:cNvSpPr/>
          <p:nvPr/>
        </p:nvSpPr>
        <p:spPr>
          <a:xfrm>
            <a:off x="548640" y="3749040"/>
            <a:ext cx="11064240" cy="1417320"/>
          </a:xfrm>
          <a:prstGeom prst="roundRect">
            <a:avLst>
              <a:gd name="adj" fmla="val 5161"/>
            </a:avLst>
          </a:prstGeom>
          <a:solidFill>
            <a:schemeClr val="bg2"/>
          </a:solidFill>
          <a:ln w="12700">
            <a:solidFill>
              <a:schemeClr val="bg2"/>
            </a:solidFill>
            <a:prstDash val="solid"/>
          </a:ln>
        </p:spPr>
      </p:sp>
      <p:sp>
        <p:nvSpPr>
          <p:cNvPr id="14" name="Text 12"/>
          <p:cNvSpPr txBox="1"/>
          <p:nvPr/>
        </p:nvSpPr>
        <p:spPr>
          <a:xfrm>
            <a:off x="822960" y="3886200"/>
            <a:ext cx="3657600" cy="320040"/>
          </a:xfrm>
          <a:prstGeom prst="rect">
            <a:avLst/>
          </a:prstGeom>
          <a:noFill/>
          <a:ln/>
        </p:spPr>
        <p:txBody>
          <a:bodyPr wrap="square" lIns="0" tIns="0" rIns="0" bIns="0" rtlCol="0" anchor="ctr"/>
          <a:lstStyle/>
          <a:p>
            <a:pPr indent="0" marL="0">
              <a:buNone/>
            </a:pPr>
            <a:r>
              <a:rPr lang="en-US" sz="1500" b="1" dirty="0">
                <a:solidFill>
                  <a:schemeClr val="tx2"/>
                </a:solidFill>
              </a:rPr>
              <a:t>Comment ça marche ?</a:t>
            </a:r>
            <a:endParaRPr lang="en-US" sz="1500" dirty="0"/>
          </a:p>
        </p:txBody>
      </p:sp>
      <p:sp>
        <p:nvSpPr>
          <p:cNvPr id="15" name="Text 13"/>
          <p:cNvSpPr txBox="1"/>
          <p:nvPr/>
        </p:nvSpPr>
        <p:spPr>
          <a:xfrm>
            <a:off x="822960" y="4343400"/>
            <a:ext cx="3063240" cy="594360"/>
          </a:xfrm>
          <a:prstGeom prst="roundRect">
            <a:avLst>
              <a:gd name="adj" fmla="val 12308"/>
            </a:avLst>
          </a:prstGeom>
          <a:solidFill>
            <a:schemeClr val="bg1"/>
          </a:solidFill>
          <a:ln>
            <a:solidFill>
              <a:schemeClr val="accent4"/>
            </a:solidFill>
          </a:ln>
        </p:spPr>
        <p:txBody>
          <a:bodyPr wrap="square" lIns="0" tIns="0" rIns="0" bIns="0" rtlCol="0" anchor="ctr"/>
          <a:lstStyle/>
          <a:p>
            <a:pPr algn="ctr" indent="0" marL="0">
              <a:buNone/>
            </a:pPr>
            <a:r>
              <a:rPr lang="en-US" sz="1600" b="1" dirty="0">
                <a:solidFill>
                  <a:schemeClr val="tx1"/>
                </a:solidFill>
              </a:rPr>
              <a:t>2 % du patrimoine</a:t>
            </a:r>
            <a:endParaRPr lang="en-US" sz="1600" dirty="0"/>
          </a:p>
        </p:txBody>
      </p:sp>
      <p:sp>
        <p:nvSpPr>
          <p:cNvPr id="16" name="Text 14"/>
          <p:cNvSpPr txBox="1"/>
          <p:nvPr/>
        </p:nvSpPr>
        <p:spPr>
          <a:xfrm>
            <a:off x="3886200" y="4343400"/>
            <a:ext cx="640080" cy="594360"/>
          </a:xfrm>
          <a:prstGeom prst="rect">
            <a:avLst/>
          </a:prstGeom>
          <a:noFill/>
          <a:ln/>
        </p:spPr>
        <p:txBody>
          <a:bodyPr wrap="square" lIns="0" tIns="0" rIns="0" bIns="0" rtlCol="0" anchor="ctr"/>
          <a:lstStyle/>
          <a:p>
            <a:pPr algn="ctr" indent="0" marL="0">
              <a:buNone/>
            </a:pPr>
            <a:r>
              <a:rPr lang="en-US" sz="2800" b="1" dirty="0">
                <a:solidFill>
                  <a:schemeClr val="tx2"/>
                </a:solidFill>
              </a:rPr>
              <a:t>−</a:t>
            </a:r>
            <a:endParaRPr lang="en-US" sz="2800" dirty="0"/>
          </a:p>
        </p:txBody>
      </p:sp>
      <p:sp>
        <p:nvSpPr>
          <p:cNvPr id="17" name="Text 15"/>
          <p:cNvSpPr txBox="1"/>
          <p:nvPr/>
        </p:nvSpPr>
        <p:spPr>
          <a:xfrm>
            <a:off x="4526280" y="4343400"/>
            <a:ext cx="3063240" cy="594360"/>
          </a:xfrm>
          <a:prstGeom prst="roundRect">
            <a:avLst>
              <a:gd name="adj" fmla="val 12308"/>
            </a:avLst>
          </a:prstGeom>
          <a:solidFill>
            <a:schemeClr val="bg1"/>
          </a:solidFill>
          <a:ln>
            <a:solidFill>
              <a:schemeClr val="accent4"/>
            </a:solidFill>
          </a:ln>
        </p:spPr>
        <p:txBody>
          <a:bodyPr wrap="square" lIns="0" tIns="0" rIns="0" bIns="0" rtlCol="0" anchor="ctr"/>
          <a:lstStyle/>
          <a:p>
            <a:pPr algn="ctr" indent="0" marL="0">
              <a:buNone/>
            </a:pPr>
            <a:r>
              <a:rPr lang="en-US" sz="1600" b="1" dirty="0">
                <a:solidFill>
                  <a:schemeClr val="tx1"/>
                </a:solidFill>
              </a:rPr>
              <a:t>impôts déjà payés</a:t>
            </a:r>
            <a:endParaRPr lang="en-US" sz="1600" dirty="0"/>
          </a:p>
        </p:txBody>
      </p:sp>
      <p:sp>
        <p:nvSpPr>
          <p:cNvPr id="18" name="Text 16"/>
          <p:cNvSpPr txBox="1"/>
          <p:nvPr/>
        </p:nvSpPr>
        <p:spPr>
          <a:xfrm>
            <a:off x="7589520" y="4343400"/>
            <a:ext cx="640080" cy="594360"/>
          </a:xfrm>
          <a:prstGeom prst="rect">
            <a:avLst/>
          </a:prstGeom>
          <a:noFill/>
          <a:ln/>
        </p:spPr>
        <p:txBody>
          <a:bodyPr wrap="square" lIns="0" tIns="0" rIns="0" bIns="0" rtlCol="0" anchor="ctr"/>
          <a:lstStyle/>
          <a:p>
            <a:pPr algn="ctr" indent="0" marL="0">
              <a:buNone/>
            </a:pPr>
            <a:r>
              <a:rPr lang="en-US" sz="2800" b="1" dirty="0">
                <a:solidFill>
                  <a:schemeClr val="tx2"/>
                </a:solidFill>
              </a:rPr>
              <a:t>=</a:t>
            </a:r>
            <a:endParaRPr lang="en-US" sz="2800" dirty="0"/>
          </a:p>
        </p:txBody>
      </p:sp>
      <p:sp>
        <p:nvSpPr>
          <p:cNvPr id="19" name="Text 17"/>
          <p:cNvSpPr txBox="1"/>
          <p:nvPr/>
        </p:nvSpPr>
        <p:spPr>
          <a:xfrm>
            <a:off x="8229600" y="4343400"/>
            <a:ext cx="3063240" cy="594360"/>
          </a:xfrm>
          <a:prstGeom prst="roundRect">
            <a:avLst>
              <a:gd name="adj" fmla="val 12308"/>
            </a:avLst>
          </a:prstGeom>
          <a:solidFill>
            <a:schemeClr val="bg1"/>
          </a:solidFill>
          <a:ln>
            <a:solidFill>
              <a:schemeClr val="accent4"/>
            </a:solidFill>
          </a:ln>
        </p:spPr>
        <p:txBody>
          <a:bodyPr wrap="square" lIns="0" tIns="0" rIns="0" bIns="0" rtlCol="0" anchor="ctr"/>
          <a:lstStyle/>
          <a:p>
            <a:pPr algn="ctr" indent="0" marL="0">
              <a:buNone/>
            </a:pPr>
            <a:r>
              <a:rPr lang="en-US" sz="1600" b="1" dirty="0">
                <a:solidFill>
                  <a:schemeClr val="tx1"/>
                </a:solidFill>
              </a:rPr>
              <a:t>complément à payer (si positif)</a:t>
            </a:r>
            <a:endParaRPr lang="en-US" sz="1600" dirty="0"/>
          </a:p>
        </p:txBody>
      </p:sp>
      <p:sp>
        <p:nvSpPr>
          <p:cNvPr id="20" name="Text 18"/>
          <p:cNvSpPr txBox="1"/>
          <p:nvPr/>
        </p:nvSpPr>
        <p:spPr>
          <a:xfrm>
            <a:off x="548640" y="5349240"/>
            <a:ext cx="11064240" cy="457200"/>
          </a:xfrm>
          <a:prstGeom prst="rect">
            <a:avLst/>
          </a:prstGeom>
          <a:noFill/>
          <a:ln/>
        </p:spPr>
        <p:txBody>
          <a:bodyPr wrap="square" lIns="0" tIns="0" rIns="0" bIns="0" rtlCol="0" anchor="ctr"/>
          <a:lstStyle/>
          <a:p>
            <a:pPr indent="0" marL="0">
              <a:buNone/>
            </a:pPr>
            <a:r>
              <a:rPr lang="en-US" sz="1600" b="1" dirty="0">
                <a:solidFill>
                  <a:schemeClr val="tx2"/>
                </a:solidFill>
              </a:rPr>
              <a:t>Pourquoi ? </a:t>
            </a:r>
            <a:pPr indent="0" marL="0">
              <a:buNone/>
            </a:pPr>
            <a:r>
              <a:rPr lang="en-US" sz="1600" dirty="0">
                <a:solidFill>
                  <a:schemeClr val="tx1"/>
                </a:solidFill>
              </a:rPr>
              <a:t>Selon Zucman, à cause de l'optimisation fiscale (revenus laissés dans des holdings), les plus riches paient proportionnellement moins d'impôts.</a:t>
            </a:r>
            <a:endParaRPr lang="en-US" sz="1600" dirty="0"/>
          </a:p>
        </p:txBody>
      </p:sp>
      <p:sp>
        <p:nvSpPr>
          <p:cNvPr id="21" name="Text 19"/>
          <p:cNvSpPr txBox="1"/>
          <p:nvPr/>
        </p:nvSpPr>
        <p:spPr>
          <a:xfrm>
            <a:off x="548640" y="5833872"/>
            <a:ext cx="11064240" cy="365760"/>
          </a:xfrm>
          <a:prstGeom prst="rect">
            <a:avLst/>
          </a:prstGeom>
          <a:noFill/>
          <a:ln/>
        </p:spPr>
        <p:txBody>
          <a:bodyPr wrap="square" lIns="0" tIns="0" rIns="0" bIns="0" rtlCol="0" anchor="ctr"/>
          <a:lstStyle/>
          <a:p>
            <a:pPr indent="0" marL="0">
              <a:buNone/>
            </a:pPr>
            <a:r>
              <a:rPr lang="en-US" sz="1600" b="1" dirty="0">
                <a:solidFill>
                  <a:schemeClr val="tx2"/>
                </a:solidFill>
              </a:rPr>
              <a:t>16 octobre 2026 : </a:t>
            </a:r>
            <a:pPr indent="0" marL="0">
              <a:buNone/>
            </a:pPr>
            <a:r>
              <a:rPr lang="en-US" sz="1600" dirty="0">
                <a:solidFill>
                  <a:schemeClr val="tx1"/>
                </a:solidFill>
              </a:rPr>
              <a:t>l'Assemblée nationale rejette la taxe pendant l'examen du budget 2027.</a:t>
            </a:r>
            <a:endParaRPr lang="en-US" sz="1600" dirty="0"/>
          </a:p>
        </p:txBody>
      </p:sp>
      <p:sp>
        <p:nvSpPr>
          <p:cNvPr id="22" name="Source"/>
          <p:cNvSpPr txBox="1"/>
          <p:nvPr/>
        </p:nvSpPr>
        <p:spPr>
          <a:xfrm>
            <a:off x="548640" y="6355080"/>
            <a:ext cx="10424160" cy="274320"/>
          </a:xfrm>
          <a:prstGeom prst="rect">
            <a:avLst/>
          </a:prstGeom>
          <a:noFill/>
          <a:ln/>
        </p:spPr>
        <p:txBody>
          <a:bodyPr wrap="square" lIns="0" tIns="0" rIns="0" bIns="0" rtlCol="0" anchor="ctr"/>
          <a:lstStyle/>
          <a:p>
            <a:pPr indent="0" marL="0">
              <a:buNone/>
            </a:pPr>
            <a:r>
              <a:rPr lang="en-US" sz="1000" dirty="0">
                <a:solidFill>
                  <a:schemeClr val="accent5"/>
                </a:solidFill>
              </a:rPr>
              <a:t>Source : France 24 / AFP (16/10/2026) ; LCP (02/10/2026)</a:t>
            </a:r>
            <a:endParaRPr lang="en-US" sz="10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Étiquette"/>
          <p:cNvSpPr txBox="1"/>
          <p:nvPr/>
        </p:nvSpPr>
        <p:spPr>
          <a:xfrm>
            <a:off x="548640" y="256032"/>
            <a:ext cx="2167128" cy="310896"/>
          </a:xfrm>
          <a:prstGeom prst="roundRect">
            <a:avLst>
              <a:gd name="adj" fmla="val 50000"/>
            </a:avLst>
          </a:prstGeom>
          <a:solidFill>
            <a:schemeClr val="accent1"/>
          </a:solidFill>
          <a:ln/>
        </p:spPr>
        <p:txBody>
          <a:bodyPr wrap="square" lIns="0" tIns="0" rIns="0" bIns="0" rtlCol="0" anchor="ctr"/>
          <a:lstStyle/>
          <a:p>
            <a:pPr algn="ctr" indent="0" marL="0">
              <a:buNone/>
            </a:pPr>
            <a:r>
              <a:rPr lang="en-US" sz="1200" b="1" spc="100" kern="0" dirty="0">
                <a:solidFill>
                  <a:schemeClr val="bg1"/>
                </a:solidFill>
              </a:rPr>
              <a:t>POSITION 1 · POUR</a:t>
            </a:r>
            <a:endParaRPr lang="en-US" sz="1200" dirty="0"/>
          </a:p>
        </p:txBody>
      </p:sp>
      <p:sp>
        <p:nvSpPr>
          <p:cNvPr id="3" name="Text 0"/>
          <p:cNvSpPr/>
          <p:nvPr>
            <p:ph idx="100" type="title" hasCustomPrompt="1"/>
          </p:nvPr>
        </p:nvSpPr>
        <p:spPr>
          <a:xfrm>
            <a:off x="548640" y="658368"/>
            <a:ext cx="11064240" cy="73152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 Les milliardaires paient moins que les autres »</a:t>
            </a:r>
            <a:endParaRPr lang="en-US" sz="3400" dirty="0"/>
          </a:p>
        </p:txBody>
      </p:sp>
      <p:sp>
        <p:nvSpPr>
          <p:cNvPr id="4" name="Auteur"/>
          <p:cNvSpPr txBox="1"/>
          <p:nvPr/>
        </p:nvSpPr>
        <p:spPr>
          <a:xfrm>
            <a:off x="548640" y="1572768"/>
            <a:ext cx="11064240" cy="329184"/>
          </a:xfrm>
          <a:prstGeom prst="rect">
            <a:avLst/>
          </a:prstGeom>
          <a:noFill/>
          <a:ln/>
        </p:spPr>
        <p:txBody>
          <a:bodyPr wrap="square" lIns="0" tIns="0" rIns="0" bIns="0" rtlCol="0" anchor="ctr"/>
          <a:lstStyle/>
          <a:p>
            <a:pPr indent="0" marL="0">
              <a:buNone/>
            </a:pPr>
            <a:r>
              <a:rPr lang="en-US" sz="1500" i="1" dirty="0">
                <a:solidFill>
                  <a:schemeClr val="accent5"/>
                </a:solidFill>
              </a:rPr>
              <a:t>Gabriel Zucman (LCP) et Oxfam (Reporterre), octobre 2026</a:t>
            </a:r>
            <a:endParaRPr lang="en-US" sz="1500" dirty="0"/>
          </a:p>
        </p:txBody>
      </p:sp>
      <p:sp>
        <p:nvSpPr>
          <p:cNvPr id="5" name="Text 3"/>
          <p:cNvSpPr txBox="1"/>
          <p:nvPr/>
        </p:nvSpPr>
        <p:spPr>
          <a:xfrm>
            <a:off x="548640" y="2103120"/>
            <a:ext cx="5120640" cy="3931920"/>
          </a:xfrm>
          <a:prstGeom prst="rect">
            <a:avLst/>
          </a:prstGeom>
          <a:noFill/>
          <a:ln/>
        </p:spPr>
        <p:txBody>
          <a:bodyPr wrap="square" lIns="0" tIns="0" rIns="0" bIns="0" rtlCol="0" anchor="t"/>
          <a:lstStyle/>
          <a:p>
            <a:pPr marL="228600" indent="-228600">
              <a:spcAft>
                <a:spcPts val="1000"/>
              </a:spcAft>
              <a:buSzPct val="100000"/>
              <a:buChar char="•"/>
            </a:pPr>
            <a:r>
              <a:rPr lang="en-US" sz="1700" b="1" dirty="0">
                <a:solidFill>
                  <a:schemeClr val="tx1"/>
                </a:solidFill>
              </a:rPr>
              <a:t>« Un problème de recettes », </a:t>
            </a:r>
            <a:pPr indent="0" marL="0">
              <a:buNone/>
            </a:pPr>
            <a:r>
              <a:rPr lang="en-US" sz="1700" dirty="0">
                <a:solidFill>
                  <a:schemeClr val="tx1"/>
                </a:solidFill>
              </a:rPr>
              <a:t>pas de dépenses</a:t>
            </a:r>
            <a:endParaRPr lang="en-US" sz="1700" dirty="0"/>
          </a:p>
          <a:p>
            <a:pPr marL="228600" indent="-228600">
              <a:spcAft>
                <a:spcPts val="1000"/>
              </a:spcAft>
              <a:buSzPct val="100000"/>
              <a:buChar char="•"/>
            </a:pPr>
            <a:r>
              <a:rPr lang="en-US" sz="1700" b="1" dirty="0">
                <a:solidFill>
                  <a:schemeClr val="tx1"/>
                </a:solidFill>
              </a:rPr>
              <a:t>Les milliardaires </a:t>
            </a:r>
            <a:pPr indent="0" marL="0">
              <a:buNone/>
            </a:pPr>
            <a:r>
              <a:rPr lang="en-US" sz="1700" dirty="0">
                <a:solidFill>
                  <a:schemeClr val="tx1"/>
                </a:solidFill>
              </a:rPr>
              <a:t>paient moins que les classes moyennes ; les grandes entreprises moins que les PME</a:t>
            </a:r>
            <a:endParaRPr lang="en-US" sz="1700" dirty="0"/>
          </a:p>
          <a:p>
            <a:pPr marL="228600" indent="-228600">
              <a:spcAft>
                <a:spcPts val="1000"/>
              </a:spcAft>
              <a:buSzPct val="100000"/>
              <a:buChar char="•"/>
            </a:pPr>
            <a:r>
              <a:rPr lang="en-US" sz="1700" b="1" dirty="0">
                <a:solidFill>
                  <a:schemeClr val="tx1"/>
                </a:solidFill>
              </a:rPr>
              <a:t>Le budget 2027 </a:t>
            </a:r>
            <a:pPr indent="0" marL="0">
              <a:buNone/>
            </a:pPr>
            <a:r>
              <a:rPr lang="en-US" sz="1700" dirty="0">
                <a:solidFill>
                  <a:schemeClr val="tx1"/>
                </a:solidFill>
              </a:rPr>
              <a:t>fait payer les retraités (≈ 5 Md€) plutôt que les grandes fortunes</a:t>
            </a:r>
            <a:endParaRPr lang="en-US" sz="1700" dirty="0"/>
          </a:p>
          <a:p>
            <a:pPr marL="228600" indent="-228600">
              <a:spcAft>
                <a:spcPts val="1000"/>
              </a:spcAft>
              <a:buSzPct val="100000"/>
              <a:buChar char="•"/>
            </a:pPr>
            <a:r>
              <a:rPr lang="en-US" sz="1700" b="1" dirty="0">
                <a:solidFill>
                  <a:schemeClr val="tx1"/>
                </a:solidFill>
              </a:rPr>
              <a:t>Oxfam </a:t>
            </a:r>
            <a:pPr indent="0" marL="0">
              <a:buNone/>
            </a:pPr>
            <a:r>
              <a:rPr lang="en-US" sz="1700" dirty="0">
                <a:solidFill>
                  <a:schemeClr val="tx1"/>
                </a:solidFill>
              </a:rPr>
              <a:t>attaque l'État en justice pour obtenir la taxe</a:t>
            </a:r>
            <a:endParaRPr lang="en-US" sz="1700" dirty="0"/>
          </a:p>
          <a:p>
            <a:pPr marL="228600" indent="-228600">
              <a:spcAft>
                <a:spcPts val="1000"/>
              </a:spcAft>
              <a:buSzPct val="100000"/>
              <a:buChar char="•"/>
            </a:pPr>
            <a:r>
              <a:rPr lang="en-US" sz="1700" b="1" dirty="0">
                <a:solidFill>
                  <a:schemeClr val="tx1"/>
                </a:solidFill>
              </a:rPr>
              <a:t>Soutenue par 7 prix Nobel </a:t>
            </a:r>
            <a:pPr indent="0" marL="0">
              <a:buNone/>
            </a:pPr>
            <a:r>
              <a:rPr lang="en-US" sz="1700" dirty="0">
                <a:solidFill>
                  <a:schemeClr val="tx1"/>
                </a:solidFill>
              </a:rPr>
              <a:t>d'économie</a:t>
            </a:r>
            <a:endParaRPr lang="en-US" sz="1700" dirty="0"/>
          </a:p>
        </p:txBody>
      </p:sp>
      <p:sp>
        <p:nvSpPr>
          <p:cNvPr id="6" name="Carte taux Oxfam"/>
          <p:cNvSpPr/>
          <p:nvPr/>
        </p:nvSpPr>
        <p:spPr>
          <a:xfrm>
            <a:off x="6126480" y="1600200"/>
            <a:ext cx="5486400" cy="2514600"/>
          </a:xfrm>
          <a:prstGeom prst="roundRect">
            <a:avLst>
              <a:gd name="adj" fmla="val 2909"/>
            </a:avLst>
          </a:prstGeom>
          <a:solidFill>
            <a:schemeClr val="bg2"/>
          </a:solidFill>
          <a:ln w="12700">
            <a:solidFill>
              <a:schemeClr val="bg2"/>
            </a:solidFill>
            <a:prstDash val="solid"/>
          </a:ln>
        </p:spPr>
      </p:sp>
      <p:sp>
        <p:nvSpPr>
          <p:cNvPr id="7" name="Text 5"/>
          <p:cNvSpPr txBox="1"/>
          <p:nvPr/>
        </p:nvSpPr>
        <p:spPr>
          <a:xfrm>
            <a:off x="6400800" y="1755648"/>
            <a:ext cx="5029200" cy="365760"/>
          </a:xfrm>
          <a:prstGeom prst="rect">
            <a:avLst/>
          </a:prstGeom>
          <a:noFill/>
          <a:ln/>
        </p:spPr>
        <p:txBody>
          <a:bodyPr wrap="square" lIns="0" tIns="0" rIns="0" bIns="0" rtlCol="0" anchor="ctr"/>
          <a:lstStyle/>
          <a:p>
            <a:pPr indent="0" marL="0">
              <a:buNone/>
            </a:pPr>
            <a:r>
              <a:rPr lang="en-US" sz="1600" b="1" dirty="0">
                <a:solidFill>
                  <a:schemeClr val="tx2"/>
                </a:solidFill>
              </a:rPr>
              <a:t>Part des revenus payée en impôts, selon Oxfam</a:t>
            </a:r>
            <a:endParaRPr lang="en-US" sz="1600" dirty="0"/>
          </a:p>
        </p:txBody>
      </p:sp>
      <p:sp>
        <p:nvSpPr>
          <p:cNvPr id="8" name="Text 6"/>
          <p:cNvSpPr txBox="1"/>
          <p:nvPr/>
        </p:nvSpPr>
        <p:spPr>
          <a:xfrm>
            <a:off x="6400800" y="2286000"/>
            <a:ext cx="2194560" cy="685800"/>
          </a:xfrm>
          <a:prstGeom prst="rect">
            <a:avLst/>
          </a:prstGeom>
          <a:noFill/>
          <a:ln/>
        </p:spPr>
        <p:txBody>
          <a:bodyPr wrap="square" lIns="0" tIns="0" rIns="0" bIns="0" rtlCol="0" anchor="ctr"/>
          <a:lstStyle/>
          <a:p>
            <a:pPr indent="0" marL="0">
              <a:buNone/>
            </a:pPr>
            <a:r>
              <a:rPr lang="en-US" sz="1400" dirty="0">
                <a:solidFill>
                  <a:schemeClr val="tx1"/>
                </a:solidFill>
              </a:rPr>
              <a:t>Les 0,0002 % les plus riches</a:t>
            </a:r>
            <a:endParaRPr lang="en-US" sz="1400" dirty="0"/>
          </a:p>
        </p:txBody>
      </p:sp>
      <p:sp>
        <p:nvSpPr>
          <p:cNvPr id="9" name="Shape 7"/>
          <p:cNvSpPr/>
          <p:nvPr/>
        </p:nvSpPr>
        <p:spPr>
          <a:xfrm>
            <a:off x="8686800" y="2388870"/>
            <a:ext cx="822960" cy="480060"/>
          </a:xfrm>
          <a:prstGeom prst="rect">
            <a:avLst/>
          </a:prstGeom>
          <a:solidFill>
            <a:schemeClr val="accent1"/>
          </a:solidFill>
          <a:ln w="12700">
            <a:solidFill>
              <a:schemeClr val="accent1"/>
            </a:solidFill>
            <a:prstDash val="solid"/>
          </a:ln>
        </p:spPr>
      </p:sp>
      <p:sp>
        <p:nvSpPr>
          <p:cNvPr id="10" name="Text 8"/>
          <p:cNvSpPr txBox="1"/>
          <p:nvPr/>
        </p:nvSpPr>
        <p:spPr>
          <a:xfrm>
            <a:off x="9601200" y="2286000"/>
            <a:ext cx="1188720" cy="685800"/>
          </a:xfrm>
          <a:prstGeom prst="rect">
            <a:avLst/>
          </a:prstGeom>
          <a:noFill/>
          <a:ln/>
        </p:spPr>
        <p:txBody>
          <a:bodyPr wrap="square" lIns="0" tIns="0" rIns="0" bIns="0" rtlCol="0" anchor="ctr"/>
          <a:lstStyle/>
          <a:p>
            <a:pPr indent="0" marL="0">
              <a:buNone/>
            </a:pPr>
            <a:r>
              <a:rPr lang="en-US" sz="1800" b="1" dirty="0">
                <a:solidFill>
                  <a:schemeClr val="tx1"/>
                </a:solidFill>
              </a:rPr>
              <a:t>≈ 25 %</a:t>
            </a:r>
            <a:endParaRPr lang="en-US" sz="1800" dirty="0"/>
          </a:p>
        </p:txBody>
      </p:sp>
      <p:sp>
        <p:nvSpPr>
          <p:cNvPr id="11" name="Text 9"/>
          <p:cNvSpPr txBox="1"/>
          <p:nvPr/>
        </p:nvSpPr>
        <p:spPr>
          <a:xfrm>
            <a:off x="6400800" y="3063240"/>
            <a:ext cx="2194560" cy="685800"/>
          </a:xfrm>
          <a:prstGeom prst="rect">
            <a:avLst/>
          </a:prstGeom>
          <a:noFill/>
          <a:ln/>
        </p:spPr>
        <p:txBody>
          <a:bodyPr wrap="square" lIns="0" tIns="0" rIns="0" bIns="0" rtlCol="0" anchor="ctr"/>
          <a:lstStyle/>
          <a:p>
            <a:pPr indent="0" marL="0">
              <a:buNone/>
            </a:pPr>
            <a:r>
              <a:rPr lang="en-US" sz="1400" dirty="0">
                <a:solidFill>
                  <a:schemeClr val="tx1"/>
                </a:solidFill>
              </a:rPr>
              <a:t>La plupart des Français</a:t>
            </a:r>
            <a:endParaRPr lang="en-US" sz="1400" dirty="0"/>
          </a:p>
        </p:txBody>
      </p:sp>
      <p:sp>
        <p:nvSpPr>
          <p:cNvPr id="12" name="Shape 10"/>
          <p:cNvSpPr/>
          <p:nvPr/>
        </p:nvSpPr>
        <p:spPr>
          <a:xfrm>
            <a:off x="8686800" y="3166110"/>
            <a:ext cx="1645920" cy="480060"/>
          </a:xfrm>
          <a:prstGeom prst="rect">
            <a:avLst/>
          </a:prstGeom>
          <a:solidFill>
            <a:schemeClr val="accent4"/>
          </a:solidFill>
          <a:ln w="12700">
            <a:solidFill>
              <a:schemeClr val="accent4"/>
            </a:solidFill>
            <a:prstDash val="solid"/>
          </a:ln>
        </p:spPr>
      </p:sp>
      <p:sp>
        <p:nvSpPr>
          <p:cNvPr id="13" name="Text 11"/>
          <p:cNvSpPr txBox="1"/>
          <p:nvPr/>
        </p:nvSpPr>
        <p:spPr>
          <a:xfrm>
            <a:off x="10424160" y="3063240"/>
            <a:ext cx="1188720" cy="685800"/>
          </a:xfrm>
          <a:prstGeom prst="rect">
            <a:avLst/>
          </a:prstGeom>
          <a:noFill/>
          <a:ln/>
        </p:spPr>
        <p:txBody>
          <a:bodyPr wrap="square" lIns="0" tIns="0" rIns="0" bIns="0" rtlCol="0" anchor="ctr"/>
          <a:lstStyle/>
          <a:p>
            <a:pPr indent="0" marL="0">
              <a:buNone/>
            </a:pPr>
            <a:r>
              <a:rPr lang="en-US" sz="1800" b="1" dirty="0">
                <a:solidFill>
                  <a:schemeClr val="tx1"/>
                </a:solidFill>
              </a:rPr>
              <a:t>&gt; 50 %</a:t>
            </a:r>
            <a:endParaRPr lang="en-US" sz="1800" dirty="0"/>
          </a:p>
        </p:txBody>
      </p:sp>
      <p:sp>
        <p:nvSpPr>
          <p:cNvPr id="14" name="Chiffre clé"/>
          <p:cNvSpPr/>
          <p:nvPr/>
        </p:nvSpPr>
        <p:spPr>
          <a:xfrm>
            <a:off x="6126480" y="4343400"/>
            <a:ext cx="5486400" cy="1783080"/>
          </a:xfrm>
          <a:prstGeom prst="roundRect">
            <a:avLst>
              <a:gd name="adj" fmla="val 4103"/>
            </a:avLst>
          </a:prstGeom>
          <a:solidFill>
            <a:schemeClr val="bg2"/>
          </a:solidFill>
          <a:ln w="12700">
            <a:solidFill>
              <a:schemeClr val="bg2"/>
            </a:solidFill>
            <a:prstDash val="solid"/>
          </a:ln>
        </p:spPr>
      </p:sp>
      <p:sp>
        <p:nvSpPr>
          <p:cNvPr id="15" name="Text 13"/>
          <p:cNvSpPr txBox="1"/>
          <p:nvPr/>
        </p:nvSpPr>
        <p:spPr>
          <a:xfrm>
            <a:off x="6400800" y="4526280"/>
            <a:ext cx="4937760" cy="731520"/>
          </a:xfrm>
          <a:prstGeom prst="rect">
            <a:avLst/>
          </a:prstGeom>
          <a:noFill/>
          <a:ln/>
        </p:spPr>
        <p:txBody>
          <a:bodyPr wrap="square" lIns="0" tIns="0" rIns="0" bIns="0" rtlCol="0" anchor="b"/>
          <a:lstStyle/>
          <a:p>
            <a:pPr indent="0" marL="0">
              <a:buNone/>
            </a:pPr>
            <a:r>
              <a:rPr lang="en-US" sz="4000" b="1" dirty="0">
                <a:solidFill>
                  <a:schemeClr val="accent1"/>
                </a:solidFill>
                <a:latin typeface="Cambria" pitchFamily="34" charset="0"/>
                <a:ea typeface="Cambria" pitchFamily="34" charset="-122"/>
                <a:cs typeface="Cambria" pitchFamily="34" charset="-120"/>
              </a:rPr>
              <a:t>20 Md€ / an</a:t>
            </a:r>
            <a:endParaRPr lang="en-US" sz="4000" dirty="0"/>
          </a:p>
        </p:txBody>
      </p:sp>
      <p:sp>
        <p:nvSpPr>
          <p:cNvPr id="16" name="Text 14"/>
          <p:cNvSpPr txBox="1"/>
          <p:nvPr/>
        </p:nvSpPr>
        <p:spPr>
          <a:xfrm>
            <a:off x="6400800" y="5303520"/>
            <a:ext cx="4937760" cy="685800"/>
          </a:xfrm>
          <a:prstGeom prst="rect">
            <a:avLst/>
          </a:prstGeom>
          <a:noFill/>
          <a:ln/>
        </p:spPr>
        <p:txBody>
          <a:bodyPr wrap="square" lIns="0" tIns="0" rIns="0" bIns="0" rtlCol="0" anchor="t"/>
          <a:lstStyle/>
          <a:p>
            <a:pPr indent="0" marL="0">
              <a:buNone/>
            </a:pPr>
            <a:r>
              <a:rPr lang="en-US" sz="1400" dirty="0">
                <a:solidFill>
                  <a:schemeClr val="accent5"/>
                </a:solidFill>
              </a:rPr>
              <a:t>le rendement annoncé par Gabriel Zucman</a:t>
            </a:r>
            <a:endParaRPr lang="en-US" sz="1400" dirty="0"/>
          </a:p>
        </p:txBody>
      </p:sp>
      <p:sp>
        <p:nvSpPr>
          <p:cNvPr id="17" name="Source"/>
          <p:cNvSpPr txBox="1"/>
          <p:nvPr/>
        </p:nvSpPr>
        <p:spPr>
          <a:xfrm>
            <a:off x="548640" y="6355080"/>
            <a:ext cx="10424160" cy="274320"/>
          </a:xfrm>
          <a:prstGeom prst="rect">
            <a:avLst/>
          </a:prstGeom>
          <a:noFill/>
          <a:ln/>
        </p:spPr>
        <p:txBody>
          <a:bodyPr wrap="square" lIns="0" tIns="0" rIns="0" bIns="0" rtlCol="0" anchor="ctr"/>
          <a:lstStyle/>
          <a:p>
            <a:pPr indent="0" marL="0">
              <a:buNone/>
            </a:pPr>
            <a:r>
              <a:rPr lang="en-US" sz="1000" dirty="0">
                <a:solidFill>
                  <a:schemeClr val="accent5"/>
                </a:solidFill>
              </a:rPr>
              <a:t>Source : R. Marchal, « Gabriel Zucman dénonce un projet de budget qui protège les milliardaires », LCP, 02/10/2026 ; Reporterre (13/10/2026), calculs d'Oxfam</a:t>
            </a:r>
            <a:endParaRPr lang="en-US" sz="10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Étiquette"/>
          <p:cNvSpPr txBox="1"/>
          <p:nvPr/>
        </p:nvSpPr>
        <p:spPr>
          <a:xfrm>
            <a:off x="548640" y="256032"/>
            <a:ext cx="2368296" cy="310896"/>
          </a:xfrm>
          <a:prstGeom prst="roundRect">
            <a:avLst>
              <a:gd name="adj" fmla="val 50000"/>
            </a:avLst>
          </a:prstGeom>
          <a:solidFill>
            <a:schemeClr val="accent2"/>
          </a:solidFill>
          <a:ln/>
        </p:spPr>
        <p:txBody>
          <a:bodyPr wrap="square" lIns="0" tIns="0" rIns="0" bIns="0" rtlCol="0" anchor="ctr"/>
          <a:lstStyle/>
          <a:p>
            <a:pPr algn="ctr" indent="0" marL="0">
              <a:buNone/>
            </a:pPr>
            <a:r>
              <a:rPr lang="en-US" sz="1200" b="1" spc="100" kern="0" dirty="0">
                <a:solidFill>
                  <a:schemeClr val="bg1"/>
                </a:solidFill>
              </a:rPr>
              <a:t>POSITION 2 · CONTRE</a:t>
            </a:r>
            <a:endParaRPr lang="en-US" sz="1200" dirty="0"/>
          </a:p>
        </p:txBody>
      </p:sp>
      <p:sp>
        <p:nvSpPr>
          <p:cNvPr id="3" name="Text 0"/>
          <p:cNvSpPr/>
          <p:nvPr>
            <p:ph idx="100" type="title" hasCustomPrompt="1"/>
          </p:nvPr>
        </p:nvSpPr>
        <p:spPr>
          <a:xfrm>
            <a:off x="548640" y="658368"/>
            <a:ext cx="11064240" cy="73152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 Un diagnostic faux »</a:t>
            </a:r>
            <a:endParaRPr lang="en-US" sz="3400" dirty="0"/>
          </a:p>
        </p:txBody>
      </p:sp>
      <p:sp>
        <p:nvSpPr>
          <p:cNvPr id="4" name="Auteur"/>
          <p:cNvSpPr txBox="1"/>
          <p:nvPr/>
        </p:nvSpPr>
        <p:spPr>
          <a:xfrm>
            <a:off x="548640" y="1572768"/>
            <a:ext cx="11064240" cy="329184"/>
          </a:xfrm>
          <a:prstGeom prst="rect">
            <a:avLst/>
          </a:prstGeom>
          <a:noFill/>
          <a:ln/>
        </p:spPr>
        <p:txBody>
          <a:bodyPr wrap="square" lIns="0" tIns="0" rIns="0" bIns="0" rtlCol="0" anchor="ctr"/>
          <a:lstStyle/>
          <a:p>
            <a:pPr indent="0" marL="0">
              <a:buNone/>
            </a:pPr>
            <a:r>
              <a:rPr lang="en-US" sz="1500" i="1" dirty="0">
                <a:solidFill>
                  <a:schemeClr val="accent5"/>
                </a:solidFill>
              </a:rPr>
              <a:t>Victor Fouquet, Fondapol (think tank libéral), juin 2026</a:t>
            </a:r>
            <a:endParaRPr lang="en-US" sz="1500" dirty="0"/>
          </a:p>
        </p:txBody>
      </p:sp>
      <p:sp>
        <p:nvSpPr>
          <p:cNvPr id="5" name="Text 3"/>
          <p:cNvSpPr txBox="1"/>
          <p:nvPr/>
        </p:nvSpPr>
        <p:spPr>
          <a:xfrm>
            <a:off x="548640" y="2103120"/>
            <a:ext cx="4937760" cy="3931920"/>
          </a:xfrm>
          <a:prstGeom prst="rect">
            <a:avLst/>
          </a:prstGeom>
          <a:noFill/>
          <a:ln/>
        </p:spPr>
        <p:txBody>
          <a:bodyPr wrap="square" lIns="0" tIns="0" rIns="0" bIns="0" rtlCol="0" anchor="t"/>
          <a:lstStyle/>
          <a:p>
            <a:pPr marL="228600" indent="-228600">
              <a:spcAft>
                <a:spcPts val="1000"/>
              </a:spcAft>
              <a:buSzPct val="100000"/>
              <a:buChar char="•"/>
            </a:pPr>
            <a:r>
              <a:rPr lang="en-US" sz="1700" b="1" dirty="0">
                <a:solidFill>
                  <a:schemeClr val="tx1"/>
                </a:solidFill>
              </a:rPr>
              <a:t>Le calcul de Zucman est biaisé : </a:t>
            </a:r>
            <a:pPr indent="0" marL="0">
              <a:buNone/>
            </a:pPr>
            <a:r>
              <a:rPr lang="en-US" sz="1700" dirty="0">
                <a:solidFill>
                  <a:schemeClr val="tx1"/>
                </a:solidFill>
              </a:rPr>
              <a:t>il compte les aides sociales d'un côté du calcul mais pas de l'autre</a:t>
            </a:r>
            <a:endParaRPr lang="en-US" sz="1700" dirty="0"/>
          </a:p>
          <a:p>
            <a:pPr marL="228600" indent="-228600">
              <a:spcAft>
                <a:spcPts val="1000"/>
              </a:spcAft>
              <a:buSzPct val="100000"/>
              <a:buChar char="•"/>
            </a:pPr>
            <a:r>
              <a:rPr lang="en-US" sz="1700" b="1" dirty="0">
                <a:solidFill>
                  <a:schemeClr val="tx1"/>
                </a:solidFill>
              </a:rPr>
              <a:t>Le système est déjà très redistributif </a:t>
            </a:r>
            <a:pPr indent="0" marL="0">
              <a:buNone/>
            </a:pPr>
            <a:r>
              <a:rPr lang="en-US" sz="1700" dirty="0">
                <a:solidFill>
                  <a:schemeClr val="tx1"/>
                </a:solidFill>
              </a:rPr>
              <a:t>grâce aux impôts et aux aides</a:t>
            </a:r>
            <a:endParaRPr lang="en-US" sz="1700" dirty="0"/>
          </a:p>
          <a:p>
            <a:pPr marL="228600" indent="-228600">
              <a:spcAft>
                <a:spcPts val="1000"/>
              </a:spcAft>
              <a:buSzPct val="100000"/>
              <a:buChar char="•"/>
            </a:pPr>
            <a:r>
              <a:rPr lang="en-US" sz="1700" b="1" dirty="0">
                <a:solidFill>
                  <a:schemeClr val="tx1"/>
                </a:solidFill>
              </a:rPr>
              <a:t>Les dividendes sont déjà taxés </a:t>
            </a:r>
            <a:pPr indent="0" marL="0">
              <a:buNone/>
            </a:pPr>
            <a:r>
              <a:rPr lang="en-US" sz="1700" dirty="0">
                <a:solidFill>
                  <a:schemeClr val="tx1"/>
                </a:solidFill>
              </a:rPr>
              <a:t>jusqu'à 60,8 % avec l'impôt sur les sociétés</a:t>
            </a:r>
            <a:endParaRPr lang="en-US" sz="1700" dirty="0"/>
          </a:p>
        </p:txBody>
      </p:sp>
      <p:sp>
        <p:nvSpPr>
          <p:cNvPr id="6" name="Carte redistribution"/>
          <p:cNvSpPr/>
          <p:nvPr/>
        </p:nvSpPr>
        <p:spPr>
          <a:xfrm>
            <a:off x="5852160" y="1600200"/>
            <a:ext cx="5760720" cy="4526280"/>
          </a:xfrm>
          <a:prstGeom prst="roundRect">
            <a:avLst>
              <a:gd name="adj" fmla="val 1616"/>
            </a:avLst>
          </a:prstGeom>
          <a:solidFill>
            <a:schemeClr val="bg2"/>
          </a:solidFill>
          <a:ln w="12700">
            <a:solidFill>
              <a:schemeClr val="bg2"/>
            </a:solidFill>
            <a:prstDash val="solid"/>
          </a:ln>
        </p:spPr>
      </p:sp>
      <p:sp>
        <p:nvSpPr>
          <p:cNvPr id="7" name="Text 5"/>
          <p:cNvSpPr txBox="1"/>
          <p:nvPr/>
        </p:nvSpPr>
        <p:spPr>
          <a:xfrm>
            <a:off x="6126480" y="1737360"/>
            <a:ext cx="5212080" cy="594360"/>
          </a:xfrm>
          <a:prstGeom prst="rect">
            <a:avLst/>
          </a:prstGeom>
          <a:noFill/>
          <a:ln/>
        </p:spPr>
        <p:txBody>
          <a:bodyPr wrap="square" lIns="0" tIns="0" rIns="0" bIns="0" rtlCol="0" anchor="ctr"/>
          <a:lstStyle/>
          <a:p>
            <a:pPr indent="0" marL="0">
              <a:buNone/>
            </a:pPr>
            <a:r>
              <a:rPr lang="en-US" sz="1500" b="1" dirty="0">
                <a:solidFill>
                  <a:schemeClr val="tx2"/>
                </a:solidFill>
              </a:rPr>
              <a:t>Écart de niveau de vie entre les 10 % les plus aisés et les 10 % les plus modestes</a:t>
            </a:r>
            <a:endParaRPr lang="en-US" sz="1500" dirty="0"/>
          </a:p>
        </p:txBody>
      </p:sp>
      <p:sp>
        <p:nvSpPr>
          <p:cNvPr id="8" name="Shape 6"/>
          <p:cNvSpPr/>
          <p:nvPr/>
        </p:nvSpPr>
        <p:spPr>
          <a:xfrm>
            <a:off x="6720840" y="2971800"/>
            <a:ext cx="1371600" cy="2286000"/>
          </a:xfrm>
          <a:prstGeom prst="rect">
            <a:avLst/>
          </a:prstGeom>
          <a:solidFill>
            <a:schemeClr val="accent4"/>
          </a:solidFill>
          <a:ln w="12700">
            <a:solidFill>
              <a:schemeClr val="accent4"/>
            </a:solidFill>
            <a:prstDash val="solid"/>
          </a:ln>
        </p:spPr>
      </p:sp>
      <p:sp>
        <p:nvSpPr>
          <p:cNvPr id="9" name="Text 7"/>
          <p:cNvSpPr txBox="1"/>
          <p:nvPr/>
        </p:nvSpPr>
        <p:spPr>
          <a:xfrm>
            <a:off x="6355080" y="2514600"/>
            <a:ext cx="2103120" cy="411480"/>
          </a:xfrm>
          <a:prstGeom prst="rect">
            <a:avLst/>
          </a:prstGeom>
          <a:noFill/>
          <a:ln/>
        </p:spPr>
        <p:txBody>
          <a:bodyPr wrap="square" lIns="0" tIns="0" rIns="0" bIns="0" rtlCol="0" anchor="ctr"/>
          <a:lstStyle/>
          <a:p>
            <a:pPr algn="ctr" indent="0" marL="0">
              <a:buNone/>
            </a:pPr>
            <a:r>
              <a:rPr lang="en-US" sz="2200" b="1" dirty="0">
                <a:solidFill>
                  <a:schemeClr val="tx1"/>
                </a:solidFill>
              </a:rPr>
              <a:t>× 26</a:t>
            </a:r>
            <a:endParaRPr lang="en-US" sz="2200" dirty="0"/>
          </a:p>
        </p:txBody>
      </p:sp>
      <p:sp>
        <p:nvSpPr>
          <p:cNvPr id="10" name="Text 8"/>
          <p:cNvSpPr txBox="1"/>
          <p:nvPr/>
        </p:nvSpPr>
        <p:spPr>
          <a:xfrm>
            <a:off x="6263640" y="5330952"/>
            <a:ext cx="2286000" cy="548640"/>
          </a:xfrm>
          <a:prstGeom prst="rect">
            <a:avLst/>
          </a:prstGeom>
          <a:noFill/>
          <a:ln/>
        </p:spPr>
        <p:txBody>
          <a:bodyPr wrap="square" lIns="0" tIns="0" rIns="0" bIns="0" rtlCol="0" anchor="ctr"/>
          <a:lstStyle/>
          <a:p>
            <a:pPr algn="ctr" indent="0" marL="0">
              <a:buNone/>
            </a:pPr>
            <a:r>
              <a:rPr lang="en-US" sz="1300" dirty="0">
                <a:solidFill>
                  <a:schemeClr val="tx1"/>
                </a:solidFill>
              </a:rPr>
              <a:t>Avant impôts</a:t>
            </a:r>
            <a:endParaRPr lang="en-US" sz="1300" dirty="0"/>
          </a:p>
          <a:p>
            <a:pPr algn="ctr" indent="0" marL="0">
              <a:buNone/>
            </a:pPr>
            <a:r>
              <a:rPr lang="en-US" sz="1300" dirty="0">
                <a:solidFill>
                  <a:schemeClr val="tx1"/>
                </a:solidFill>
              </a:rPr>
              <a:t>et aides</a:t>
            </a:r>
            <a:endParaRPr lang="en-US" sz="1300" dirty="0"/>
          </a:p>
        </p:txBody>
      </p:sp>
      <p:sp>
        <p:nvSpPr>
          <p:cNvPr id="11" name="Shape 9"/>
          <p:cNvSpPr/>
          <p:nvPr/>
        </p:nvSpPr>
        <p:spPr>
          <a:xfrm>
            <a:off x="9281160" y="4950069"/>
            <a:ext cx="1371600" cy="307731"/>
          </a:xfrm>
          <a:prstGeom prst="rect">
            <a:avLst/>
          </a:prstGeom>
          <a:solidFill>
            <a:schemeClr val="accent2"/>
          </a:solidFill>
          <a:ln w="12700">
            <a:solidFill>
              <a:schemeClr val="accent2"/>
            </a:solidFill>
            <a:prstDash val="solid"/>
          </a:ln>
        </p:spPr>
      </p:sp>
      <p:sp>
        <p:nvSpPr>
          <p:cNvPr id="12" name="Text 10"/>
          <p:cNvSpPr txBox="1"/>
          <p:nvPr/>
        </p:nvSpPr>
        <p:spPr>
          <a:xfrm>
            <a:off x="8915400" y="4492869"/>
            <a:ext cx="2103120" cy="411480"/>
          </a:xfrm>
          <a:prstGeom prst="rect">
            <a:avLst/>
          </a:prstGeom>
          <a:noFill/>
          <a:ln/>
        </p:spPr>
        <p:txBody>
          <a:bodyPr wrap="square" lIns="0" tIns="0" rIns="0" bIns="0" rtlCol="0" anchor="ctr"/>
          <a:lstStyle/>
          <a:p>
            <a:pPr algn="ctr" indent="0" marL="0">
              <a:buNone/>
            </a:pPr>
            <a:r>
              <a:rPr lang="en-US" sz="2200" b="1" dirty="0">
                <a:solidFill>
                  <a:schemeClr val="tx1"/>
                </a:solidFill>
              </a:rPr>
              <a:t>× 3,5</a:t>
            </a:r>
            <a:endParaRPr lang="en-US" sz="2200" dirty="0"/>
          </a:p>
        </p:txBody>
      </p:sp>
      <p:sp>
        <p:nvSpPr>
          <p:cNvPr id="13" name="Text 11"/>
          <p:cNvSpPr txBox="1"/>
          <p:nvPr/>
        </p:nvSpPr>
        <p:spPr>
          <a:xfrm>
            <a:off x="8823960" y="5330952"/>
            <a:ext cx="2286000" cy="548640"/>
          </a:xfrm>
          <a:prstGeom prst="rect">
            <a:avLst/>
          </a:prstGeom>
          <a:noFill/>
          <a:ln/>
        </p:spPr>
        <p:txBody>
          <a:bodyPr wrap="square" lIns="0" tIns="0" rIns="0" bIns="0" rtlCol="0" anchor="ctr"/>
          <a:lstStyle/>
          <a:p>
            <a:pPr algn="ctr" indent="0" marL="0">
              <a:buNone/>
            </a:pPr>
            <a:r>
              <a:rPr lang="en-US" sz="1300" dirty="0">
                <a:solidFill>
                  <a:schemeClr val="tx1"/>
                </a:solidFill>
              </a:rPr>
              <a:t>Après impôts</a:t>
            </a:r>
            <a:endParaRPr lang="en-US" sz="1300" dirty="0"/>
          </a:p>
          <a:p>
            <a:pPr algn="ctr" indent="0" marL="0">
              <a:buNone/>
            </a:pPr>
            <a:r>
              <a:rPr lang="en-US" sz="1300" dirty="0">
                <a:solidFill>
                  <a:schemeClr val="tx1"/>
                </a:solidFill>
              </a:rPr>
              <a:t>et aides</a:t>
            </a:r>
            <a:endParaRPr lang="en-US" sz="1300" dirty="0"/>
          </a:p>
        </p:txBody>
      </p:sp>
      <p:sp>
        <p:nvSpPr>
          <p:cNvPr id="14" name="Shape 12"/>
          <p:cNvSpPr/>
          <p:nvPr/>
        </p:nvSpPr>
        <p:spPr>
          <a:xfrm>
            <a:off x="6217920" y="5257800"/>
            <a:ext cx="5029200" cy="0"/>
          </a:xfrm>
          <a:prstGeom prst="line">
            <a:avLst/>
          </a:prstGeom>
          <a:noFill/>
          <a:ln w="12700">
            <a:solidFill>
              <a:schemeClr val="accent4"/>
            </a:solidFill>
            <a:prstDash val="solid"/>
          </a:ln>
        </p:spPr>
      </p:sp>
      <p:sp>
        <p:nvSpPr>
          <p:cNvPr id="15" name="Source"/>
          <p:cNvSpPr txBox="1"/>
          <p:nvPr/>
        </p:nvSpPr>
        <p:spPr>
          <a:xfrm>
            <a:off x="548640" y="6355080"/>
            <a:ext cx="10424160" cy="274320"/>
          </a:xfrm>
          <a:prstGeom prst="rect">
            <a:avLst/>
          </a:prstGeom>
          <a:noFill/>
          <a:ln/>
        </p:spPr>
        <p:txBody>
          <a:bodyPr wrap="square" lIns="0" tIns="0" rIns="0" bIns="0" rtlCol="0" anchor="ctr"/>
          <a:lstStyle/>
          <a:p>
            <a:pPr indent="0" marL="0">
              <a:buNone/>
            </a:pPr>
            <a:r>
              <a:rPr lang="en-US" sz="1000" dirty="0">
                <a:solidFill>
                  <a:schemeClr val="accent5"/>
                </a:solidFill>
              </a:rPr>
              <a:t>Source : Victor Fouquet, « L'impasse de la taxe Zucman », Fondapol, juin 2026 (données Insee, redistribution élargie)</a:t>
            </a:r>
            <a:endParaRPr lang="en-US" sz="10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Étiquette"/>
          <p:cNvSpPr txBox="1"/>
          <p:nvPr/>
        </p:nvSpPr>
        <p:spPr>
          <a:xfrm>
            <a:off x="548640" y="256032"/>
            <a:ext cx="2368296" cy="310896"/>
          </a:xfrm>
          <a:prstGeom prst="roundRect">
            <a:avLst>
              <a:gd name="adj" fmla="val 50000"/>
            </a:avLst>
          </a:prstGeom>
          <a:solidFill>
            <a:schemeClr val="accent2"/>
          </a:solidFill>
          <a:ln/>
        </p:spPr>
        <p:txBody>
          <a:bodyPr wrap="square" lIns="0" tIns="0" rIns="0" bIns="0" rtlCol="0" anchor="ctr"/>
          <a:lstStyle/>
          <a:p>
            <a:pPr algn="ctr" indent="0" marL="0">
              <a:buNone/>
            </a:pPr>
            <a:r>
              <a:rPr lang="en-US" sz="1200" b="1" spc="100" kern="0" dirty="0">
                <a:solidFill>
                  <a:schemeClr val="bg1"/>
                </a:solidFill>
              </a:rPr>
              <a:t>POSITION 2 · CONTRE</a:t>
            </a:r>
            <a:endParaRPr lang="en-US" sz="1200" dirty="0"/>
          </a:p>
        </p:txBody>
      </p:sp>
      <p:sp>
        <p:nvSpPr>
          <p:cNvPr id="3" name="Text 0"/>
          <p:cNvSpPr/>
          <p:nvPr>
            <p:ph idx="100" type="title" hasCustomPrompt="1"/>
          </p:nvPr>
        </p:nvSpPr>
        <p:spPr>
          <a:xfrm>
            <a:off x="548640" y="658368"/>
            <a:ext cx="11064240" cy="73152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 Peu de recettes, beaucoup de risques »</a:t>
            </a:r>
            <a:endParaRPr lang="en-US" sz="3400" dirty="0"/>
          </a:p>
        </p:txBody>
      </p:sp>
      <p:sp>
        <p:nvSpPr>
          <p:cNvPr id="4" name="Carte rendement"/>
          <p:cNvSpPr/>
          <p:nvPr/>
        </p:nvSpPr>
        <p:spPr>
          <a:xfrm>
            <a:off x="548640" y="1600200"/>
            <a:ext cx="6035040" cy="2377440"/>
          </a:xfrm>
          <a:prstGeom prst="roundRect">
            <a:avLst>
              <a:gd name="adj" fmla="val 3077"/>
            </a:avLst>
          </a:prstGeom>
          <a:solidFill>
            <a:schemeClr val="bg2"/>
          </a:solidFill>
          <a:ln w="12700">
            <a:solidFill>
              <a:schemeClr val="bg2"/>
            </a:solidFill>
            <a:prstDash val="solid"/>
          </a:ln>
        </p:spPr>
      </p:sp>
      <p:sp>
        <p:nvSpPr>
          <p:cNvPr id="5" name="Text 3"/>
          <p:cNvSpPr txBox="1"/>
          <p:nvPr/>
        </p:nvSpPr>
        <p:spPr>
          <a:xfrm>
            <a:off x="822960" y="1755648"/>
            <a:ext cx="5486400" cy="365760"/>
          </a:xfrm>
          <a:prstGeom prst="rect">
            <a:avLst/>
          </a:prstGeom>
          <a:noFill/>
          <a:ln/>
        </p:spPr>
        <p:txBody>
          <a:bodyPr wrap="square" lIns="0" tIns="0" rIns="0" bIns="0" rtlCol="0" anchor="ctr"/>
          <a:lstStyle/>
          <a:p>
            <a:pPr indent="0" marL="0">
              <a:buNone/>
            </a:pPr>
            <a:r>
              <a:rPr lang="en-US" sz="1600" b="1" dirty="0">
                <a:solidFill>
                  <a:schemeClr val="tx2"/>
                </a:solidFill>
              </a:rPr>
              <a:t>Combien rapporterait la taxe chaque année ?</a:t>
            </a:r>
            <a:endParaRPr lang="en-US" sz="1600" dirty="0"/>
          </a:p>
        </p:txBody>
      </p:sp>
      <p:sp>
        <p:nvSpPr>
          <p:cNvPr id="6" name="Text 4"/>
          <p:cNvSpPr txBox="1"/>
          <p:nvPr/>
        </p:nvSpPr>
        <p:spPr>
          <a:xfrm>
            <a:off x="822960" y="2212848"/>
            <a:ext cx="2377440" cy="548640"/>
          </a:xfrm>
          <a:prstGeom prst="rect">
            <a:avLst/>
          </a:prstGeom>
          <a:noFill/>
          <a:ln/>
        </p:spPr>
        <p:txBody>
          <a:bodyPr wrap="square" lIns="0" tIns="0" rIns="0" bIns="0" rtlCol="0" anchor="ctr"/>
          <a:lstStyle/>
          <a:p>
            <a:pPr indent="0" marL="0">
              <a:buNone/>
            </a:pPr>
            <a:r>
              <a:rPr lang="en-US" sz="1400" dirty="0">
                <a:solidFill>
                  <a:schemeClr val="tx1"/>
                </a:solidFill>
              </a:rPr>
              <a:t>Gabriel Zucman</a:t>
            </a:r>
            <a:endParaRPr lang="en-US" sz="1400" dirty="0"/>
          </a:p>
        </p:txBody>
      </p:sp>
      <p:sp>
        <p:nvSpPr>
          <p:cNvPr id="7" name="Shape 5"/>
          <p:cNvSpPr/>
          <p:nvPr/>
        </p:nvSpPr>
        <p:spPr>
          <a:xfrm>
            <a:off x="3291840" y="2295144"/>
            <a:ext cx="2011680" cy="384048"/>
          </a:xfrm>
          <a:prstGeom prst="rect">
            <a:avLst/>
          </a:prstGeom>
          <a:solidFill>
            <a:schemeClr val="accent1"/>
          </a:solidFill>
          <a:ln w="12700">
            <a:solidFill>
              <a:schemeClr val="accent1"/>
            </a:solidFill>
            <a:prstDash val="solid"/>
          </a:ln>
        </p:spPr>
      </p:sp>
      <p:sp>
        <p:nvSpPr>
          <p:cNvPr id="8" name="Text 6"/>
          <p:cNvSpPr txBox="1"/>
          <p:nvPr/>
        </p:nvSpPr>
        <p:spPr>
          <a:xfrm>
            <a:off x="5394960" y="2212848"/>
            <a:ext cx="1188720" cy="548640"/>
          </a:xfrm>
          <a:prstGeom prst="rect">
            <a:avLst/>
          </a:prstGeom>
          <a:noFill/>
          <a:ln/>
        </p:spPr>
        <p:txBody>
          <a:bodyPr wrap="square" lIns="0" tIns="0" rIns="0" bIns="0" rtlCol="0" anchor="ctr"/>
          <a:lstStyle/>
          <a:p>
            <a:pPr indent="0" marL="0">
              <a:buNone/>
            </a:pPr>
            <a:r>
              <a:rPr lang="en-US" sz="1800" b="1" dirty="0">
                <a:solidFill>
                  <a:schemeClr val="tx1"/>
                </a:solidFill>
              </a:rPr>
              <a:t>20 Md€</a:t>
            </a:r>
            <a:endParaRPr lang="en-US" sz="1800" dirty="0"/>
          </a:p>
        </p:txBody>
      </p:sp>
      <p:sp>
        <p:nvSpPr>
          <p:cNvPr id="9" name="Text 7"/>
          <p:cNvSpPr txBox="1"/>
          <p:nvPr/>
        </p:nvSpPr>
        <p:spPr>
          <a:xfrm>
            <a:off x="822960" y="2761488"/>
            <a:ext cx="2377440" cy="548640"/>
          </a:xfrm>
          <a:prstGeom prst="rect">
            <a:avLst/>
          </a:prstGeom>
          <a:noFill/>
          <a:ln/>
        </p:spPr>
        <p:txBody>
          <a:bodyPr wrap="square" lIns="0" tIns="0" rIns="0" bIns="0" rtlCol="0" anchor="ctr"/>
          <a:lstStyle/>
          <a:p>
            <a:pPr indent="0" marL="0">
              <a:buNone/>
            </a:pPr>
            <a:r>
              <a:rPr lang="en-US" sz="1400" dirty="0">
                <a:solidFill>
                  <a:schemeClr val="tx1"/>
                </a:solidFill>
              </a:rPr>
              <a:t>7 économistes (Le Monde)</a:t>
            </a:r>
            <a:endParaRPr lang="en-US" sz="1400" dirty="0"/>
          </a:p>
        </p:txBody>
      </p:sp>
      <p:sp>
        <p:nvSpPr>
          <p:cNvPr id="10" name="Shape 8"/>
          <p:cNvSpPr/>
          <p:nvPr/>
        </p:nvSpPr>
        <p:spPr>
          <a:xfrm>
            <a:off x="3291840" y="2843784"/>
            <a:ext cx="502920" cy="384048"/>
          </a:xfrm>
          <a:prstGeom prst="rect">
            <a:avLst/>
          </a:prstGeom>
          <a:solidFill>
            <a:schemeClr val="accent4"/>
          </a:solidFill>
          <a:ln w="12700">
            <a:solidFill>
              <a:schemeClr val="accent4"/>
            </a:solidFill>
            <a:prstDash val="solid"/>
          </a:ln>
        </p:spPr>
      </p:sp>
      <p:sp>
        <p:nvSpPr>
          <p:cNvPr id="11" name="Text 9"/>
          <p:cNvSpPr txBox="1"/>
          <p:nvPr/>
        </p:nvSpPr>
        <p:spPr>
          <a:xfrm>
            <a:off x="3886200" y="2761488"/>
            <a:ext cx="1188720" cy="548640"/>
          </a:xfrm>
          <a:prstGeom prst="rect">
            <a:avLst/>
          </a:prstGeom>
          <a:noFill/>
          <a:ln/>
        </p:spPr>
        <p:txBody>
          <a:bodyPr wrap="square" lIns="0" tIns="0" rIns="0" bIns="0" rtlCol="0" anchor="ctr"/>
          <a:lstStyle/>
          <a:p>
            <a:pPr indent="0" marL="0">
              <a:buNone/>
            </a:pPr>
            <a:r>
              <a:rPr lang="en-US" sz="1800" b="1" dirty="0">
                <a:solidFill>
                  <a:schemeClr val="tx1"/>
                </a:solidFill>
              </a:rPr>
              <a:t>5 Md€</a:t>
            </a:r>
            <a:endParaRPr lang="en-US" sz="1800" dirty="0"/>
          </a:p>
        </p:txBody>
      </p:sp>
      <p:sp>
        <p:nvSpPr>
          <p:cNvPr id="12" name="Text 10"/>
          <p:cNvSpPr txBox="1"/>
          <p:nvPr/>
        </p:nvSpPr>
        <p:spPr>
          <a:xfrm>
            <a:off x="822960" y="3310128"/>
            <a:ext cx="2377440" cy="548640"/>
          </a:xfrm>
          <a:prstGeom prst="rect">
            <a:avLst/>
          </a:prstGeom>
          <a:noFill/>
          <a:ln/>
        </p:spPr>
        <p:txBody>
          <a:bodyPr wrap="square" lIns="0" tIns="0" rIns="0" bIns="0" rtlCol="0" anchor="ctr"/>
          <a:lstStyle/>
          <a:p>
            <a:pPr indent="0" marL="0">
              <a:buNone/>
            </a:pPr>
            <a:r>
              <a:rPr lang="en-US" sz="1400" dirty="0">
                <a:solidFill>
                  <a:schemeClr val="tx1"/>
                </a:solidFill>
              </a:rPr>
              <a:t>Sénat (IS déduit)</a:t>
            </a:r>
            <a:endParaRPr lang="en-US" sz="1400" dirty="0"/>
          </a:p>
        </p:txBody>
      </p:sp>
      <p:sp>
        <p:nvSpPr>
          <p:cNvPr id="13" name="Shape 11"/>
          <p:cNvSpPr/>
          <p:nvPr/>
        </p:nvSpPr>
        <p:spPr>
          <a:xfrm>
            <a:off x="3291840" y="3392424"/>
            <a:ext cx="251460" cy="384048"/>
          </a:xfrm>
          <a:prstGeom prst="rect">
            <a:avLst/>
          </a:prstGeom>
          <a:solidFill>
            <a:schemeClr val="accent2"/>
          </a:solidFill>
          <a:ln w="12700">
            <a:solidFill>
              <a:schemeClr val="accent2"/>
            </a:solidFill>
            <a:prstDash val="solid"/>
          </a:ln>
        </p:spPr>
      </p:sp>
      <p:sp>
        <p:nvSpPr>
          <p:cNvPr id="14" name="Text 12"/>
          <p:cNvSpPr txBox="1"/>
          <p:nvPr/>
        </p:nvSpPr>
        <p:spPr>
          <a:xfrm>
            <a:off x="3634740" y="3310128"/>
            <a:ext cx="1188720" cy="548640"/>
          </a:xfrm>
          <a:prstGeom prst="rect">
            <a:avLst/>
          </a:prstGeom>
          <a:noFill/>
          <a:ln/>
        </p:spPr>
        <p:txBody>
          <a:bodyPr wrap="square" lIns="0" tIns="0" rIns="0" bIns="0" rtlCol="0" anchor="ctr"/>
          <a:lstStyle/>
          <a:p>
            <a:pPr indent="0" marL="0">
              <a:buNone/>
            </a:pPr>
            <a:r>
              <a:rPr lang="en-US" sz="1800" b="1" dirty="0">
                <a:solidFill>
                  <a:schemeClr val="tx1"/>
                </a:solidFill>
              </a:rPr>
              <a:t>2 à 3 Md€</a:t>
            </a:r>
            <a:endParaRPr lang="en-US" sz="1800" dirty="0"/>
          </a:p>
        </p:txBody>
      </p:sp>
      <p:sp>
        <p:nvSpPr>
          <p:cNvPr id="15" name="Chiffre clé"/>
          <p:cNvSpPr/>
          <p:nvPr/>
        </p:nvSpPr>
        <p:spPr>
          <a:xfrm>
            <a:off x="548640" y="4206240"/>
            <a:ext cx="6035040" cy="1920240"/>
          </a:xfrm>
          <a:prstGeom prst="roundRect">
            <a:avLst>
              <a:gd name="adj" fmla="val 3810"/>
            </a:avLst>
          </a:prstGeom>
          <a:solidFill>
            <a:schemeClr val="bg2"/>
          </a:solidFill>
          <a:ln w="12700">
            <a:solidFill>
              <a:schemeClr val="bg2"/>
            </a:solidFill>
            <a:prstDash val="solid"/>
          </a:ln>
        </p:spPr>
      </p:sp>
      <p:sp>
        <p:nvSpPr>
          <p:cNvPr id="16" name="Text 14"/>
          <p:cNvSpPr txBox="1"/>
          <p:nvPr/>
        </p:nvSpPr>
        <p:spPr>
          <a:xfrm>
            <a:off x="822960" y="4389120"/>
            <a:ext cx="5486400" cy="731520"/>
          </a:xfrm>
          <a:prstGeom prst="rect">
            <a:avLst/>
          </a:prstGeom>
          <a:noFill/>
          <a:ln/>
        </p:spPr>
        <p:txBody>
          <a:bodyPr wrap="square" lIns="0" tIns="0" rIns="0" bIns="0" rtlCol="0" anchor="b"/>
          <a:lstStyle/>
          <a:p>
            <a:pPr indent="0" marL="0">
              <a:buNone/>
            </a:pPr>
            <a:r>
              <a:rPr lang="en-US" sz="4000" b="1" dirty="0">
                <a:solidFill>
                  <a:schemeClr val="accent2"/>
                </a:solidFill>
                <a:latin typeface="Cambria" pitchFamily="34" charset="0"/>
                <a:ea typeface="Cambria" pitchFamily="34" charset="-122"/>
                <a:cs typeface="Cambria" pitchFamily="34" charset="-120"/>
              </a:rPr>
              <a:t>÷ 2</a:t>
            </a:r>
            <a:endParaRPr lang="en-US" sz="4000" dirty="0"/>
          </a:p>
        </p:txBody>
      </p:sp>
      <p:sp>
        <p:nvSpPr>
          <p:cNvPr id="17" name="Text 15"/>
          <p:cNvSpPr txBox="1"/>
          <p:nvPr/>
        </p:nvSpPr>
        <p:spPr>
          <a:xfrm>
            <a:off x="822960" y="5166360"/>
            <a:ext cx="5486400" cy="822960"/>
          </a:xfrm>
          <a:prstGeom prst="rect">
            <a:avLst/>
          </a:prstGeom>
          <a:noFill/>
          <a:ln/>
        </p:spPr>
        <p:txBody>
          <a:bodyPr wrap="square" lIns="0" tIns="0" rIns="0" bIns="0" rtlCol="0" anchor="t"/>
          <a:lstStyle/>
          <a:p>
            <a:pPr indent="0" marL="0">
              <a:buNone/>
            </a:pPr>
            <a:r>
              <a:rPr lang="en-US" sz="1400" dirty="0">
                <a:solidFill>
                  <a:schemeClr val="accent5"/>
                </a:solidFill>
              </a:rPr>
              <a:t>le rendement de la taxe si seulement les 3 plus gros contribuables quittent la France (Fondapol)</a:t>
            </a:r>
            <a:endParaRPr lang="en-US" sz="1400" dirty="0"/>
          </a:p>
        </p:txBody>
      </p:sp>
      <p:sp>
        <p:nvSpPr>
          <p:cNvPr id="18" name="Carte constitution"/>
          <p:cNvSpPr/>
          <p:nvPr/>
        </p:nvSpPr>
        <p:spPr>
          <a:xfrm>
            <a:off x="6858000" y="1600200"/>
            <a:ext cx="4754880" cy="4526280"/>
          </a:xfrm>
          <a:prstGeom prst="roundRect">
            <a:avLst>
              <a:gd name="adj" fmla="val 1616"/>
            </a:avLst>
          </a:prstGeom>
          <a:solidFill>
            <a:schemeClr val="bg2"/>
          </a:solidFill>
          <a:ln w="12700">
            <a:solidFill>
              <a:schemeClr val="bg2"/>
            </a:solidFill>
            <a:prstDash val="solid"/>
          </a:ln>
        </p:spPr>
      </p:sp>
      <p:sp>
        <p:nvSpPr>
          <p:cNvPr id="19" name="Text 17"/>
          <p:cNvSpPr txBox="1"/>
          <p:nvPr/>
        </p:nvSpPr>
        <p:spPr>
          <a:xfrm>
            <a:off x="7132320" y="1755648"/>
            <a:ext cx="4206240" cy="365760"/>
          </a:xfrm>
          <a:prstGeom prst="rect">
            <a:avLst/>
          </a:prstGeom>
          <a:noFill/>
          <a:ln/>
        </p:spPr>
        <p:txBody>
          <a:bodyPr wrap="square" lIns="0" tIns="0" rIns="0" bIns="0" rtlCol="0" anchor="ctr"/>
          <a:lstStyle/>
          <a:p>
            <a:pPr indent="0" marL="0">
              <a:buNone/>
            </a:pPr>
            <a:r>
              <a:rPr lang="en-US" sz="1600" b="1" dirty="0">
                <a:solidFill>
                  <a:schemeClr val="tx2"/>
                </a:solidFill>
              </a:rPr>
              <a:t>Un risque constitutionnel</a:t>
            </a:r>
            <a:endParaRPr lang="en-US" sz="1600" dirty="0"/>
          </a:p>
        </p:txBody>
      </p:sp>
      <p:sp>
        <p:nvSpPr>
          <p:cNvPr id="20" name="Text 18"/>
          <p:cNvSpPr txBox="1"/>
          <p:nvPr/>
        </p:nvSpPr>
        <p:spPr>
          <a:xfrm>
            <a:off x="7132320" y="2286000"/>
            <a:ext cx="4206240" cy="548640"/>
          </a:xfrm>
          <a:prstGeom prst="rect">
            <a:avLst/>
          </a:prstGeom>
          <a:noFill/>
          <a:ln/>
        </p:spPr>
        <p:txBody>
          <a:bodyPr wrap="square" lIns="0" tIns="0" rIns="0" bIns="0" rtlCol="0" anchor="ctr"/>
          <a:lstStyle/>
          <a:p>
            <a:pPr indent="0" marL="0">
              <a:buNone/>
            </a:pPr>
            <a:r>
              <a:rPr lang="en-US" sz="1400" dirty="0">
                <a:solidFill>
                  <a:schemeClr val="accent5"/>
                </a:solidFill>
              </a:rPr>
              <a:t>Taux sur la fortune admis par le Conseil constitutionnel sans plafond</a:t>
            </a:r>
            <a:endParaRPr lang="en-US" sz="1400" dirty="0"/>
          </a:p>
        </p:txBody>
      </p:sp>
      <p:sp>
        <p:nvSpPr>
          <p:cNvPr id="21" name="Text 19"/>
          <p:cNvSpPr txBox="1"/>
          <p:nvPr/>
        </p:nvSpPr>
        <p:spPr>
          <a:xfrm>
            <a:off x="7132320" y="2788920"/>
            <a:ext cx="4206240" cy="731520"/>
          </a:xfrm>
          <a:prstGeom prst="rect">
            <a:avLst/>
          </a:prstGeom>
          <a:noFill/>
          <a:ln/>
        </p:spPr>
        <p:txBody>
          <a:bodyPr wrap="square" lIns="0" tIns="0" rIns="0" bIns="0" rtlCol="0" anchor="ctr"/>
          <a:lstStyle/>
          <a:p>
            <a:pPr indent="0" marL="0">
              <a:buNone/>
            </a:pPr>
            <a:r>
              <a:rPr lang="en-US" sz="4000" b="1" dirty="0">
                <a:solidFill>
                  <a:schemeClr val="tx2"/>
                </a:solidFill>
                <a:latin typeface="Cambria" pitchFamily="34" charset="0"/>
                <a:ea typeface="Cambria" pitchFamily="34" charset="-122"/>
                <a:cs typeface="Cambria" pitchFamily="34" charset="-120"/>
              </a:rPr>
              <a:t>0,5 %</a:t>
            </a:r>
            <a:endParaRPr lang="en-US" sz="4000" dirty="0"/>
          </a:p>
        </p:txBody>
      </p:sp>
      <p:sp>
        <p:nvSpPr>
          <p:cNvPr id="22" name="Text 20"/>
          <p:cNvSpPr txBox="1"/>
          <p:nvPr/>
        </p:nvSpPr>
        <p:spPr>
          <a:xfrm>
            <a:off x="7132320" y="3703320"/>
            <a:ext cx="4206240" cy="365760"/>
          </a:xfrm>
          <a:prstGeom prst="rect">
            <a:avLst/>
          </a:prstGeom>
          <a:noFill/>
          <a:ln/>
        </p:spPr>
        <p:txBody>
          <a:bodyPr wrap="square" lIns="0" tIns="0" rIns="0" bIns="0" rtlCol="0" anchor="ctr"/>
          <a:lstStyle/>
          <a:p>
            <a:pPr indent="0" marL="0">
              <a:buNone/>
            </a:pPr>
            <a:r>
              <a:rPr lang="en-US" sz="1400" dirty="0">
                <a:solidFill>
                  <a:schemeClr val="accent5"/>
                </a:solidFill>
              </a:rPr>
              <a:t>Taux de la taxe Zucman, sans plafond</a:t>
            </a:r>
            <a:endParaRPr lang="en-US" sz="1400" dirty="0"/>
          </a:p>
        </p:txBody>
      </p:sp>
      <p:sp>
        <p:nvSpPr>
          <p:cNvPr id="23" name="Text 21"/>
          <p:cNvSpPr txBox="1"/>
          <p:nvPr/>
        </p:nvSpPr>
        <p:spPr>
          <a:xfrm>
            <a:off x="7132320" y="4023360"/>
            <a:ext cx="4206240" cy="731520"/>
          </a:xfrm>
          <a:prstGeom prst="rect">
            <a:avLst/>
          </a:prstGeom>
          <a:noFill/>
          <a:ln/>
        </p:spPr>
        <p:txBody>
          <a:bodyPr wrap="square" lIns="0" tIns="0" rIns="0" bIns="0" rtlCol="0" anchor="ctr"/>
          <a:lstStyle/>
          <a:p>
            <a:pPr indent="0" marL="0">
              <a:buNone/>
            </a:pPr>
            <a:r>
              <a:rPr lang="en-US" sz="4000" b="1" dirty="0">
                <a:solidFill>
                  <a:schemeClr val="accent2"/>
                </a:solidFill>
                <a:latin typeface="Cambria" pitchFamily="34" charset="0"/>
                <a:ea typeface="Cambria" pitchFamily="34" charset="-122"/>
                <a:cs typeface="Cambria" pitchFamily="34" charset="-120"/>
              </a:rPr>
              <a:t>2 %</a:t>
            </a:r>
            <a:endParaRPr lang="en-US" sz="4000" dirty="0"/>
          </a:p>
        </p:txBody>
      </p:sp>
      <p:sp>
        <p:nvSpPr>
          <p:cNvPr id="24" name="Text 22"/>
          <p:cNvSpPr txBox="1"/>
          <p:nvPr/>
        </p:nvSpPr>
        <p:spPr>
          <a:xfrm>
            <a:off x="7132320" y="4937760"/>
            <a:ext cx="4206240" cy="1005840"/>
          </a:xfrm>
          <a:prstGeom prst="rect">
            <a:avLst/>
          </a:prstGeom>
          <a:noFill/>
          <a:ln/>
        </p:spPr>
        <p:txBody>
          <a:bodyPr wrap="square" lIns="0" tIns="0" rIns="0" bIns="0" rtlCol="0" anchor="t"/>
          <a:lstStyle/>
          <a:p>
            <a:pPr indent="0" marL="0">
              <a:buNone/>
            </a:pPr>
            <a:r>
              <a:rPr lang="en-US" sz="1300" dirty="0">
                <a:solidFill>
                  <a:schemeClr val="accent5"/>
                </a:solidFill>
              </a:rPr>
              <a:t>Selon la Fondapol et l'IFRAP, la taxe serait donc probablement censurée. Ce n'est pas une décision du Conseil.</a:t>
            </a:r>
            <a:endParaRPr lang="en-US" sz="1300" dirty="0"/>
          </a:p>
        </p:txBody>
      </p:sp>
      <p:sp>
        <p:nvSpPr>
          <p:cNvPr id="25" name="Source"/>
          <p:cNvSpPr txBox="1"/>
          <p:nvPr/>
        </p:nvSpPr>
        <p:spPr>
          <a:xfrm>
            <a:off x="548640" y="6355080"/>
            <a:ext cx="10424160" cy="274320"/>
          </a:xfrm>
          <a:prstGeom prst="rect">
            <a:avLst/>
          </a:prstGeom>
          <a:noFill/>
          <a:ln/>
        </p:spPr>
        <p:txBody>
          <a:bodyPr wrap="square" lIns="0" tIns="0" rIns="0" bIns="0" rtlCol="0" anchor="ctr"/>
          <a:lstStyle/>
          <a:p>
            <a:pPr indent="0" marL="0">
              <a:buNone/>
            </a:pPr>
            <a:r>
              <a:rPr lang="en-US" sz="1000" dirty="0">
                <a:solidFill>
                  <a:schemeClr val="accent5"/>
                </a:solidFill>
              </a:rPr>
              <a:t>Source : Fondapol (juin 2026) ; IFRAP (sept. 2025) ; tribune de 7 économistes dont P. Aghion et X. Jaravel, Le Monde (2025)</a:t>
            </a:r>
            <a:endParaRPr lang="en-US" sz="10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Étiquette"/>
          <p:cNvSpPr txBox="1"/>
          <p:nvPr/>
        </p:nvSpPr>
        <p:spPr>
          <a:xfrm>
            <a:off x="548640" y="256032"/>
            <a:ext cx="2368296" cy="310896"/>
          </a:xfrm>
          <a:prstGeom prst="roundRect">
            <a:avLst>
              <a:gd name="adj" fmla="val 50000"/>
            </a:avLst>
          </a:prstGeom>
          <a:solidFill>
            <a:schemeClr val="accent3"/>
          </a:solidFill>
          <a:ln/>
        </p:spPr>
        <p:txBody>
          <a:bodyPr wrap="square" lIns="0" tIns="0" rIns="0" bIns="0" rtlCol="0" anchor="ctr"/>
          <a:lstStyle/>
          <a:p>
            <a:pPr algn="ctr" indent="0" marL="0">
              <a:buNone/>
            </a:pPr>
            <a:r>
              <a:rPr lang="en-US" sz="1200" b="1" spc="100" kern="0" dirty="0">
                <a:solidFill>
                  <a:schemeClr val="bg1"/>
                </a:solidFill>
              </a:rPr>
              <a:t>POSITION 3 · MILIEU</a:t>
            </a:r>
            <a:endParaRPr lang="en-US" sz="1200" dirty="0"/>
          </a:p>
        </p:txBody>
      </p:sp>
      <p:sp>
        <p:nvSpPr>
          <p:cNvPr id="3" name="Text 0"/>
          <p:cNvSpPr/>
          <p:nvPr>
            <p:ph idx="100" type="title" hasCustomPrompt="1"/>
          </p:nvPr>
        </p:nvSpPr>
        <p:spPr>
          <a:xfrm>
            <a:off x="548640" y="658368"/>
            <a:ext cx="11064240" cy="73152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 Bon diagnostic, mauvais outil »</a:t>
            </a:r>
            <a:endParaRPr lang="en-US" sz="3400" dirty="0"/>
          </a:p>
        </p:txBody>
      </p:sp>
      <p:sp>
        <p:nvSpPr>
          <p:cNvPr id="4" name="Auteur"/>
          <p:cNvSpPr txBox="1"/>
          <p:nvPr/>
        </p:nvSpPr>
        <p:spPr>
          <a:xfrm>
            <a:off x="548640" y="1572768"/>
            <a:ext cx="11064240" cy="329184"/>
          </a:xfrm>
          <a:prstGeom prst="rect">
            <a:avLst/>
          </a:prstGeom>
          <a:noFill/>
          <a:ln/>
        </p:spPr>
        <p:txBody>
          <a:bodyPr wrap="square" lIns="0" tIns="0" rIns="0" bIns="0" rtlCol="0" anchor="ctr"/>
          <a:lstStyle/>
          <a:p>
            <a:pPr indent="0" marL="0">
              <a:buNone/>
            </a:pPr>
            <a:r>
              <a:rPr lang="en-US" sz="1500" i="1" dirty="0">
                <a:solidFill>
                  <a:schemeClr val="accent5"/>
                </a:solidFill>
              </a:rPr>
              <a:t>Guillaume Allègre et Xavier Timbeau, OFCE – Sciences Po, avril 2026</a:t>
            </a:r>
            <a:endParaRPr lang="en-US" sz="1500" dirty="0"/>
          </a:p>
        </p:txBody>
      </p:sp>
      <p:sp>
        <p:nvSpPr>
          <p:cNvPr id="5" name="Text 3"/>
          <p:cNvSpPr txBox="1"/>
          <p:nvPr/>
        </p:nvSpPr>
        <p:spPr>
          <a:xfrm>
            <a:off x="548640" y="2103120"/>
            <a:ext cx="5120640" cy="2651760"/>
          </a:xfrm>
          <a:prstGeom prst="rect">
            <a:avLst/>
          </a:prstGeom>
          <a:noFill/>
          <a:ln/>
        </p:spPr>
        <p:txBody>
          <a:bodyPr wrap="square" lIns="0" tIns="0" rIns="0" bIns="0" rtlCol="0" anchor="t"/>
          <a:lstStyle/>
          <a:p>
            <a:pPr marL="228600" indent="-228600">
              <a:spcAft>
                <a:spcPts val="1000"/>
              </a:spcAft>
              <a:buSzPct val="100000"/>
              <a:buChar char="•"/>
            </a:pPr>
            <a:r>
              <a:rPr lang="en-US" sz="1700" b="1" dirty="0">
                <a:solidFill>
                  <a:schemeClr val="tx1"/>
                </a:solidFill>
              </a:rPr>
              <a:t>Oui, </a:t>
            </a:r>
            <a:pPr indent="0" marL="0">
              <a:buNone/>
            </a:pPr>
            <a:r>
              <a:rPr lang="en-US" sz="1700" dirty="0">
                <a:solidFill>
                  <a:schemeClr val="tx1"/>
                </a:solidFill>
              </a:rPr>
              <a:t>les très riches sont proportionnellement moins taxés</a:t>
            </a:r>
            <a:endParaRPr lang="en-US" sz="1700" dirty="0"/>
          </a:p>
          <a:p>
            <a:pPr marL="228600" indent="-228600">
              <a:spcAft>
                <a:spcPts val="1000"/>
              </a:spcAft>
              <a:buSzPct val="100000"/>
              <a:buChar char="•"/>
            </a:pPr>
            <a:r>
              <a:rPr lang="en-US" sz="1700" b="1" dirty="0">
                <a:solidFill>
                  <a:schemeClr val="tx1"/>
                </a:solidFill>
              </a:rPr>
              <a:t>Mais un patrimoine est difficile à évaluer : </a:t>
            </a:r>
            <a:pPr indent="0" marL="0">
              <a:buNone/>
            </a:pPr>
            <a:r>
              <a:rPr lang="en-US" sz="1700" dirty="0">
                <a:solidFill>
                  <a:schemeClr val="tx1"/>
                </a:solidFill>
              </a:rPr>
              <a:t>une fortune « sur le papier » n'est pas de l'argent disponible (exemple de Mistral AI)</a:t>
            </a:r>
            <a:endParaRPr lang="en-US" sz="1700" dirty="0"/>
          </a:p>
          <a:p>
            <a:pPr marL="228600" indent="-228600">
              <a:spcAft>
                <a:spcPts val="1000"/>
              </a:spcAft>
              <a:buSzPct val="100000"/>
              <a:buChar char="•"/>
            </a:pPr>
            <a:r>
              <a:rPr lang="en-US" sz="1700" b="1" dirty="0">
                <a:solidFill>
                  <a:schemeClr val="tx1"/>
                </a:solidFill>
              </a:rPr>
              <a:t>Le vrai risque : </a:t>
            </a:r>
            <a:pPr indent="0" marL="0">
              <a:buNone/>
            </a:pPr>
            <a:r>
              <a:rPr lang="en-US" sz="1700" dirty="0">
                <a:solidFill>
                  <a:schemeClr val="tx1"/>
                </a:solidFill>
              </a:rPr>
              <a:t>le départ des entrepreneurs, pas de l'argent</a:t>
            </a:r>
            <a:endParaRPr lang="en-US" sz="1700" dirty="0"/>
          </a:p>
        </p:txBody>
      </p:sp>
      <p:sp>
        <p:nvSpPr>
          <p:cNvPr id="6" name="Alternative"/>
          <p:cNvSpPr txBox="1"/>
          <p:nvPr/>
        </p:nvSpPr>
        <p:spPr>
          <a:xfrm>
            <a:off x="548640" y="4846320"/>
            <a:ext cx="5120640" cy="1234440"/>
          </a:xfrm>
          <a:prstGeom prst="roundRect">
            <a:avLst>
              <a:gd name="adj" fmla="val 5926"/>
            </a:avLst>
          </a:prstGeom>
          <a:solidFill>
            <a:schemeClr val="accent3"/>
          </a:solidFill>
          <a:ln/>
        </p:spPr>
        <p:txBody>
          <a:bodyPr wrap="square" lIns="177800" tIns="177800" rIns="177800" bIns="177800" rtlCol="0" anchor="ctr"/>
          <a:lstStyle/>
          <a:p>
            <a:pPr indent="0" marL="0">
              <a:buNone/>
            </a:pPr>
            <a:r>
              <a:rPr lang="en-US" sz="1600" b="1" dirty="0">
                <a:solidFill>
                  <a:schemeClr val="bg1"/>
                </a:solidFill>
              </a:rPr>
              <a:t>Leur alternative : </a:t>
            </a:r>
            <a:endParaRPr lang="en-US" sz="1600" dirty="0"/>
          </a:p>
          <a:p>
            <a:pPr indent="0" marL="0">
              <a:buNone/>
            </a:pPr>
            <a:r>
              <a:rPr lang="en-US" sz="1600" dirty="0">
                <a:solidFill>
                  <a:schemeClr val="bg1"/>
                </a:solidFill>
              </a:rPr>
              <a:t>taxer les plus-values quand elles sont réalisées (vente, donation, héritage)</a:t>
            </a:r>
            <a:endParaRPr lang="en-US" sz="1600" dirty="0"/>
          </a:p>
        </p:txBody>
      </p:sp>
      <p:graphicFrame>
        <p:nvGraphicFramePr>
          <p:cNvPr id="7" name="Graphique départ actionnaire" descr=""/>
          <p:cNvGraphicFramePr/>
          <p:nvPr/>
        </p:nvGraphicFramePr>
        <p:xfrm>
          <a:off x="6126480" y="1600200"/>
          <a:ext cx="5486400" cy="4526280"/>
        </p:xfrm>
        <a:graphic xmlns:a="http://schemas.openxmlformats.org/drawingml/2006/main">
          <a:graphicData uri="http://schemas.openxmlformats.org/drawingml/2006/chart">
            <c:chart xmlns:c="http://schemas.openxmlformats.org/drawingml/2006/chart" r:id="rId1"/>
          </a:graphicData>
        </a:graphic>
      </p:graphicFrame>
      <p:sp>
        <p:nvSpPr>
          <p:cNvPr id="8" name="Source"/>
          <p:cNvSpPr txBox="1"/>
          <p:nvPr/>
        </p:nvSpPr>
        <p:spPr>
          <a:xfrm>
            <a:off x="548640" y="6355080"/>
            <a:ext cx="10424160" cy="274320"/>
          </a:xfrm>
          <a:prstGeom prst="rect">
            <a:avLst/>
          </a:prstGeom>
          <a:noFill/>
          <a:ln/>
        </p:spPr>
        <p:txBody>
          <a:bodyPr wrap="square" lIns="0" tIns="0" rIns="0" bIns="0" rtlCol="0" anchor="ctr"/>
          <a:lstStyle/>
          <a:p>
            <a:pPr indent="0" marL="0">
              <a:buNone/>
            </a:pPr>
            <a:r>
              <a:rPr lang="en-US" sz="1000" dirty="0">
                <a:solidFill>
                  <a:schemeClr val="accent5"/>
                </a:solidFill>
              </a:rPr>
              <a:t>Source : G. Allègre et X. Timbeau, « Pourquoi et comment taxer les plus riches ? », OFCE, avril 2026 (étude Bach et al., 2023)</a:t>
            </a:r>
            <a:endParaRPr lang="en-US" sz="10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Étiquette"/>
          <p:cNvSpPr txBox="1"/>
          <p:nvPr/>
        </p:nvSpPr>
        <p:spPr>
          <a:xfrm>
            <a:off x="548640" y="256032"/>
            <a:ext cx="1463040" cy="310896"/>
          </a:xfrm>
          <a:prstGeom prst="roundRect">
            <a:avLst>
              <a:gd name="adj" fmla="val 50000"/>
            </a:avLst>
          </a:prstGeom>
          <a:solidFill>
            <a:schemeClr val="tx2"/>
          </a:solidFill>
          <a:ln/>
        </p:spPr>
        <p:txBody>
          <a:bodyPr wrap="square" lIns="0" tIns="0" rIns="0" bIns="0" rtlCol="0" anchor="ctr"/>
          <a:lstStyle/>
          <a:p>
            <a:pPr algn="ctr" indent="0" marL="0">
              <a:buNone/>
            </a:pPr>
            <a:r>
              <a:rPr lang="en-US" sz="1200" b="1" spc="100" kern="0" dirty="0">
                <a:solidFill>
                  <a:schemeClr val="bg1"/>
                </a:solidFill>
              </a:rPr>
              <a:t>CONCLUSION</a:t>
            </a:r>
            <a:endParaRPr lang="en-US" sz="1200" dirty="0"/>
          </a:p>
        </p:txBody>
      </p:sp>
      <p:sp>
        <p:nvSpPr>
          <p:cNvPr id="3" name="Text 0"/>
          <p:cNvSpPr/>
          <p:nvPr>
            <p:ph idx="100" type="title" hasCustomPrompt="1"/>
          </p:nvPr>
        </p:nvSpPr>
        <p:spPr>
          <a:xfrm>
            <a:off x="548640" y="658368"/>
            <a:ext cx="11064240" cy="73152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Trois réponses à une même question</a:t>
            </a:r>
            <a:endParaRPr lang="en-US" sz="3400" dirty="0"/>
          </a:p>
        </p:txBody>
      </p:sp>
      <p:graphicFrame>
        <p:nvGraphicFramePr>
          <p:cNvPr id="20" name="Tableau synthèse Zucman"/>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914400"/>
        </p:xfrm>
        <a:graphic>
          <a:graphicData uri="http://schemas.openxmlformats.org/drawingml/2006/table">
            <a:tbl>
              <a:tblPr/>
              <a:tblGrid>
                <a:gridCol w="1737360"/>
                <a:gridCol w="3108960"/>
                <a:gridCol w="3108960"/>
                <a:gridCol w="3108960"/>
              </a:tblGrid>
              <a:tr h="502920">
                <a:tc>
                  <a:txBody>
                    <a:bodyPr/>
                    <a:lstStyle/>
                    <a:p>
                      <a:pPr indent="0" marL="0">
                        <a:buNone/>
                      </a:pPr>
                      <a:endParaRPr lang="en-US" sz="1400" dirty="0">
                        <a:latin typeface="Calibri" charset="0"/>
                        <a:ea typeface="Calibri" charset="0"/>
                        <a:cs typeface="Calibri" charset="0"/>
                      </a:endParaRPr>
                    </a:p>
                  </a:txBody>
                  <a:tcPr marL="73152" marR="73152" marT="73152" marB="73152">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Pour (Zucman, Oxfam)</a:t>
                      </a:r>
                      <a:endParaRPr lang="en-US" sz="1400" dirty="0">
                        <a:latin typeface="Calibri" charset="0"/>
                        <a:ea typeface="Calibri" charset="0"/>
                        <a:cs typeface="Calibri" charset="0"/>
                      </a:endParaRPr>
                    </a:p>
                  </a:txBody>
                  <a:tcPr marL="73152" marR="73152" marT="73152" marB="73152"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Milieu (OFCE)</a:t>
                      </a:r>
                      <a:endParaRPr lang="en-US" sz="1400" dirty="0">
                        <a:latin typeface="Calibri" charset="0"/>
                        <a:ea typeface="Calibri" charset="0"/>
                        <a:cs typeface="Calibri" charset="0"/>
                      </a:endParaRPr>
                    </a:p>
                  </a:txBody>
                  <a:tcPr marL="73152" marR="73152" marT="73152" marB="73152"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solidFill>
                      <a:schemeClr val="accent3"/>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Contre (Fondapol, IFRAP)</a:t>
                      </a:r>
                      <a:endParaRPr lang="en-US" sz="1400" dirty="0">
                        <a:latin typeface="Calibri" charset="0"/>
                        <a:ea typeface="Calibri" charset="0"/>
                        <a:cs typeface="Calibri" charset="0"/>
                      </a:endParaRPr>
                    </a:p>
                  </a:txBody>
                  <a:tcPr marL="73152" marR="73152" marT="73152" marB="73152"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solidFill>
                      <a:schemeClr val="accent2"/>
                    </a:solidFill>
                  </a:tcPr>
                </a:tc>
              </a:tr>
              <a:tr h="566928">
                <a:tc>
                  <a:txBody>
                    <a:bodyPr/>
                    <a:lstStyle/>
                    <a:p>
                      <a:pPr indent="0" marL="0">
                        <a:buNone/>
                      </a:pPr>
                      <a:r>
                        <a:rPr lang="en-US" sz="1400" b="1" dirty="0">
                          <a:solidFill>
                            <a:schemeClr val="tx2"/>
                          </a:solidFill>
                          <a:latin typeface="Calibri" pitchFamily="34" charset="0"/>
                          <a:ea typeface="Calibri" pitchFamily="34" charset="-122"/>
                          <a:cs typeface="Calibri" pitchFamily="34" charset="-120"/>
                        </a:rPr>
                        <a:t>Diagnostic</a:t>
                      </a:r>
                      <a:endParaRPr lang="en-US" sz="1400" dirty="0">
                        <a:latin typeface="Calibri" charset="0"/>
                        <a:ea typeface="Calibri" charset="0"/>
                        <a:cs typeface="Calibri" charset="0"/>
                      </a:endParaRPr>
                    </a:p>
                  </a:txBody>
                  <a:tcPr marL="73152" marR="73152" marT="73152" marB="73152"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Les riches paient moins que les autres</a:t>
                      </a:r>
                      <a:endParaRPr lang="en-US" sz="1400" dirty="0">
                        <a:latin typeface="Calibri" charset="0"/>
                        <a:ea typeface="Calibri" charset="0"/>
                        <a:cs typeface="Calibri" charset="0"/>
                      </a:endParaRPr>
                    </a:p>
                  </a:txBody>
                  <a:tcPr marL="73152" marR="73152" marT="73152" marB="73152"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Vrai, les très riches sont moins taxés</a:t>
                      </a:r>
                      <a:endParaRPr lang="en-US" sz="1400" dirty="0">
                        <a:latin typeface="Calibri" charset="0"/>
                        <a:ea typeface="Calibri" charset="0"/>
                        <a:cs typeface="Calibri" charset="0"/>
                      </a:endParaRPr>
                    </a:p>
                  </a:txBody>
                  <a:tcPr marL="73152" marR="73152" marT="73152" marB="73152"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Faux : le système est déjà très redistributif</a:t>
                      </a:r>
                      <a:endParaRPr lang="en-US" sz="1400" dirty="0">
                        <a:latin typeface="Calibri" charset="0"/>
                        <a:ea typeface="Calibri" charset="0"/>
                        <a:cs typeface="Calibri" charset="0"/>
                      </a:endParaRPr>
                    </a:p>
                  </a:txBody>
                  <a:tcPr marL="73152" marR="73152" marT="73152" marB="73152"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tcPr>
                </a:tc>
              </a:tr>
              <a:tr h="566928">
                <a:tc>
                  <a:txBody>
                    <a:bodyPr/>
                    <a:lstStyle/>
                    <a:p>
                      <a:pPr indent="0" marL="0">
                        <a:buNone/>
                      </a:pPr>
                      <a:r>
                        <a:rPr lang="en-US" sz="1400" b="1" dirty="0">
                          <a:solidFill>
                            <a:schemeClr val="tx2"/>
                          </a:solidFill>
                          <a:latin typeface="Calibri" pitchFamily="34" charset="0"/>
                          <a:ea typeface="Calibri" pitchFamily="34" charset="-122"/>
                          <a:cs typeface="Calibri" pitchFamily="34" charset="-120"/>
                        </a:rPr>
                        <a:t>Rendement</a:t>
                      </a:r>
                      <a:endParaRPr lang="en-US" sz="1400" dirty="0">
                        <a:latin typeface="Calibri" charset="0"/>
                        <a:ea typeface="Calibri" charset="0"/>
                        <a:cs typeface="Calibri" charset="0"/>
                      </a:endParaRPr>
                    </a:p>
                  </a:txBody>
                  <a:tcPr marL="73152" marR="73152" marT="73152" marB="73152"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 20 Md€ par an</a:t>
                      </a:r>
                      <a:endParaRPr lang="en-US" sz="1400" dirty="0">
                        <a:latin typeface="Calibri" charset="0"/>
                        <a:ea typeface="Calibri" charset="0"/>
                        <a:cs typeface="Calibri" charset="0"/>
                      </a:endParaRPr>
                    </a:p>
                  </a:txBody>
                  <a:tcPr marL="73152" marR="73152" marT="73152" marB="73152"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Incertain</a:t>
                      </a:r>
                      <a:endParaRPr lang="en-US" sz="1400" dirty="0">
                        <a:latin typeface="Calibri" charset="0"/>
                        <a:ea typeface="Calibri" charset="0"/>
                        <a:cs typeface="Calibri" charset="0"/>
                      </a:endParaRPr>
                    </a:p>
                  </a:txBody>
                  <a:tcPr marL="73152" marR="73152" marT="73152" marB="73152"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2 à 3 Md€, et fragile</a:t>
                      </a:r>
                      <a:endParaRPr lang="en-US" sz="1400" dirty="0">
                        <a:latin typeface="Calibri" charset="0"/>
                        <a:ea typeface="Calibri" charset="0"/>
                        <a:cs typeface="Calibri" charset="0"/>
                      </a:endParaRPr>
                    </a:p>
                  </a:txBody>
                  <a:tcPr marL="73152" marR="73152" marT="73152" marB="73152"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tcPr>
                </a:tc>
              </a:tr>
              <a:tr h="566928">
                <a:tc>
                  <a:txBody>
                    <a:bodyPr/>
                    <a:lstStyle/>
                    <a:p>
                      <a:pPr indent="0" marL="0">
                        <a:buNone/>
                      </a:pPr>
                      <a:r>
                        <a:rPr lang="en-US" sz="1400" b="1" dirty="0">
                          <a:solidFill>
                            <a:schemeClr val="tx2"/>
                          </a:solidFill>
                          <a:latin typeface="Calibri" pitchFamily="34" charset="0"/>
                          <a:ea typeface="Calibri" pitchFamily="34" charset="-122"/>
                          <a:cs typeface="Calibri" pitchFamily="34" charset="-120"/>
                        </a:rPr>
                        <a:t>Risque</a:t>
                      </a:r>
                      <a:endParaRPr lang="en-US" sz="1400" dirty="0">
                        <a:latin typeface="Calibri" charset="0"/>
                        <a:ea typeface="Calibri" charset="0"/>
                        <a:cs typeface="Calibri" charset="0"/>
                      </a:endParaRPr>
                    </a:p>
                  </a:txBody>
                  <a:tcPr marL="73152" marR="73152" marT="73152" marB="73152"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Faible, c'est une question de justice</a:t>
                      </a:r>
                      <a:endParaRPr lang="en-US" sz="1400" dirty="0">
                        <a:latin typeface="Calibri" charset="0"/>
                        <a:ea typeface="Calibri" charset="0"/>
                        <a:cs typeface="Calibri" charset="0"/>
                      </a:endParaRPr>
                    </a:p>
                  </a:txBody>
                  <a:tcPr marL="73152" marR="73152" marT="73152" marB="73152"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Départ des entrepreneurs</a:t>
                      </a:r>
                      <a:endParaRPr lang="en-US" sz="1400" dirty="0">
                        <a:latin typeface="Calibri" charset="0"/>
                        <a:ea typeface="Calibri" charset="0"/>
                        <a:cs typeface="Calibri" charset="0"/>
                      </a:endParaRPr>
                    </a:p>
                  </a:txBody>
                  <a:tcPr marL="73152" marR="73152" marT="73152" marB="73152"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Exil, moins d'investissement, censure</a:t>
                      </a:r>
                      <a:endParaRPr lang="en-US" sz="1400" dirty="0">
                        <a:latin typeface="Calibri" charset="0"/>
                        <a:ea typeface="Calibri" charset="0"/>
                        <a:cs typeface="Calibri" charset="0"/>
                      </a:endParaRPr>
                    </a:p>
                  </a:txBody>
                  <a:tcPr marL="73152" marR="73152" marT="73152" marB="73152"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tcPr>
                </a:tc>
              </a:tr>
              <a:tr h="566928">
                <a:tc>
                  <a:txBody>
                    <a:bodyPr/>
                    <a:lstStyle/>
                    <a:p>
                      <a:pPr indent="0" marL="0">
                        <a:buNone/>
                      </a:pPr>
                      <a:r>
                        <a:rPr lang="en-US" sz="1400" b="1" dirty="0">
                          <a:solidFill>
                            <a:schemeClr val="tx2"/>
                          </a:solidFill>
                          <a:latin typeface="Calibri" pitchFamily="34" charset="0"/>
                          <a:ea typeface="Calibri" pitchFamily="34" charset="-122"/>
                          <a:cs typeface="Calibri" pitchFamily="34" charset="-120"/>
                        </a:rPr>
                        <a:t>Optimisation</a:t>
                      </a:r>
                      <a:endParaRPr lang="en-US" sz="1400" dirty="0">
                        <a:latin typeface="Calibri" charset="0"/>
                        <a:ea typeface="Calibri" charset="0"/>
                        <a:cs typeface="Calibri" charset="0"/>
                      </a:endParaRPr>
                    </a:p>
                  </a:txBody>
                  <a:tcPr marL="73152" marR="73152" marT="73152" marB="73152"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La cause de l'injustice : la taxe la corrige</a:t>
                      </a:r>
                      <a:endParaRPr lang="en-US" sz="1400" dirty="0">
                        <a:latin typeface="Calibri" charset="0"/>
                        <a:ea typeface="Calibri" charset="0"/>
                        <a:cs typeface="Calibri" charset="0"/>
                      </a:endParaRPr>
                    </a:p>
                  </a:txBody>
                  <a:tcPr marL="73152" marR="73152" marT="73152" marB="73152"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Reporter l'impôt est trop facile : taxer à la vente, au don, à l'héritage</a:t>
                      </a:r>
                      <a:endParaRPr lang="en-US" sz="1400" dirty="0">
                        <a:latin typeface="Calibri" charset="0"/>
                        <a:ea typeface="Calibri" charset="0"/>
                        <a:cs typeface="Calibri" charset="0"/>
                      </a:endParaRPr>
                    </a:p>
                  </a:txBody>
                  <a:tcPr marL="73152" marR="73152" marT="73152" marB="73152"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Problème réel des holdings : « holding pour tous »</a:t>
                      </a:r>
                      <a:endParaRPr lang="en-US" sz="1400" dirty="0">
                        <a:latin typeface="Calibri" charset="0"/>
                        <a:ea typeface="Calibri" charset="0"/>
                        <a:cs typeface="Calibri" charset="0"/>
                      </a:endParaRPr>
                    </a:p>
                  </a:txBody>
                  <a:tcPr marL="73152" marR="73152" marT="73152" marB="73152"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tcPr>
                </a:tc>
              </a:tr>
              <a:tr h="566928">
                <a:tc>
                  <a:txBody>
                    <a:bodyPr/>
                    <a:lstStyle/>
                    <a:p>
                      <a:pPr indent="0" marL="0">
                        <a:buNone/>
                      </a:pPr>
                      <a:r>
                        <a:rPr lang="en-US" sz="1400" b="1" dirty="0">
                          <a:solidFill>
                            <a:schemeClr val="tx2"/>
                          </a:solidFill>
                          <a:latin typeface="Calibri" pitchFamily="34" charset="0"/>
                          <a:ea typeface="Calibri" pitchFamily="34" charset="-122"/>
                          <a:cs typeface="Calibri" pitchFamily="34" charset="-120"/>
                        </a:rPr>
                        <a:t>Solution</a:t>
                      </a:r>
                      <a:endParaRPr lang="en-US" sz="1400" dirty="0">
                        <a:latin typeface="Calibri" charset="0"/>
                        <a:ea typeface="Calibri" charset="0"/>
                        <a:cs typeface="Calibri" charset="0"/>
                      </a:endParaRPr>
                    </a:p>
                  </a:txBody>
                  <a:tcPr marL="73152" marR="73152" marT="73152" marB="73152"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Impôt minimum de 2 %</a:t>
                      </a:r>
                      <a:endParaRPr lang="en-US" sz="1400" dirty="0">
                        <a:latin typeface="Calibri" charset="0"/>
                        <a:ea typeface="Calibri" charset="0"/>
                        <a:cs typeface="Calibri" charset="0"/>
                      </a:endParaRPr>
                    </a:p>
                  </a:txBody>
                  <a:tcPr marL="73152" marR="73152" marT="73152" marB="73152"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Taxer les plus-values réalisées</a:t>
                      </a:r>
                      <a:endParaRPr lang="en-US" sz="1400" dirty="0">
                        <a:latin typeface="Calibri" charset="0"/>
                        <a:ea typeface="Calibri" charset="0"/>
                        <a:cs typeface="Calibri" charset="0"/>
                      </a:endParaRPr>
                    </a:p>
                  </a:txBody>
                  <a:tcPr marL="73152" marR="73152" marT="73152" marB="73152"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Réformer la fiscalité du capital sans taxer le patrimoine</a:t>
                      </a:r>
                      <a:endParaRPr lang="en-US" sz="1400" dirty="0">
                        <a:latin typeface="Calibri" charset="0"/>
                        <a:ea typeface="Calibri" charset="0"/>
                        <a:cs typeface="Calibri" charset="0"/>
                      </a:endParaRPr>
                    </a:p>
                  </a:txBody>
                  <a:tcPr marL="73152" marR="73152" marT="73152" marB="73152"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tcPr>
                </a:tc>
              </a:tr>
            </a:tbl>
          </a:graphicData>
        </a:graphic>
      </p:graphicFrame>
      <p:sp>
        <p:nvSpPr>
          <p:cNvPr id="5" name="Question"/>
          <p:cNvSpPr txBox="1"/>
          <p:nvPr/>
        </p:nvSpPr>
        <p:spPr>
          <a:xfrm>
            <a:off x="548640" y="5257800"/>
            <a:ext cx="11064240" cy="822960"/>
          </a:xfrm>
          <a:prstGeom prst="roundRect">
            <a:avLst>
              <a:gd name="adj" fmla="val 11111"/>
            </a:avLst>
          </a:prstGeom>
          <a:solidFill>
            <a:schemeClr val="tx2"/>
          </a:solidFill>
          <a:ln/>
        </p:spPr>
        <p:txBody>
          <a:bodyPr wrap="square" lIns="1270" tIns="1270" rIns="1270" bIns="1270" rtlCol="0" anchor="ctr"/>
          <a:lstStyle/>
          <a:p>
            <a:pPr algn="ctr" indent="0" marL="0">
              <a:buNone/>
            </a:pPr>
            <a:r>
              <a:rPr lang="en-US" sz="2100" b="1" dirty="0">
                <a:solidFill>
                  <a:schemeClr val="bg1"/>
                </a:solidFill>
              </a:rPr>
              <a:t>La justice fiscale vaut-elle le risque de faire partir les plus riches ?</a:t>
            </a:r>
            <a:endParaRPr lang="en-US" sz="21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Étiquette"/>
          <p:cNvSpPr txBox="1"/>
          <p:nvPr/>
        </p:nvSpPr>
        <p:spPr>
          <a:xfrm>
            <a:off x="548640" y="256032"/>
            <a:ext cx="1463040" cy="310896"/>
          </a:xfrm>
          <a:prstGeom prst="roundRect">
            <a:avLst>
              <a:gd name="adj" fmla="val 50000"/>
            </a:avLst>
          </a:prstGeom>
          <a:solidFill>
            <a:schemeClr val="tx2"/>
          </a:solidFill>
          <a:ln/>
        </p:spPr>
        <p:txBody>
          <a:bodyPr wrap="square" lIns="0" tIns="0" rIns="0" bIns="0" rtlCol="0" anchor="ctr"/>
          <a:lstStyle/>
          <a:p>
            <a:pPr algn="ctr" indent="0" marL="0">
              <a:buNone/>
            </a:pPr>
            <a:r>
              <a:rPr lang="en-US" sz="1200" b="1" spc="100" kern="0" dirty="0">
                <a:solidFill>
                  <a:schemeClr val="bg1"/>
                </a:solidFill>
              </a:rPr>
              <a:t>SOURCES</a:t>
            </a:r>
            <a:endParaRPr lang="en-US" sz="1200" dirty="0"/>
          </a:p>
        </p:txBody>
      </p:sp>
      <p:sp>
        <p:nvSpPr>
          <p:cNvPr id="3" name="Text 0"/>
          <p:cNvSpPr/>
          <p:nvPr>
            <p:ph idx="100" type="title" hasCustomPrompt="1"/>
          </p:nvPr>
        </p:nvSpPr>
        <p:spPr>
          <a:xfrm>
            <a:off x="548640" y="658368"/>
            <a:ext cx="11064240" cy="73152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Sources</a:t>
            </a:r>
            <a:endParaRPr lang="en-US" sz="3400" dirty="0"/>
          </a:p>
        </p:txBody>
      </p:sp>
      <p:sp>
        <p:nvSpPr>
          <p:cNvPr id="4" name="Shape 2"/>
          <p:cNvSpPr/>
          <p:nvPr/>
        </p:nvSpPr>
        <p:spPr>
          <a:xfrm>
            <a:off x="548640" y="1691640"/>
            <a:ext cx="329184" cy="329184"/>
          </a:xfrm>
          <a:prstGeom prst="ellipse">
            <a:avLst/>
          </a:prstGeom>
          <a:solidFill>
            <a:schemeClr val="accent1"/>
          </a:solidFill>
          <a:ln w="12700">
            <a:solidFill>
              <a:schemeClr val="accent1"/>
            </a:solidFill>
            <a:prstDash val="solid"/>
          </a:ln>
        </p:spPr>
      </p:sp>
      <p:sp>
        <p:nvSpPr>
          <p:cNvPr id="5" name="Text 3"/>
          <p:cNvSpPr txBox="1"/>
          <p:nvPr/>
        </p:nvSpPr>
        <p:spPr>
          <a:xfrm>
            <a:off x="1097280" y="1600200"/>
            <a:ext cx="10515600" cy="777240"/>
          </a:xfrm>
          <a:prstGeom prst="rect">
            <a:avLst/>
          </a:prstGeom>
          <a:noFill/>
          <a:ln/>
        </p:spPr>
        <p:txBody>
          <a:bodyPr wrap="square" lIns="0" tIns="0" rIns="0" bIns="0" rtlCol="0" anchor="t"/>
          <a:lstStyle/>
          <a:p>
            <a:pPr indent="0" marL="0">
              <a:buNone/>
            </a:pPr>
            <a:r>
              <a:rPr lang="en-US" sz="1600" b="1" dirty="0">
                <a:solidFill>
                  <a:schemeClr val="tx1"/>
                </a:solidFill>
              </a:rPr>
              <a:t>Raphaël Marchal — </a:t>
            </a:r>
            <a:pPr indent="0" marL="0">
              <a:buNone/>
            </a:pPr>
            <a:r>
              <a:rPr lang="en-US" sz="1600" u="sng" dirty="0">
                <a:solidFill>
                  <a:schemeClr val="tx1"/>
                </a:solidFill>
                <a:hlinkClick r:id="rId1" invalidUrl="" action="" tgtFrame="" tooltip="" history="1" highlightClick="0" endSnd="0">
                  <a:extLst>
                    <a:ext uri="{A12FA001-AC4F-418D-AE19-62706E023703}">
                      <ahyp:hlinkClr xmlns:ahyp="http://schemas.microsoft.com/office/drawing/2018/hyperlinkcolor" val="tx"/>
                    </a:ext>
                  </a:extLst>
                </a:hlinkClick>
              </a:rPr>
              <a:t>Gabriel Zucman dénonce un projet de budget qui « protège les milliardaires »</a:t>
            </a:r>
            <a:endParaRPr lang="en-US" sz="1600" dirty="0"/>
          </a:p>
          <a:p>
            <a:pPr indent="0" marL="0">
              <a:buNone/>
            </a:pPr>
            <a:r>
              <a:rPr lang="en-US" sz="1400" dirty="0">
                <a:solidFill>
                  <a:schemeClr val="accent5"/>
                </a:solidFill>
              </a:rPr>
              <a:t>LCP, 2 octobre 2026</a:t>
            </a:r>
            <a:endParaRPr lang="en-US" sz="1600" dirty="0"/>
          </a:p>
        </p:txBody>
      </p:sp>
      <p:sp>
        <p:nvSpPr>
          <p:cNvPr id="6" name="Shape 4"/>
          <p:cNvSpPr/>
          <p:nvPr/>
        </p:nvSpPr>
        <p:spPr>
          <a:xfrm>
            <a:off x="548640" y="2587752"/>
            <a:ext cx="329184" cy="329184"/>
          </a:xfrm>
          <a:prstGeom prst="ellipse">
            <a:avLst/>
          </a:prstGeom>
          <a:solidFill>
            <a:schemeClr val="accent1"/>
          </a:solidFill>
          <a:ln w="12700">
            <a:solidFill>
              <a:schemeClr val="accent1"/>
            </a:solidFill>
            <a:prstDash val="solid"/>
          </a:ln>
        </p:spPr>
      </p:sp>
      <p:sp>
        <p:nvSpPr>
          <p:cNvPr id="7" name="Text 5"/>
          <p:cNvSpPr txBox="1"/>
          <p:nvPr/>
        </p:nvSpPr>
        <p:spPr>
          <a:xfrm>
            <a:off x="1097280" y="2496312"/>
            <a:ext cx="10515600" cy="777240"/>
          </a:xfrm>
          <a:prstGeom prst="rect">
            <a:avLst/>
          </a:prstGeom>
          <a:noFill/>
          <a:ln/>
        </p:spPr>
        <p:txBody>
          <a:bodyPr wrap="square" lIns="0" tIns="0" rIns="0" bIns="0" rtlCol="0" anchor="t"/>
          <a:lstStyle/>
          <a:p>
            <a:pPr indent="0" marL="0">
              <a:buNone/>
            </a:pPr>
            <a:r>
              <a:rPr lang="en-US" sz="1600" b="1" dirty="0">
                <a:solidFill>
                  <a:schemeClr val="tx1"/>
                </a:solidFill>
              </a:rPr>
              <a:t>Reporterre — </a:t>
            </a:r>
            <a:pPr indent="0" marL="0">
              <a:buNone/>
            </a:pPr>
            <a:r>
              <a:rPr lang="en-US" sz="1600" u="sng" dirty="0">
                <a:solidFill>
                  <a:schemeClr val="tx1"/>
                </a:solidFill>
                <a:hlinkClick r:id="rId2" invalidUrl="" action="" tgtFrame="" tooltip="" history="1" highlightClick="0" endSnd="0">
                  <a:extLst>
                    <a:ext uri="{A12FA001-AC4F-418D-AE19-62706E023703}">
                      <ahyp:hlinkClr xmlns:ahyp="http://schemas.microsoft.com/office/drawing/2018/hyperlinkcolor" val="tx"/>
                    </a:ext>
                  </a:extLst>
                </a:hlinkClick>
              </a:rPr>
              <a:t>Impôts favorables aux riches : Oxfam attaque l'État en justice</a:t>
            </a:r>
            <a:endParaRPr lang="en-US" sz="1600" dirty="0"/>
          </a:p>
          <a:p>
            <a:pPr indent="0" marL="0">
              <a:buNone/>
            </a:pPr>
            <a:r>
              <a:rPr lang="en-US" sz="1400" dirty="0">
                <a:solidFill>
                  <a:schemeClr val="accent5"/>
                </a:solidFill>
              </a:rPr>
              <a:t>13 octobre 2026</a:t>
            </a:r>
            <a:endParaRPr lang="en-US" sz="1600" dirty="0"/>
          </a:p>
        </p:txBody>
      </p:sp>
      <p:sp>
        <p:nvSpPr>
          <p:cNvPr id="8" name="Shape 6"/>
          <p:cNvSpPr/>
          <p:nvPr/>
        </p:nvSpPr>
        <p:spPr>
          <a:xfrm>
            <a:off x="548640" y="3483864"/>
            <a:ext cx="329184" cy="329184"/>
          </a:xfrm>
          <a:prstGeom prst="ellipse">
            <a:avLst/>
          </a:prstGeom>
          <a:solidFill>
            <a:schemeClr val="accent2"/>
          </a:solidFill>
          <a:ln w="12700">
            <a:solidFill>
              <a:schemeClr val="accent2"/>
            </a:solidFill>
            <a:prstDash val="solid"/>
          </a:ln>
        </p:spPr>
      </p:sp>
      <p:sp>
        <p:nvSpPr>
          <p:cNvPr id="9" name="Text 7"/>
          <p:cNvSpPr txBox="1"/>
          <p:nvPr/>
        </p:nvSpPr>
        <p:spPr>
          <a:xfrm>
            <a:off x="1097280" y="3392424"/>
            <a:ext cx="10515600" cy="777240"/>
          </a:xfrm>
          <a:prstGeom prst="rect">
            <a:avLst/>
          </a:prstGeom>
          <a:noFill/>
          <a:ln/>
        </p:spPr>
        <p:txBody>
          <a:bodyPr wrap="square" lIns="0" tIns="0" rIns="0" bIns="0" rtlCol="0" anchor="t"/>
          <a:lstStyle/>
          <a:p>
            <a:pPr indent="0" marL="0">
              <a:buNone/>
            </a:pPr>
            <a:r>
              <a:rPr lang="en-US" sz="1600" b="1" dirty="0">
                <a:solidFill>
                  <a:schemeClr val="tx1"/>
                </a:solidFill>
              </a:rPr>
              <a:t>Victor Fouquet — </a:t>
            </a:r>
            <a:pPr indent="0" marL="0">
              <a:buNone/>
            </a:pPr>
            <a:r>
              <a:rPr lang="en-US" sz="1600" u="sng" dirty="0">
                <a:solidFill>
                  <a:schemeClr val="tx1"/>
                </a:solidFill>
                <a:hlinkClick r:id="rId3" invalidUrl="" action="" tgtFrame="" tooltip="" history="1" highlightClick="0" endSnd="0">
                  <a:extLst>
                    <a:ext uri="{A12FA001-AC4F-418D-AE19-62706E023703}">
                      <ahyp:hlinkClr xmlns:ahyp="http://schemas.microsoft.com/office/drawing/2018/hyperlinkcolor" val="tx"/>
                    </a:ext>
                  </a:extLst>
                </a:hlinkClick>
              </a:rPr>
              <a:t>L'impasse de la « taxe Zucman »</a:t>
            </a:r>
            <a:endParaRPr lang="en-US" sz="1600" dirty="0"/>
          </a:p>
          <a:p>
            <a:pPr indent="0" marL="0">
              <a:buNone/>
            </a:pPr>
            <a:r>
              <a:rPr lang="en-US" sz="1400" dirty="0">
                <a:solidFill>
                  <a:schemeClr val="accent5"/>
                </a:solidFill>
              </a:rPr>
              <a:t>Fondapol, juin 2026</a:t>
            </a:r>
            <a:endParaRPr lang="en-US" sz="1600" dirty="0"/>
          </a:p>
        </p:txBody>
      </p:sp>
      <p:sp>
        <p:nvSpPr>
          <p:cNvPr id="10" name="Shape 8"/>
          <p:cNvSpPr/>
          <p:nvPr/>
        </p:nvSpPr>
        <p:spPr>
          <a:xfrm>
            <a:off x="548640" y="4379976"/>
            <a:ext cx="329184" cy="329184"/>
          </a:xfrm>
          <a:prstGeom prst="ellipse">
            <a:avLst/>
          </a:prstGeom>
          <a:solidFill>
            <a:schemeClr val="accent2"/>
          </a:solidFill>
          <a:ln w="12700">
            <a:solidFill>
              <a:schemeClr val="accent2"/>
            </a:solidFill>
            <a:prstDash val="solid"/>
          </a:ln>
        </p:spPr>
      </p:sp>
      <p:sp>
        <p:nvSpPr>
          <p:cNvPr id="11" name="Text 9"/>
          <p:cNvSpPr txBox="1"/>
          <p:nvPr/>
        </p:nvSpPr>
        <p:spPr>
          <a:xfrm>
            <a:off x="1097280" y="4288536"/>
            <a:ext cx="10515600" cy="777240"/>
          </a:xfrm>
          <a:prstGeom prst="rect">
            <a:avLst/>
          </a:prstGeom>
          <a:noFill/>
          <a:ln/>
        </p:spPr>
        <p:txBody>
          <a:bodyPr wrap="square" lIns="0" tIns="0" rIns="0" bIns="0" rtlCol="0" anchor="t"/>
          <a:lstStyle/>
          <a:p>
            <a:pPr indent="0" marL="0">
              <a:buNone/>
            </a:pPr>
            <a:r>
              <a:rPr lang="en-US" sz="1600" b="1" dirty="0">
                <a:solidFill>
                  <a:schemeClr val="tx1"/>
                </a:solidFill>
              </a:rPr>
              <a:t>Fondation IFRAP — </a:t>
            </a:r>
            <a:pPr indent="0" marL="0">
              <a:buNone/>
            </a:pPr>
            <a:r>
              <a:rPr lang="en-US" sz="1600" u="sng" dirty="0">
                <a:solidFill>
                  <a:schemeClr val="tx1"/>
                </a:solidFill>
                <a:hlinkClick r:id="rId4" invalidUrl="" action="" tgtFrame="" tooltip="" history="1" highlightClick="0" endSnd="0">
                  <a:extLst>
                    <a:ext uri="{A12FA001-AC4F-418D-AE19-62706E023703}">
                      <ahyp:hlinkClr xmlns:ahyp="http://schemas.microsoft.com/office/drawing/2018/hyperlinkcolor" val="tx"/>
                    </a:ext>
                  </a:extLst>
                </a:hlinkClick>
              </a:rPr>
              <a:t>Fiscalité des riches : le mirage des milliards de recettes</a:t>
            </a:r>
            <a:endParaRPr lang="en-US" sz="1600" dirty="0"/>
          </a:p>
          <a:p>
            <a:pPr indent="0" marL="0">
              <a:buNone/>
            </a:pPr>
            <a:r>
              <a:rPr lang="en-US" sz="1400" dirty="0">
                <a:solidFill>
                  <a:schemeClr val="accent5"/>
                </a:solidFill>
              </a:rPr>
              <a:t>Septembre 2025</a:t>
            </a:r>
            <a:endParaRPr lang="en-US" sz="1600" dirty="0"/>
          </a:p>
        </p:txBody>
      </p:sp>
      <p:sp>
        <p:nvSpPr>
          <p:cNvPr id="12" name="Shape 10"/>
          <p:cNvSpPr/>
          <p:nvPr/>
        </p:nvSpPr>
        <p:spPr>
          <a:xfrm>
            <a:off x="548640" y="5276088"/>
            <a:ext cx="329184" cy="329184"/>
          </a:xfrm>
          <a:prstGeom prst="ellipse">
            <a:avLst/>
          </a:prstGeom>
          <a:solidFill>
            <a:schemeClr val="accent3"/>
          </a:solidFill>
          <a:ln w="12700">
            <a:solidFill>
              <a:schemeClr val="accent3"/>
            </a:solidFill>
            <a:prstDash val="solid"/>
          </a:ln>
        </p:spPr>
      </p:sp>
      <p:sp>
        <p:nvSpPr>
          <p:cNvPr id="13" name="Text 11"/>
          <p:cNvSpPr txBox="1"/>
          <p:nvPr/>
        </p:nvSpPr>
        <p:spPr>
          <a:xfrm>
            <a:off x="1097280" y="5184648"/>
            <a:ext cx="10515600" cy="777240"/>
          </a:xfrm>
          <a:prstGeom prst="rect">
            <a:avLst/>
          </a:prstGeom>
          <a:noFill/>
          <a:ln/>
        </p:spPr>
        <p:txBody>
          <a:bodyPr wrap="square" lIns="0" tIns="0" rIns="0" bIns="0" rtlCol="0" anchor="t"/>
          <a:lstStyle/>
          <a:p>
            <a:pPr indent="0" marL="0">
              <a:buNone/>
            </a:pPr>
            <a:r>
              <a:rPr lang="en-US" sz="1600" b="1" dirty="0">
                <a:solidFill>
                  <a:schemeClr val="tx1"/>
                </a:solidFill>
              </a:rPr>
              <a:t>G. Allègre et X. Timbeau — </a:t>
            </a:r>
            <a:pPr indent="0" marL="0">
              <a:buNone/>
            </a:pPr>
            <a:r>
              <a:rPr lang="en-US" sz="1600" u="sng" dirty="0">
                <a:solidFill>
                  <a:schemeClr val="tx1"/>
                </a:solidFill>
                <a:hlinkClick r:id="rId5" invalidUrl="" action="" tgtFrame="" tooltip="" history="1" highlightClick="0" endSnd="0">
                  <a:extLst>
                    <a:ext uri="{A12FA001-AC4F-418D-AE19-62706E023703}">
                      <ahyp:hlinkClr xmlns:ahyp="http://schemas.microsoft.com/office/drawing/2018/hyperlinkcolor" val="tx"/>
                    </a:ext>
                  </a:extLst>
                </a:hlinkClick>
              </a:rPr>
              <a:t>Pourquoi et comment taxer les plus riches ?</a:t>
            </a:r>
            <a:endParaRPr lang="en-US" sz="1600" dirty="0"/>
          </a:p>
          <a:p>
            <a:pPr indent="0" marL="0">
              <a:buNone/>
            </a:pPr>
            <a:r>
              <a:rPr lang="en-US" sz="1400" dirty="0">
                <a:solidFill>
                  <a:schemeClr val="accent5"/>
                </a:solidFill>
              </a:rPr>
              <a:t>OFCE – Sciences Po, avril 2026</a:t>
            </a:r>
            <a:endParaRPr lang="en-US" sz="16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10698480" cy="1188720"/>
          </a:xfrm>
          <a:prstGeom prst="rect">
            <a:avLst/>
          </a:prstGeom>
          <a:noFill/>
          <a:ln/>
        </p:spPr>
        <p:txBody>
          <a:bodyPr wrap="square" lIns="0" tIns="0" rIns="0" bIns="0" rtlCol="0" anchor="b"/>
          <a:lstStyle/>
          <a:p>
            <a:pPr algn="l" indent="0" marL="0">
              <a:buNone/>
            </a:pPr>
            <a:r>
              <a:rPr lang="en-US" sz="4800" b="1" dirty="0">
                <a:solidFill>
                  <a:schemeClr val="bg1"/>
                </a:solidFill>
                <a:latin typeface="Cambria" pitchFamily="34" charset="0"/>
                <a:ea typeface="Cambria" pitchFamily="34" charset="-122"/>
                <a:cs typeface="Cambria" pitchFamily="34" charset="-120"/>
              </a:rPr>
              <a:t>Les retraites</a:t>
            </a:r>
            <a:endParaRPr lang="en-US" sz="4800" dirty="0"/>
          </a:p>
        </p:txBody>
      </p:sp>
      <p:sp>
        <p:nvSpPr>
          <p:cNvPr id="3" name="Text 0"/>
          <p:cNvSpPr/>
          <p:nvPr>
            <p:ph idx="101" type="body" hasCustomPrompt="1"/>
          </p:nvPr>
        </p:nvSpPr>
        <p:spPr>
          <a:xfrm>
            <a:off x="731520" y="2788920"/>
            <a:ext cx="10698480" cy="731520"/>
          </a:xfrm>
          <a:prstGeom prst="rect">
            <a:avLst/>
          </a:prstGeom>
          <a:noFill/>
          <a:ln/>
        </p:spPr>
        <p:txBody>
          <a:bodyPr wrap="square" lIns="0" tIns="0" rIns="0" bIns="0" rtlCol="0" anchor="t"/>
          <a:lstStyle/>
          <a:p>
            <a:pPr indent="0" marL="0">
              <a:buNone/>
            </a:pPr>
            <a:r>
              <a:rPr lang="en-US" sz="2400" dirty="0">
                <a:solidFill>
                  <a:schemeClr val="accent6"/>
                </a:solidFill>
                <a:latin typeface="Calibri" pitchFamily="34" charset="0"/>
                <a:ea typeface="Calibri" pitchFamily="34" charset="-122"/>
                <a:cs typeface="Calibri" pitchFamily="34" charset="-120"/>
              </a:rPr>
              <a:t>Faut-il introduire de la capitalisation ?</a:t>
            </a:r>
            <a:endParaRPr lang="en-US" sz="2400" dirty="0"/>
          </a:p>
        </p:txBody>
      </p:sp>
      <p:sp>
        <p:nvSpPr>
          <p:cNvPr id="4" name="Text 2"/>
          <p:cNvSpPr txBox="1"/>
          <p:nvPr/>
        </p:nvSpPr>
        <p:spPr>
          <a:xfrm>
            <a:off x="731520" y="4069080"/>
            <a:ext cx="10698480" cy="365760"/>
          </a:xfrm>
          <a:prstGeom prst="rect">
            <a:avLst/>
          </a:prstGeom>
          <a:noFill/>
          <a:ln/>
        </p:spPr>
        <p:txBody>
          <a:bodyPr wrap="square" lIns="0" tIns="0" rIns="0" bIns="0" rtlCol="0" anchor="ctr"/>
          <a:lstStyle/>
          <a:p>
            <a:pPr indent="0" marL="0">
              <a:buNone/>
            </a:pPr>
            <a:r>
              <a:rPr lang="en-US" sz="1600" dirty="0">
                <a:solidFill>
                  <a:schemeClr val="accent6"/>
                </a:solidFill>
              </a:rPr>
              <a:t>Trois positions sur l'avenir de notre système de retraite</a:t>
            </a:r>
            <a:endParaRPr lang="en-US" sz="1600" dirty="0"/>
          </a:p>
        </p:txBody>
      </p:sp>
      <p:sp>
        <p:nvSpPr>
          <p:cNvPr id="5" name="Position 1"/>
          <p:cNvSpPr txBox="1"/>
          <p:nvPr/>
        </p:nvSpPr>
        <p:spPr>
          <a:xfrm>
            <a:off x="731520" y="4572000"/>
            <a:ext cx="3200400" cy="548640"/>
          </a:xfrm>
          <a:prstGeom prst="roundRect">
            <a:avLst>
              <a:gd name="adj" fmla="val 50000"/>
            </a:avLst>
          </a:prstGeom>
          <a:solidFill>
            <a:schemeClr val="accent2"/>
          </a:solidFill>
          <a:ln/>
        </p:spPr>
        <p:txBody>
          <a:bodyPr wrap="square" lIns="0" tIns="0" rIns="0" bIns="0" rtlCol="0" anchor="ctr"/>
          <a:lstStyle/>
          <a:p>
            <a:pPr algn="ctr" indent="0" marL="0">
              <a:buNone/>
            </a:pPr>
            <a:r>
              <a:rPr lang="en-US" sz="1600" b="1" dirty="0">
                <a:solidFill>
                  <a:schemeClr val="bg1"/>
                </a:solidFill>
              </a:rPr>
              <a:t>Pour · Fondapol</a:t>
            </a:r>
            <a:endParaRPr lang="en-US" sz="1600" dirty="0"/>
          </a:p>
        </p:txBody>
      </p:sp>
      <p:sp>
        <p:nvSpPr>
          <p:cNvPr id="6" name="Position 2"/>
          <p:cNvSpPr txBox="1"/>
          <p:nvPr/>
        </p:nvSpPr>
        <p:spPr>
          <a:xfrm>
            <a:off x="4160520" y="4572000"/>
            <a:ext cx="3200400" cy="548640"/>
          </a:xfrm>
          <a:prstGeom prst="roundRect">
            <a:avLst>
              <a:gd name="adj" fmla="val 50000"/>
            </a:avLst>
          </a:prstGeom>
          <a:solidFill>
            <a:schemeClr val="accent3"/>
          </a:solidFill>
          <a:ln/>
        </p:spPr>
        <p:txBody>
          <a:bodyPr wrap="square" lIns="0" tIns="0" rIns="0" bIns="0" rtlCol="0" anchor="ctr"/>
          <a:lstStyle/>
          <a:p>
            <a:pPr algn="ctr" indent="0" marL="0">
              <a:buNone/>
            </a:pPr>
            <a:r>
              <a:rPr lang="en-US" sz="1600" b="1" dirty="0">
                <a:solidFill>
                  <a:schemeClr val="bg1"/>
                </a:solidFill>
              </a:rPr>
              <a:t>Milieu · Thesmar et Landier</a:t>
            </a:r>
            <a:endParaRPr lang="en-US" sz="1600" dirty="0"/>
          </a:p>
        </p:txBody>
      </p:sp>
      <p:sp>
        <p:nvSpPr>
          <p:cNvPr id="7" name="Position 3"/>
          <p:cNvSpPr txBox="1"/>
          <p:nvPr/>
        </p:nvSpPr>
        <p:spPr>
          <a:xfrm>
            <a:off x="7589520" y="4572000"/>
            <a:ext cx="3200400" cy="548640"/>
          </a:xfrm>
          <a:prstGeom prst="roundRect">
            <a:avLst>
              <a:gd name="adj" fmla="val 50000"/>
            </a:avLst>
          </a:prstGeom>
          <a:solidFill>
            <a:schemeClr val="accent1"/>
          </a:solidFill>
          <a:ln/>
        </p:spPr>
        <p:txBody>
          <a:bodyPr wrap="square" lIns="0" tIns="0" rIns="0" bIns="0" rtlCol="0" anchor="ctr"/>
          <a:lstStyle/>
          <a:p>
            <a:pPr algn="ctr" indent="0" marL="0">
              <a:buNone/>
            </a:pPr>
            <a:r>
              <a:rPr lang="en-US" sz="1600" b="1" dirty="0">
                <a:solidFill>
                  <a:schemeClr val="bg1"/>
                </a:solidFill>
              </a:rPr>
              <a:t>Contre · CGT</a:t>
            </a:r>
            <a:endParaRPr lang="en-US" sz="1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Étiquette"/>
          <p:cNvSpPr txBox="1"/>
          <p:nvPr/>
        </p:nvSpPr>
        <p:spPr>
          <a:xfrm>
            <a:off x="548640" y="256032"/>
            <a:ext cx="1664208" cy="310896"/>
          </a:xfrm>
          <a:prstGeom prst="roundRect">
            <a:avLst>
              <a:gd name="adj" fmla="val 50000"/>
            </a:avLst>
          </a:prstGeom>
          <a:solidFill>
            <a:schemeClr val="tx2"/>
          </a:solidFill>
          <a:ln/>
        </p:spPr>
        <p:txBody>
          <a:bodyPr wrap="square" lIns="0" tIns="0" rIns="0" bIns="0" rtlCol="0" anchor="ctr"/>
          <a:lstStyle/>
          <a:p>
            <a:pPr algn="ctr" indent="0" marL="0">
              <a:buNone/>
            </a:pPr>
            <a:r>
              <a:rPr lang="en-US" sz="1200" b="1" spc="100" kern="0" dirty="0">
                <a:solidFill>
                  <a:schemeClr val="bg1"/>
                </a:solidFill>
              </a:rPr>
              <a:t>INTRODUCTION</a:t>
            </a:r>
            <a:endParaRPr lang="en-US" sz="1200" dirty="0"/>
          </a:p>
        </p:txBody>
      </p:sp>
      <p:sp>
        <p:nvSpPr>
          <p:cNvPr id="3" name="Text 0"/>
          <p:cNvSpPr/>
          <p:nvPr>
            <p:ph idx="100" type="title" hasCustomPrompt="1"/>
          </p:nvPr>
        </p:nvSpPr>
        <p:spPr>
          <a:xfrm>
            <a:off x="548640" y="658368"/>
            <a:ext cx="11064240" cy="73152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Répartition ou capitalisation ?</a:t>
            </a:r>
            <a:endParaRPr lang="en-US" sz="3400" dirty="0"/>
          </a:p>
        </p:txBody>
      </p:sp>
      <p:sp>
        <p:nvSpPr>
          <p:cNvPr id="4" name="Carte Répartition (système actuel)"/>
          <p:cNvSpPr/>
          <p:nvPr/>
        </p:nvSpPr>
        <p:spPr>
          <a:xfrm>
            <a:off x="548640" y="1600200"/>
            <a:ext cx="5120640" cy="2148840"/>
          </a:xfrm>
          <a:prstGeom prst="roundRect">
            <a:avLst>
              <a:gd name="adj" fmla="val 3404"/>
            </a:avLst>
          </a:prstGeom>
          <a:solidFill>
            <a:schemeClr val="bg2"/>
          </a:solidFill>
          <a:ln w="12700">
            <a:solidFill>
              <a:schemeClr val="bg2"/>
            </a:solidFill>
            <a:prstDash val="solid"/>
          </a:ln>
        </p:spPr>
      </p:sp>
      <p:sp>
        <p:nvSpPr>
          <p:cNvPr id="5" name="Text 3"/>
          <p:cNvSpPr txBox="1"/>
          <p:nvPr/>
        </p:nvSpPr>
        <p:spPr>
          <a:xfrm>
            <a:off x="822960" y="1828800"/>
            <a:ext cx="4572000" cy="411480"/>
          </a:xfrm>
          <a:prstGeom prst="rect">
            <a:avLst/>
          </a:prstGeom>
          <a:noFill/>
          <a:ln/>
        </p:spPr>
        <p:txBody>
          <a:bodyPr wrap="square" lIns="0" tIns="0" rIns="0" bIns="0" rtlCol="0" anchor="ctr"/>
          <a:lstStyle/>
          <a:p>
            <a:pPr indent="0" marL="0">
              <a:buNone/>
            </a:pPr>
            <a:r>
              <a:rPr lang="en-US" sz="1900" b="1" dirty="0">
                <a:solidFill>
                  <a:schemeClr val="tx2"/>
                </a:solidFill>
              </a:rPr>
              <a:t>Répartition (système actuel)</a:t>
            </a:r>
            <a:endParaRPr lang="en-US" sz="1900" dirty="0"/>
          </a:p>
        </p:txBody>
      </p:sp>
      <p:sp>
        <p:nvSpPr>
          <p:cNvPr id="6" name="Text 4"/>
          <p:cNvSpPr txBox="1"/>
          <p:nvPr/>
        </p:nvSpPr>
        <p:spPr>
          <a:xfrm>
            <a:off x="822960" y="2377440"/>
            <a:ext cx="4572000" cy="1234440"/>
          </a:xfrm>
          <a:prstGeom prst="rect">
            <a:avLst/>
          </a:prstGeom>
          <a:noFill/>
          <a:ln/>
        </p:spPr>
        <p:txBody>
          <a:bodyPr wrap="square" lIns="0" tIns="0" rIns="0" bIns="0" rtlCol="0" anchor="t"/>
          <a:lstStyle/>
          <a:p>
            <a:pPr indent="0" marL="0">
              <a:buNone/>
            </a:pPr>
            <a:r>
              <a:rPr lang="en-US" sz="1600" dirty="0">
                <a:solidFill>
                  <a:schemeClr val="tx1"/>
                </a:solidFill>
              </a:rPr>
              <a:t>Les cotisations des actifs d'aujourd'hui paient directement les pensions des retraités d'aujourd'hui. C'est la solidarité entre générations.</a:t>
            </a:r>
            <a:endParaRPr lang="en-US" sz="1600" dirty="0"/>
          </a:p>
        </p:txBody>
      </p:sp>
      <p:sp>
        <p:nvSpPr>
          <p:cNvPr id="7" name="Carte Capitalisation"/>
          <p:cNvSpPr/>
          <p:nvPr/>
        </p:nvSpPr>
        <p:spPr>
          <a:xfrm>
            <a:off x="548640" y="3931920"/>
            <a:ext cx="5120640" cy="2148840"/>
          </a:xfrm>
          <a:prstGeom prst="roundRect">
            <a:avLst>
              <a:gd name="adj" fmla="val 3404"/>
            </a:avLst>
          </a:prstGeom>
          <a:solidFill>
            <a:schemeClr val="bg2"/>
          </a:solidFill>
          <a:ln w="12700">
            <a:solidFill>
              <a:schemeClr val="bg2"/>
            </a:solidFill>
            <a:prstDash val="solid"/>
          </a:ln>
        </p:spPr>
      </p:sp>
      <p:sp>
        <p:nvSpPr>
          <p:cNvPr id="8" name="Text 6"/>
          <p:cNvSpPr txBox="1"/>
          <p:nvPr/>
        </p:nvSpPr>
        <p:spPr>
          <a:xfrm>
            <a:off x="822960" y="4160520"/>
            <a:ext cx="4572000" cy="411480"/>
          </a:xfrm>
          <a:prstGeom prst="rect">
            <a:avLst/>
          </a:prstGeom>
          <a:noFill/>
          <a:ln/>
        </p:spPr>
        <p:txBody>
          <a:bodyPr wrap="square" lIns="0" tIns="0" rIns="0" bIns="0" rtlCol="0" anchor="ctr"/>
          <a:lstStyle/>
          <a:p>
            <a:pPr indent="0" marL="0">
              <a:buNone/>
            </a:pPr>
            <a:r>
              <a:rPr lang="en-US" sz="1900" b="1" dirty="0">
                <a:solidFill>
                  <a:schemeClr val="tx2"/>
                </a:solidFill>
              </a:rPr>
              <a:t>Capitalisation</a:t>
            </a:r>
            <a:endParaRPr lang="en-US" sz="1900" dirty="0"/>
          </a:p>
        </p:txBody>
      </p:sp>
      <p:sp>
        <p:nvSpPr>
          <p:cNvPr id="9" name="Text 7"/>
          <p:cNvSpPr txBox="1"/>
          <p:nvPr/>
        </p:nvSpPr>
        <p:spPr>
          <a:xfrm>
            <a:off x="822960" y="4709160"/>
            <a:ext cx="4572000" cy="1234440"/>
          </a:xfrm>
          <a:prstGeom prst="rect">
            <a:avLst/>
          </a:prstGeom>
          <a:noFill/>
          <a:ln/>
        </p:spPr>
        <p:txBody>
          <a:bodyPr wrap="square" lIns="0" tIns="0" rIns="0" bIns="0" rtlCol="0" anchor="t"/>
          <a:lstStyle/>
          <a:p>
            <a:pPr indent="0" marL="0">
              <a:buNone/>
            </a:pPr>
            <a:r>
              <a:rPr lang="en-US" sz="1600" dirty="0">
                <a:solidFill>
                  <a:schemeClr val="tx1"/>
                </a:solidFill>
              </a:rPr>
              <a:t>Chacun épargne pour sa propre retraite. L'argent est placé, souvent en Bourse, puis récupéré au moment de partir.</a:t>
            </a:r>
            <a:endParaRPr lang="en-US" sz="1600" dirty="0"/>
          </a:p>
        </p:txBody>
      </p:sp>
      <p:sp>
        <p:nvSpPr>
          <p:cNvPr id="10" name="Carte démographie"/>
          <p:cNvSpPr/>
          <p:nvPr/>
        </p:nvSpPr>
        <p:spPr>
          <a:xfrm>
            <a:off x="6035040" y="1600200"/>
            <a:ext cx="5577840" cy="4526280"/>
          </a:xfrm>
          <a:prstGeom prst="roundRect">
            <a:avLst>
              <a:gd name="adj" fmla="val 1616"/>
            </a:avLst>
          </a:prstGeom>
          <a:solidFill>
            <a:schemeClr val="bg2"/>
          </a:solidFill>
          <a:ln w="12700">
            <a:solidFill>
              <a:schemeClr val="bg2"/>
            </a:solidFill>
            <a:prstDash val="solid"/>
          </a:ln>
        </p:spPr>
      </p:sp>
      <p:sp>
        <p:nvSpPr>
          <p:cNvPr id="11" name="Text 9"/>
          <p:cNvSpPr txBox="1"/>
          <p:nvPr/>
        </p:nvSpPr>
        <p:spPr>
          <a:xfrm>
            <a:off x="6309360" y="1737360"/>
            <a:ext cx="5029200" cy="594360"/>
          </a:xfrm>
          <a:prstGeom prst="rect">
            <a:avLst/>
          </a:prstGeom>
          <a:noFill/>
          <a:ln/>
        </p:spPr>
        <p:txBody>
          <a:bodyPr wrap="square" lIns="0" tIns="0" rIns="0" bIns="0" rtlCol="0" anchor="ctr"/>
          <a:lstStyle/>
          <a:p>
            <a:pPr indent="0" marL="0">
              <a:buNone/>
            </a:pPr>
            <a:r>
              <a:rPr lang="en-US" sz="1500" b="1" dirty="0">
                <a:solidFill>
                  <a:schemeClr val="tx2"/>
                </a:solidFill>
              </a:rPr>
              <a:t>Nombre d'actifs (20-64 ans) pour un retraité (65 ans et plus)</a:t>
            </a:r>
            <a:endParaRPr lang="en-US" sz="1500" dirty="0"/>
          </a:p>
        </p:txBody>
      </p:sp>
      <p:sp>
        <p:nvSpPr>
          <p:cNvPr id="12" name="Shape 10"/>
          <p:cNvSpPr/>
          <p:nvPr/>
        </p:nvSpPr>
        <p:spPr>
          <a:xfrm>
            <a:off x="6629400" y="2971800"/>
            <a:ext cx="1097280" cy="2286000"/>
          </a:xfrm>
          <a:prstGeom prst="rect">
            <a:avLst/>
          </a:prstGeom>
          <a:solidFill>
            <a:schemeClr val="accent4"/>
          </a:solidFill>
          <a:ln w="12700">
            <a:solidFill>
              <a:schemeClr val="accent4"/>
            </a:solidFill>
            <a:prstDash val="solid"/>
          </a:ln>
        </p:spPr>
      </p:sp>
      <p:sp>
        <p:nvSpPr>
          <p:cNvPr id="13" name="Text 11"/>
          <p:cNvSpPr txBox="1"/>
          <p:nvPr/>
        </p:nvSpPr>
        <p:spPr>
          <a:xfrm>
            <a:off x="6263640" y="2514600"/>
            <a:ext cx="1828800" cy="411480"/>
          </a:xfrm>
          <a:prstGeom prst="rect">
            <a:avLst/>
          </a:prstGeom>
          <a:noFill/>
          <a:ln/>
        </p:spPr>
        <p:txBody>
          <a:bodyPr wrap="square" lIns="0" tIns="0" rIns="0" bIns="0" rtlCol="0" anchor="ctr"/>
          <a:lstStyle/>
          <a:p>
            <a:pPr algn="ctr" indent="0" marL="0">
              <a:buNone/>
            </a:pPr>
            <a:r>
              <a:rPr lang="en-US" sz="2200" b="1" dirty="0">
                <a:solidFill>
                  <a:schemeClr val="tx1"/>
                </a:solidFill>
              </a:rPr>
              <a:t>&gt; 4</a:t>
            </a:r>
            <a:endParaRPr lang="en-US" sz="2200" dirty="0"/>
          </a:p>
        </p:txBody>
      </p:sp>
      <p:sp>
        <p:nvSpPr>
          <p:cNvPr id="14" name="Text 12"/>
          <p:cNvSpPr txBox="1"/>
          <p:nvPr/>
        </p:nvSpPr>
        <p:spPr>
          <a:xfrm>
            <a:off x="6172200" y="5330952"/>
            <a:ext cx="2011680" cy="548640"/>
          </a:xfrm>
          <a:prstGeom prst="rect">
            <a:avLst/>
          </a:prstGeom>
          <a:noFill/>
          <a:ln/>
        </p:spPr>
        <p:txBody>
          <a:bodyPr wrap="square" lIns="0" tIns="0" rIns="0" bIns="0" rtlCol="0" anchor="ctr"/>
          <a:lstStyle/>
          <a:p>
            <a:pPr algn="ctr" indent="0" marL="0">
              <a:buNone/>
            </a:pPr>
            <a:r>
              <a:rPr lang="en-US" sz="1300" dirty="0">
                <a:solidFill>
                  <a:schemeClr val="tx1"/>
                </a:solidFill>
              </a:rPr>
              <a:t>1990</a:t>
            </a:r>
            <a:endParaRPr lang="en-US" sz="1300" dirty="0"/>
          </a:p>
        </p:txBody>
      </p:sp>
      <p:sp>
        <p:nvSpPr>
          <p:cNvPr id="15" name="Shape 13"/>
          <p:cNvSpPr/>
          <p:nvPr/>
        </p:nvSpPr>
        <p:spPr>
          <a:xfrm>
            <a:off x="8275320" y="3829050"/>
            <a:ext cx="1097280" cy="1428750"/>
          </a:xfrm>
          <a:prstGeom prst="rect">
            <a:avLst/>
          </a:prstGeom>
          <a:solidFill>
            <a:schemeClr val="tx2"/>
          </a:solidFill>
          <a:ln w="12700">
            <a:solidFill>
              <a:schemeClr val="tx2"/>
            </a:solidFill>
            <a:prstDash val="solid"/>
          </a:ln>
        </p:spPr>
      </p:sp>
      <p:sp>
        <p:nvSpPr>
          <p:cNvPr id="16" name="Text 14"/>
          <p:cNvSpPr txBox="1"/>
          <p:nvPr/>
        </p:nvSpPr>
        <p:spPr>
          <a:xfrm>
            <a:off x="7909560" y="3371850"/>
            <a:ext cx="1828800" cy="411480"/>
          </a:xfrm>
          <a:prstGeom prst="rect">
            <a:avLst/>
          </a:prstGeom>
          <a:noFill/>
          <a:ln/>
        </p:spPr>
        <p:txBody>
          <a:bodyPr wrap="square" lIns="0" tIns="0" rIns="0" bIns="0" rtlCol="0" anchor="ctr"/>
          <a:lstStyle/>
          <a:p>
            <a:pPr algn="ctr" indent="0" marL="0">
              <a:buNone/>
            </a:pPr>
            <a:r>
              <a:rPr lang="en-US" sz="2200" b="1" dirty="0">
                <a:solidFill>
                  <a:schemeClr val="tx1"/>
                </a:solidFill>
              </a:rPr>
              <a:t>2,5</a:t>
            </a:r>
            <a:endParaRPr lang="en-US" sz="2200" dirty="0"/>
          </a:p>
        </p:txBody>
      </p:sp>
      <p:sp>
        <p:nvSpPr>
          <p:cNvPr id="17" name="Text 15"/>
          <p:cNvSpPr txBox="1"/>
          <p:nvPr/>
        </p:nvSpPr>
        <p:spPr>
          <a:xfrm>
            <a:off x="7818120" y="5330952"/>
            <a:ext cx="2011680" cy="548640"/>
          </a:xfrm>
          <a:prstGeom prst="rect">
            <a:avLst/>
          </a:prstGeom>
          <a:noFill/>
          <a:ln/>
        </p:spPr>
        <p:txBody>
          <a:bodyPr wrap="square" lIns="0" tIns="0" rIns="0" bIns="0" rtlCol="0" anchor="ctr"/>
          <a:lstStyle/>
          <a:p>
            <a:pPr algn="ctr" indent="0" marL="0">
              <a:buNone/>
            </a:pPr>
            <a:r>
              <a:rPr lang="en-US" sz="1300" dirty="0">
                <a:solidFill>
                  <a:schemeClr val="tx1"/>
                </a:solidFill>
              </a:rPr>
              <a:t>Aujourd'hui</a:t>
            </a:r>
            <a:endParaRPr lang="en-US" sz="1300" dirty="0"/>
          </a:p>
        </p:txBody>
      </p:sp>
      <p:sp>
        <p:nvSpPr>
          <p:cNvPr id="18" name="Shape 16"/>
          <p:cNvSpPr/>
          <p:nvPr/>
        </p:nvSpPr>
        <p:spPr>
          <a:xfrm>
            <a:off x="9921240" y="4114800"/>
            <a:ext cx="1097280" cy="1143000"/>
          </a:xfrm>
          <a:prstGeom prst="rect">
            <a:avLst/>
          </a:prstGeom>
          <a:solidFill>
            <a:schemeClr val="tx2"/>
          </a:solidFill>
          <a:ln w="12700">
            <a:solidFill>
              <a:schemeClr val="tx2"/>
            </a:solidFill>
            <a:prstDash val="solid"/>
          </a:ln>
        </p:spPr>
      </p:sp>
      <p:sp>
        <p:nvSpPr>
          <p:cNvPr id="19" name="Text 17"/>
          <p:cNvSpPr txBox="1"/>
          <p:nvPr/>
        </p:nvSpPr>
        <p:spPr>
          <a:xfrm>
            <a:off x="9555480" y="3657600"/>
            <a:ext cx="1828800" cy="411480"/>
          </a:xfrm>
          <a:prstGeom prst="rect">
            <a:avLst/>
          </a:prstGeom>
          <a:noFill/>
          <a:ln/>
        </p:spPr>
        <p:txBody>
          <a:bodyPr wrap="square" lIns="0" tIns="0" rIns="0" bIns="0" rtlCol="0" anchor="ctr"/>
          <a:lstStyle/>
          <a:p>
            <a:pPr algn="ctr" indent="0" marL="0">
              <a:buNone/>
            </a:pPr>
            <a:r>
              <a:rPr lang="en-US" sz="2200" b="1" dirty="0">
                <a:solidFill>
                  <a:schemeClr val="tx1"/>
                </a:solidFill>
              </a:rPr>
              <a:t>&lt; 2</a:t>
            </a:r>
            <a:endParaRPr lang="en-US" sz="2200" dirty="0"/>
          </a:p>
        </p:txBody>
      </p:sp>
      <p:sp>
        <p:nvSpPr>
          <p:cNvPr id="20" name="Text 18"/>
          <p:cNvSpPr txBox="1"/>
          <p:nvPr/>
        </p:nvSpPr>
        <p:spPr>
          <a:xfrm>
            <a:off x="9464040" y="5330952"/>
            <a:ext cx="2011680" cy="548640"/>
          </a:xfrm>
          <a:prstGeom prst="rect">
            <a:avLst/>
          </a:prstGeom>
          <a:noFill/>
          <a:ln/>
        </p:spPr>
        <p:txBody>
          <a:bodyPr wrap="square" lIns="0" tIns="0" rIns="0" bIns="0" rtlCol="0" anchor="ctr"/>
          <a:lstStyle/>
          <a:p>
            <a:pPr algn="ctr" indent="0" marL="0">
              <a:buNone/>
            </a:pPr>
            <a:r>
              <a:rPr lang="en-US" sz="1300" dirty="0">
                <a:solidFill>
                  <a:schemeClr val="tx1"/>
                </a:solidFill>
              </a:rPr>
              <a:t>Après 2040</a:t>
            </a:r>
            <a:endParaRPr lang="en-US" sz="1300" dirty="0"/>
          </a:p>
        </p:txBody>
      </p:sp>
      <p:sp>
        <p:nvSpPr>
          <p:cNvPr id="21" name="Shape 19"/>
          <p:cNvSpPr/>
          <p:nvPr/>
        </p:nvSpPr>
        <p:spPr>
          <a:xfrm>
            <a:off x="6309360" y="5257800"/>
            <a:ext cx="5029200" cy="0"/>
          </a:xfrm>
          <a:prstGeom prst="line">
            <a:avLst/>
          </a:prstGeom>
          <a:noFill/>
          <a:ln w="12700">
            <a:solidFill>
              <a:schemeClr val="accent4"/>
            </a:solidFill>
            <a:prstDash val="solid"/>
          </a:ln>
        </p:spPr>
      </p:sp>
      <p:sp>
        <p:nvSpPr>
          <p:cNvPr id="22" name="Source"/>
          <p:cNvSpPr txBox="1"/>
          <p:nvPr/>
        </p:nvSpPr>
        <p:spPr>
          <a:xfrm>
            <a:off x="548640" y="6355080"/>
            <a:ext cx="10424160" cy="274320"/>
          </a:xfrm>
          <a:prstGeom prst="rect">
            <a:avLst/>
          </a:prstGeom>
          <a:noFill/>
          <a:ln/>
        </p:spPr>
        <p:txBody>
          <a:bodyPr wrap="square" lIns="0" tIns="0" rIns="0" bIns="0" rtlCol="0" anchor="ctr"/>
          <a:lstStyle/>
          <a:p>
            <a:pPr indent="0" marL="0">
              <a:buNone/>
            </a:pPr>
            <a:r>
              <a:rPr lang="en-US" sz="1000" dirty="0">
                <a:solidFill>
                  <a:schemeClr val="accent5"/>
                </a:solidFill>
              </a:rPr>
              <a:t>Source : Eric Weil, La Grande Conversation (Terra Nova), mai 2025</a:t>
            </a:r>
            <a:endParaRPr lang="en-US" sz="10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Étiquette"/>
          <p:cNvSpPr txBox="1"/>
          <p:nvPr/>
        </p:nvSpPr>
        <p:spPr>
          <a:xfrm>
            <a:off x="548640" y="256032"/>
            <a:ext cx="1664208" cy="310896"/>
          </a:xfrm>
          <a:prstGeom prst="roundRect">
            <a:avLst>
              <a:gd name="adj" fmla="val 50000"/>
            </a:avLst>
          </a:prstGeom>
          <a:solidFill>
            <a:schemeClr val="tx2"/>
          </a:solidFill>
          <a:ln/>
        </p:spPr>
        <p:txBody>
          <a:bodyPr wrap="square" lIns="0" tIns="0" rIns="0" bIns="0" rtlCol="0" anchor="ctr"/>
          <a:lstStyle/>
          <a:p>
            <a:pPr algn="ctr" indent="0" marL="0">
              <a:buNone/>
            </a:pPr>
            <a:r>
              <a:rPr lang="en-US" sz="1200" b="1" spc="100" kern="0" dirty="0">
                <a:solidFill>
                  <a:schemeClr val="bg1"/>
                </a:solidFill>
              </a:rPr>
              <a:t>INTRODUCTION</a:t>
            </a:r>
            <a:endParaRPr lang="en-US" sz="1200" dirty="0"/>
          </a:p>
        </p:txBody>
      </p:sp>
      <p:sp>
        <p:nvSpPr>
          <p:cNvPr id="3" name="Text 0"/>
          <p:cNvSpPr/>
          <p:nvPr>
            <p:ph idx="100" type="title" hasCustomPrompt="1"/>
          </p:nvPr>
        </p:nvSpPr>
        <p:spPr>
          <a:xfrm>
            <a:off x="548640" y="658368"/>
            <a:ext cx="11064240" cy="73152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La capitalisation dans la campagne 2027</a:t>
            </a:r>
            <a:endParaRPr lang="en-US" sz="3400" dirty="0"/>
          </a:p>
        </p:txBody>
      </p:sp>
      <p:sp>
        <p:nvSpPr>
          <p:cNvPr id="4" name="Candidat Édouard Philippe"/>
          <p:cNvSpPr/>
          <p:nvPr/>
        </p:nvSpPr>
        <p:spPr>
          <a:xfrm>
            <a:off x="548640" y="1600200"/>
            <a:ext cx="3566160" cy="2743200"/>
          </a:xfrm>
          <a:prstGeom prst="roundRect">
            <a:avLst>
              <a:gd name="adj" fmla="val 2667"/>
            </a:avLst>
          </a:prstGeom>
          <a:solidFill>
            <a:schemeClr val="bg2"/>
          </a:solidFill>
          <a:ln w="12700">
            <a:solidFill>
              <a:schemeClr val="bg2"/>
            </a:solidFill>
            <a:prstDash val="solid"/>
          </a:ln>
        </p:spPr>
      </p:sp>
      <p:sp>
        <p:nvSpPr>
          <p:cNvPr id="5" name="Text 3"/>
          <p:cNvSpPr txBox="1"/>
          <p:nvPr/>
        </p:nvSpPr>
        <p:spPr>
          <a:xfrm>
            <a:off x="822960" y="1783080"/>
            <a:ext cx="3017520" cy="685800"/>
          </a:xfrm>
          <a:prstGeom prst="rect">
            <a:avLst/>
          </a:prstGeom>
          <a:noFill/>
          <a:ln/>
        </p:spPr>
        <p:txBody>
          <a:bodyPr wrap="square" lIns="0" tIns="0" rIns="0" bIns="0" rtlCol="0" anchor="ctr"/>
          <a:lstStyle/>
          <a:p>
            <a:pPr indent="0" marL="0">
              <a:buNone/>
            </a:pPr>
            <a:r>
              <a:rPr lang="en-US" sz="1800" b="1" dirty="0">
                <a:solidFill>
                  <a:schemeClr val="tx1"/>
                </a:solidFill>
              </a:rPr>
              <a:t>Édouard Philippe</a:t>
            </a:r>
            <a:endParaRPr lang="en-US" sz="1800" dirty="0"/>
          </a:p>
          <a:p>
            <a:pPr indent="0" marL="0">
              <a:buNone/>
            </a:pPr>
            <a:r>
              <a:rPr lang="en-US" sz="1400" dirty="0">
                <a:solidFill>
                  <a:schemeClr val="accent5"/>
                </a:solidFill>
              </a:rPr>
              <a:t>Horizons</a:t>
            </a:r>
            <a:endParaRPr lang="en-US" sz="1800" dirty="0"/>
          </a:p>
        </p:txBody>
      </p:sp>
      <p:sp>
        <p:nvSpPr>
          <p:cNvPr id="6" name="Text 4"/>
          <p:cNvSpPr txBox="1"/>
          <p:nvPr/>
        </p:nvSpPr>
        <p:spPr>
          <a:xfrm>
            <a:off x="822960" y="2514600"/>
            <a:ext cx="3017520" cy="731520"/>
          </a:xfrm>
          <a:prstGeom prst="rect">
            <a:avLst/>
          </a:prstGeom>
          <a:noFill/>
          <a:ln/>
        </p:spPr>
        <p:txBody>
          <a:bodyPr wrap="square" lIns="0" tIns="0" rIns="0" bIns="0" rtlCol="0" anchor="b"/>
          <a:lstStyle/>
          <a:p>
            <a:pPr indent="0" marL="0">
              <a:buNone/>
            </a:pPr>
            <a:r>
              <a:rPr lang="en-US" sz="3600" b="1" dirty="0">
                <a:solidFill>
                  <a:schemeClr val="tx2"/>
                </a:solidFill>
                <a:latin typeface="Cambria" pitchFamily="34" charset="0"/>
                <a:ea typeface="Cambria" pitchFamily="34" charset="-122"/>
                <a:cs typeface="Cambria" pitchFamily="34" charset="-120"/>
              </a:rPr>
              <a:t>15 %</a:t>
            </a:r>
            <a:endParaRPr lang="en-US" sz="3600" dirty="0"/>
          </a:p>
        </p:txBody>
      </p:sp>
      <p:sp>
        <p:nvSpPr>
          <p:cNvPr id="7" name="Text 5"/>
          <p:cNvSpPr txBox="1"/>
          <p:nvPr/>
        </p:nvSpPr>
        <p:spPr>
          <a:xfrm>
            <a:off x="822960" y="3291840"/>
            <a:ext cx="3017520" cy="914400"/>
          </a:xfrm>
          <a:prstGeom prst="rect">
            <a:avLst/>
          </a:prstGeom>
          <a:noFill/>
          <a:ln/>
        </p:spPr>
        <p:txBody>
          <a:bodyPr wrap="square" lIns="0" tIns="0" rIns="0" bIns="0" rtlCol="0" anchor="t"/>
          <a:lstStyle/>
          <a:p>
            <a:pPr indent="0" marL="0">
              <a:buNone/>
            </a:pPr>
            <a:r>
              <a:rPr lang="en-US" sz="1400" dirty="0">
                <a:solidFill>
                  <a:schemeClr val="accent5"/>
                </a:solidFill>
              </a:rPr>
              <a:t>de capitalisation dans le système</a:t>
            </a:r>
            <a:endParaRPr lang="en-US" sz="1400" dirty="0"/>
          </a:p>
        </p:txBody>
      </p:sp>
      <p:sp>
        <p:nvSpPr>
          <p:cNvPr id="8" name="Candidat Gabriel Attal"/>
          <p:cNvSpPr/>
          <p:nvPr/>
        </p:nvSpPr>
        <p:spPr>
          <a:xfrm>
            <a:off x="4297680" y="1600200"/>
            <a:ext cx="3566160" cy="2743200"/>
          </a:xfrm>
          <a:prstGeom prst="roundRect">
            <a:avLst>
              <a:gd name="adj" fmla="val 2667"/>
            </a:avLst>
          </a:prstGeom>
          <a:solidFill>
            <a:schemeClr val="bg2"/>
          </a:solidFill>
          <a:ln w="12700">
            <a:solidFill>
              <a:schemeClr val="bg2"/>
            </a:solidFill>
            <a:prstDash val="solid"/>
          </a:ln>
        </p:spPr>
      </p:sp>
      <p:sp>
        <p:nvSpPr>
          <p:cNvPr id="9" name="Text 7"/>
          <p:cNvSpPr txBox="1"/>
          <p:nvPr/>
        </p:nvSpPr>
        <p:spPr>
          <a:xfrm>
            <a:off x="4572000" y="1783080"/>
            <a:ext cx="3017520" cy="685800"/>
          </a:xfrm>
          <a:prstGeom prst="rect">
            <a:avLst/>
          </a:prstGeom>
          <a:noFill/>
          <a:ln/>
        </p:spPr>
        <p:txBody>
          <a:bodyPr wrap="square" lIns="0" tIns="0" rIns="0" bIns="0" rtlCol="0" anchor="ctr"/>
          <a:lstStyle/>
          <a:p>
            <a:pPr indent="0" marL="0">
              <a:buNone/>
            </a:pPr>
            <a:r>
              <a:rPr lang="en-US" sz="1800" b="1" dirty="0">
                <a:solidFill>
                  <a:schemeClr val="tx1"/>
                </a:solidFill>
              </a:rPr>
              <a:t>Gabriel Attal</a:t>
            </a:r>
            <a:endParaRPr lang="en-US" sz="1800" dirty="0"/>
          </a:p>
          <a:p>
            <a:pPr indent="0" marL="0">
              <a:buNone/>
            </a:pPr>
            <a:r>
              <a:rPr lang="en-US" sz="1400" dirty="0">
                <a:solidFill>
                  <a:schemeClr val="accent5"/>
                </a:solidFill>
              </a:rPr>
              <a:t>Renaissance</a:t>
            </a:r>
            <a:endParaRPr lang="en-US" sz="1800" dirty="0"/>
          </a:p>
        </p:txBody>
      </p:sp>
      <p:sp>
        <p:nvSpPr>
          <p:cNvPr id="10" name="Text 8"/>
          <p:cNvSpPr txBox="1"/>
          <p:nvPr/>
        </p:nvSpPr>
        <p:spPr>
          <a:xfrm>
            <a:off x="4572000" y="2514600"/>
            <a:ext cx="3017520" cy="731520"/>
          </a:xfrm>
          <a:prstGeom prst="rect">
            <a:avLst/>
          </a:prstGeom>
          <a:noFill/>
          <a:ln/>
        </p:spPr>
        <p:txBody>
          <a:bodyPr wrap="square" lIns="0" tIns="0" rIns="0" bIns="0" rtlCol="0" anchor="b"/>
          <a:lstStyle/>
          <a:p>
            <a:pPr indent="0" marL="0">
              <a:buNone/>
            </a:pPr>
            <a:r>
              <a:rPr lang="en-US" sz="3600" b="1" dirty="0">
                <a:solidFill>
                  <a:schemeClr val="tx2"/>
                </a:solidFill>
                <a:latin typeface="Cambria" pitchFamily="34" charset="0"/>
                <a:ea typeface="Cambria" pitchFamily="34" charset="-122"/>
                <a:cs typeface="Cambria" pitchFamily="34" charset="-120"/>
              </a:rPr>
              <a:t>1 000 €</a:t>
            </a:r>
            <a:endParaRPr lang="en-US" sz="3600" dirty="0"/>
          </a:p>
        </p:txBody>
      </p:sp>
      <p:sp>
        <p:nvSpPr>
          <p:cNvPr id="11" name="Text 9"/>
          <p:cNvSpPr txBox="1"/>
          <p:nvPr/>
        </p:nvSpPr>
        <p:spPr>
          <a:xfrm>
            <a:off x="4572000" y="3291840"/>
            <a:ext cx="3017520" cy="914400"/>
          </a:xfrm>
          <a:prstGeom prst="rect">
            <a:avLst/>
          </a:prstGeom>
          <a:noFill/>
          <a:ln/>
        </p:spPr>
        <p:txBody>
          <a:bodyPr wrap="square" lIns="0" tIns="0" rIns="0" bIns="0" rtlCol="0" anchor="t"/>
          <a:lstStyle/>
          <a:p>
            <a:pPr indent="0" marL="0">
              <a:buNone/>
            </a:pPr>
            <a:r>
              <a:rPr lang="en-US" sz="1400" dirty="0">
                <a:solidFill>
                  <a:schemeClr val="accent5"/>
                </a:solidFill>
              </a:rPr>
              <a:t>versés par l'État à chaque nouveau-né sur un compte d'épargne</a:t>
            </a:r>
            <a:endParaRPr lang="en-US" sz="1400" dirty="0"/>
          </a:p>
        </p:txBody>
      </p:sp>
      <p:sp>
        <p:nvSpPr>
          <p:cNvPr id="12" name="Candidat Philippe Brun"/>
          <p:cNvSpPr/>
          <p:nvPr/>
        </p:nvSpPr>
        <p:spPr>
          <a:xfrm>
            <a:off x="8046720" y="1600200"/>
            <a:ext cx="3566160" cy="2743200"/>
          </a:xfrm>
          <a:prstGeom prst="roundRect">
            <a:avLst>
              <a:gd name="adj" fmla="val 2667"/>
            </a:avLst>
          </a:prstGeom>
          <a:solidFill>
            <a:schemeClr val="bg2"/>
          </a:solidFill>
          <a:ln w="12700">
            <a:solidFill>
              <a:schemeClr val="bg2"/>
            </a:solidFill>
            <a:prstDash val="solid"/>
          </a:ln>
        </p:spPr>
      </p:sp>
      <p:sp>
        <p:nvSpPr>
          <p:cNvPr id="13" name="Text 11"/>
          <p:cNvSpPr txBox="1"/>
          <p:nvPr/>
        </p:nvSpPr>
        <p:spPr>
          <a:xfrm>
            <a:off x="8321040" y="1783080"/>
            <a:ext cx="3017520" cy="685800"/>
          </a:xfrm>
          <a:prstGeom prst="rect">
            <a:avLst/>
          </a:prstGeom>
          <a:noFill/>
          <a:ln/>
        </p:spPr>
        <p:txBody>
          <a:bodyPr wrap="square" lIns="0" tIns="0" rIns="0" bIns="0" rtlCol="0" anchor="ctr"/>
          <a:lstStyle/>
          <a:p>
            <a:pPr indent="0" marL="0">
              <a:buNone/>
            </a:pPr>
            <a:r>
              <a:rPr lang="en-US" sz="1800" b="1" dirty="0">
                <a:solidFill>
                  <a:schemeClr val="tx1"/>
                </a:solidFill>
              </a:rPr>
              <a:t>Philippe Brun</a:t>
            </a:r>
            <a:endParaRPr lang="en-US" sz="1800" dirty="0"/>
          </a:p>
          <a:p>
            <a:pPr indent="0" marL="0">
              <a:buNone/>
            </a:pPr>
            <a:r>
              <a:rPr lang="en-US" sz="1400" dirty="0">
                <a:solidFill>
                  <a:schemeClr val="accent5"/>
                </a:solidFill>
              </a:rPr>
              <a:t>PS</a:t>
            </a:r>
            <a:endParaRPr lang="en-US" sz="1800" dirty="0"/>
          </a:p>
        </p:txBody>
      </p:sp>
      <p:sp>
        <p:nvSpPr>
          <p:cNvPr id="14" name="Text 12"/>
          <p:cNvSpPr txBox="1"/>
          <p:nvPr/>
        </p:nvSpPr>
        <p:spPr>
          <a:xfrm>
            <a:off x="8321040" y="2514600"/>
            <a:ext cx="3017520" cy="731520"/>
          </a:xfrm>
          <a:prstGeom prst="rect">
            <a:avLst/>
          </a:prstGeom>
          <a:noFill/>
          <a:ln/>
        </p:spPr>
        <p:txBody>
          <a:bodyPr wrap="square" lIns="0" tIns="0" rIns="0" bIns="0" rtlCol="0" anchor="b"/>
          <a:lstStyle/>
          <a:p>
            <a:pPr indent="0" marL="0">
              <a:buNone/>
            </a:pPr>
            <a:r>
              <a:rPr lang="en-US" sz="3600" b="1" dirty="0">
                <a:solidFill>
                  <a:schemeClr val="tx2"/>
                </a:solidFill>
                <a:latin typeface="Cambria" pitchFamily="34" charset="0"/>
                <a:ea typeface="Cambria" pitchFamily="34" charset="-122"/>
                <a:cs typeface="Cambria" pitchFamily="34" charset="-120"/>
              </a:rPr>
              <a:t>15 Md€ / an</a:t>
            </a:r>
            <a:endParaRPr lang="en-US" sz="3600" dirty="0"/>
          </a:p>
        </p:txBody>
      </p:sp>
      <p:sp>
        <p:nvSpPr>
          <p:cNvPr id="15" name="Text 13"/>
          <p:cNvSpPr txBox="1"/>
          <p:nvPr/>
        </p:nvSpPr>
        <p:spPr>
          <a:xfrm>
            <a:off x="8321040" y="3291840"/>
            <a:ext cx="3017520" cy="914400"/>
          </a:xfrm>
          <a:prstGeom prst="rect">
            <a:avLst/>
          </a:prstGeom>
          <a:noFill/>
          <a:ln/>
        </p:spPr>
        <p:txBody>
          <a:bodyPr wrap="square" lIns="0" tIns="0" rIns="0" bIns="0" rtlCol="0" anchor="t"/>
          <a:lstStyle/>
          <a:p>
            <a:pPr indent="0" marL="0">
              <a:buNone/>
            </a:pPr>
            <a:r>
              <a:rPr lang="en-US" sz="1400" dirty="0">
                <a:solidFill>
                  <a:schemeClr val="accent5"/>
                </a:solidFill>
              </a:rPr>
              <a:t>pour un fonds de pension public géré par les syndicats</a:t>
            </a:r>
            <a:endParaRPr lang="en-US" sz="1400" dirty="0"/>
          </a:p>
        </p:txBody>
      </p:sp>
      <p:sp>
        <p:nvSpPr>
          <p:cNvPr id="16" name="Text 14"/>
          <p:cNvSpPr txBox="1"/>
          <p:nvPr/>
        </p:nvSpPr>
        <p:spPr>
          <a:xfrm>
            <a:off x="548640" y="4480560"/>
            <a:ext cx="11064240" cy="365760"/>
          </a:xfrm>
          <a:prstGeom prst="rect">
            <a:avLst/>
          </a:prstGeom>
          <a:noFill/>
          <a:ln/>
        </p:spPr>
        <p:txBody>
          <a:bodyPr wrap="square" lIns="0" tIns="0" rIns="0" bIns="0" rtlCol="0" anchor="ctr"/>
          <a:lstStyle/>
          <a:p>
            <a:pPr indent="0" marL="0">
              <a:buNone/>
            </a:pPr>
            <a:r>
              <a:rPr lang="en-US" sz="1500" dirty="0">
                <a:solidFill>
                  <a:schemeClr val="tx1"/>
                </a:solidFill>
              </a:rPr>
              <a:t>Aussi pour : Bruno Retailleau, David Lisnard, Xavier Bertrand ; Marine Le Pen pour une part « volontaire »</a:t>
            </a:r>
            <a:endParaRPr lang="en-US" sz="1500" dirty="0"/>
          </a:p>
        </p:txBody>
      </p:sp>
      <p:sp>
        <p:nvSpPr>
          <p:cNvPr id="17" name="Carte part répartition"/>
          <p:cNvSpPr/>
          <p:nvPr/>
        </p:nvSpPr>
        <p:spPr>
          <a:xfrm>
            <a:off x="548640" y="5029200"/>
            <a:ext cx="11064240" cy="1051560"/>
          </a:xfrm>
          <a:prstGeom prst="roundRect">
            <a:avLst>
              <a:gd name="adj" fmla="val 6957"/>
            </a:avLst>
          </a:prstGeom>
          <a:solidFill>
            <a:schemeClr val="bg2"/>
          </a:solidFill>
          <a:ln w="12700">
            <a:solidFill>
              <a:schemeClr val="bg2"/>
            </a:solidFill>
            <a:prstDash val="solid"/>
          </a:ln>
        </p:spPr>
      </p:sp>
      <p:sp>
        <p:nvSpPr>
          <p:cNvPr id="18" name="Text 16"/>
          <p:cNvSpPr txBox="1"/>
          <p:nvPr/>
        </p:nvSpPr>
        <p:spPr>
          <a:xfrm>
            <a:off x="822960" y="5120640"/>
            <a:ext cx="10515600" cy="868680"/>
          </a:xfrm>
          <a:prstGeom prst="rect">
            <a:avLst/>
          </a:prstGeom>
          <a:noFill/>
          <a:ln/>
        </p:spPr>
        <p:txBody>
          <a:bodyPr wrap="square" lIns="0" tIns="0" rIns="0" bIns="0" rtlCol="0" anchor="ctr"/>
          <a:lstStyle/>
          <a:p>
            <a:pPr indent="0" marL="0">
              <a:buNone/>
            </a:pPr>
            <a:r>
              <a:rPr lang="en-US" sz="2800" b="1" dirty="0">
                <a:solidFill>
                  <a:schemeClr val="tx2"/>
                </a:solidFill>
              </a:rPr>
              <a:t>98 % </a:t>
            </a:r>
            <a:pPr indent="0" marL="0">
              <a:buNone/>
            </a:pPr>
            <a:r>
              <a:rPr lang="en-US" sz="1700" dirty="0">
                <a:solidFill>
                  <a:schemeClr val="tx1"/>
                </a:solidFill>
              </a:rPr>
              <a:t>des retraites françaises sont payées par répartition, contre environ </a:t>
            </a:r>
            <a:pPr indent="0" marL="0">
              <a:buNone/>
            </a:pPr>
            <a:r>
              <a:rPr lang="en-US" sz="2800" b="1" dirty="0">
                <a:solidFill>
                  <a:schemeClr val="tx2"/>
                </a:solidFill>
              </a:rPr>
              <a:t>83 % </a:t>
            </a:r>
            <a:pPr indent="0" marL="0">
              <a:buNone/>
            </a:pPr>
            <a:r>
              <a:rPr lang="en-US" sz="1700" dirty="0">
                <a:solidFill>
                  <a:schemeClr val="tx1"/>
                </a:solidFill>
              </a:rPr>
              <a:t>en moyenne dans l'OCDE</a:t>
            </a:r>
            <a:endParaRPr lang="en-US" sz="1700" dirty="0"/>
          </a:p>
        </p:txBody>
      </p:sp>
      <p:sp>
        <p:nvSpPr>
          <p:cNvPr id="19" name="Source"/>
          <p:cNvSpPr txBox="1"/>
          <p:nvPr/>
        </p:nvSpPr>
        <p:spPr>
          <a:xfrm>
            <a:off x="548640" y="6355080"/>
            <a:ext cx="10424160" cy="274320"/>
          </a:xfrm>
          <a:prstGeom prst="rect">
            <a:avLst/>
          </a:prstGeom>
          <a:noFill/>
          <a:ln/>
        </p:spPr>
        <p:txBody>
          <a:bodyPr wrap="square" lIns="0" tIns="0" rIns="0" bIns="0" rtlCol="0" anchor="ctr"/>
          <a:lstStyle/>
          <a:p>
            <a:pPr indent="0" marL="0">
              <a:buNone/>
            </a:pPr>
            <a:r>
              <a:rPr lang="en-US" sz="1000" dirty="0">
                <a:solidFill>
                  <a:schemeClr val="accent5"/>
                </a:solidFill>
              </a:rPr>
              <a:t>Source : Journal du Net, 21/08/2026 ; Eric Weil, La Grande Conversation (Terra Nova), mai 2025</a:t>
            </a:r>
            <a:endParaRPr lang="en-US" sz="10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Étiquette"/>
          <p:cNvSpPr txBox="1"/>
          <p:nvPr/>
        </p:nvSpPr>
        <p:spPr>
          <a:xfrm>
            <a:off x="548640" y="256032"/>
            <a:ext cx="2167128" cy="310896"/>
          </a:xfrm>
          <a:prstGeom prst="roundRect">
            <a:avLst>
              <a:gd name="adj" fmla="val 50000"/>
            </a:avLst>
          </a:prstGeom>
          <a:solidFill>
            <a:schemeClr val="accent2"/>
          </a:solidFill>
          <a:ln/>
        </p:spPr>
        <p:txBody>
          <a:bodyPr wrap="square" lIns="0" tIns="0" rIns="0" bIns="0" rtlCol="0" anchor="ctr"/>
          <a:lstStyle/>
          <a:p>
            <a:pPr algn="ctr" indent="0" marL="0">
              <a:buNone/>
            </a:pPr>
            <a:r>
              <a:rPr lang="en-US" sz="1200" b="1" spc="100" kern="0" dirty="0">
                <a:solidFill>
                  <a:schemeClr val="bg1"/>
                </a:solidFill>
              </a:rPr>
              <a:t>POSITION 1 · POUR</a:t>
            </a:r>
            <a:endParaRPr lang="en-US" sz="1200" dirty="0"/>
          </a:p>
        </p:txBody>
      </p:sp>
      <p:sp>
        <p:nvSpPr>
          <p:cNvPr id="3" name="Text 0"/>
          <p:cNvSpPr/>
          <p:nvPr>
            <p:ph idx="100" type="title" hasCustomPrompt="1"/>
          </p:nvPr>
        </p:nvSpPr>
        <p:spPr>
          <a:xfrm>
            <a:off x="548640" y="658368"/>
            <a:ext cx="11064240" cy="73152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 Un quart des retraites en capitalisation »</a:t>
            </a:r>
            <a:endParaRPr lang="en-US" sz="3400" dirty="0"/>
          </a:p>
        </p:txBody>
      </p:sp>
      <p:sp>
        <p:nvSpPr>
          <p:cNvPr id="4" name="Auteur"/>
          <p:cNvSpPr txBox="1"/>
          <p:nvPr/>
        </p:nvSpPr>
        <p:spPr>
          <a:xfrm>
            <a:off x="548640" y="1572768"/>
            <a:ext cx="11064240" cy="329184"/>
          </a:xfrm>
          <a:prstGeom prst="rect">
            <a:avLst/>
          </a:prstGeom>
          <a:noFill/>
          <a:ln/>
        </p:spPr>
        <p:txBody>
          <a:bodyPr wrap="square" lIns="0" tIns="0" rIns="0" bIns="0" rtlCol="0" anchor="ctr"/>
          <a:lstStyle/>
          <a:p>
            <a:pPr indent="0" marL="0">
              <a:buNone/>
            </a:pPr>
            <a:r>
              <a:rPr lang="en-US" sz="1500" i="1" dirty="0">
                <a:solidFill>
                  <a:schemeClr val="accent5"/>
                </a:solidFill>
              </a:rPr>
              <a:t>Martinot, Gravier et Muret, Fondapol, novembre 2025</a:t>
            </a:r>
            <a:endParaRPr lang="en-US" sz="1500" dirty="0"/>
          </a:p>
        </p:txBody>
      </p:sp>
      <p:sp>
        <p:nvSpPr>
          <p:cNvPr id="5" name="Text 3"/>
          <p:cNvSpPr txBox="1"/>
          <p:nvPr/>
        </p:nvSpPr>
        <p:spPr>
          <a:xfrm>
            <a:off x="548640" y="2103120"/>
            <a:ext cx="5120640" cy="3931920"/>
          </a:xfrm>
          <a:prstGeom prst="rect">
            <a:avLst/>
          </a:prstGeom>
          <a:noFill/>
          <a:ln/>
        </p:spPr>
        <p:txBody>
          <a:bodyPr wrap="square" lIns="0" tIns="0" rIns="0" bIns="0" rtlCol="0" anchor="t"/>
          <a:lstStyle/>
          <a:p>
            <a:pPr marL="228600" indent="-228600">
              <a:spcAft>
                <a:spcPts val="1000"/>
              </a:spcAft>
              <a:buSzPct val="100000"/>
              <a:buChar char="•"/>
            </a:pPr>
            <a:r>
              <a:rPr lang="en-US" sz="1700" b="1" dirty="0">
                <a:solidFill>
                  <a:schemeClr val="tx1"/>
                </a:solidFill>
              </a:rPr>
              <a:t>Un étage obligatoire : </a:t>
            </a:r>
            <a:pPr indent="0" marL="0">
              <a:buNone/>
            </a:pPr>
            <a:r>
              <a:rPr lang="en-US" sz="1700" dirty="0">
                <a:solidFill>
                  <a:schemeClr val="tx1"/>
                </a:solidFill>
              </a:rPr>
              <a:t>25 % des pensions du privé</a:t>
            </a:r>
            <a:endParaRPr lang="en-US" sz="1700" dirty="0"/>
          </a:p>
          <a:p>
            <a:pPr marL="228600" indent="-228600">
              <a:spcAft>
                <a:spcPts val="1000"/>
              </a:spcAft>
              <a:buSzPct val="100000"/>
              <a:buChar char="•"/>
            </a:pPr>
            <a:r>
              <a:rPr lang="en-US" sz="1700" b="1" dirty="0">
                <a:solidFill>
                  <a:schemeClr val="tx1"/>
                </a:solidFill>
              </a:rPr>
              <a:t>Un meilleur rendement </a:t>
            </a:r>
            <a:pPr indent="0" marL="0">
              <a:buNone/>
            </a:pPr>
            <a:r>
              <a:rPr lang="en-US" sz="1700" dirty="0">
                <a:solidFill>
                  <a:schemeClr val="tx1"/>
                </a:solidFill>
              </a:rPr>
              <a:t>que la répartition</a:t>
            </a:r>
            <a:endParaRPr lang="en-US" sz="1700" dirty="0"/>
          </a:p>
          <a:p>
            <a:pPr marL="228600" indent="-228600">
              <a:spcAft>
                <a:spcPts val="1000"/>
              </a:spcAft>
              <a:buSzPct val="100000"/>
              <a:buChar char="•"/>
            </a:pPr>
            <a:r>
              <a:rPr lang="en-US" sz="1700" b="1" dirty="0">
                <a:solidFill>
                  <a:schemeClr val="tx1"/>
                </a:solidFill>
              </a:rPr>
              <a:t>Un patrimoine </a:t>
            </a:r>
            <a:pPr indent="0" marL="0">
              <a:buNone/>
            </a:pPr>
            <a:r>
              <a:rPr lang="en-US" sz="1700" dirty="0">
                <a:solidFill>
                  <a:schemeClr val="tx1"/>
                </a:solidFill>
              </a:rPr>
              <a:t>pour chaque salarié</a:t>
            </a:r>
            <a:endParaRPr lang="en-US" sz="1700" dirty="0"/>
          </a:p>
          <a:p>
            <a:pPr marL="228600" indent="-228600">
              <a:spcAft>
                <a:spcPts val="1000"/>
              </a:spcAft>
              <a:buSzPct val="100000"/>
              <a:buChar char="•"/>
            </a:pPr>
            <a:r>
              <a:rPr lang="en-US" sz="1700" b="1" dirty="0">
                <a:solidFill>
                  <a:schemeClr val="tx1"/>
                </a:solidFill>
              </a:rPr>
              <a:t>Face aux krachs : </a:t>
            </a:r>
            <a:pPr indent="0" marL="0">
              <a:buNone/>
            </a:pPr>
            <a:r>
              <a:rPr lang="en-US" sz="1700" dirty="0">
                <a:solidFill>
                  <a:schemeClr val="tx1"/>
                </a:solidFill>
              </a:rPr>
              <a:t>fonds testé avec une crise tous les 12 ans</a:t>
            </a:r>
            <a:endParaRPr lang="en-US" sz="1700" dirty="0"/>
          </a:p>
          <a:p>
            <a:pPr marL="228600" indent="-228600">
              <a:spcAft>
                <a:spcPts val="1000"/>
              </a:spcAft>
              <a:buSzPct val="100000"/>
              <a:buChar char="•"/>
            </a:pPr>
            <a:r>
              <a:rPr lang="en-US" sz="1700" b="1" dirty="0">
                <a:solidFill>
                  <a:schemeClr val="tx1"/>
                </a:solidFill>
              </a:rPr>
              <a:t>En version collective : </a:t>
            </a:r>
            <a:pPr indent="0" marL="0">
              <a:buNone/>
            </a:pPr>
            <a:r>
              <a:rPr lang="en-US" sz="1700" dirty="0">
                <a:solidFill>
                  <a:schemeClr val="tx1"/>
                </a:solidFill>
              </a:rPr>
              <a:t>on lisse les rendements entre générations et on sécurise l'épargne avant le départ</a:t>
            </a:r>
            <a:endParaRPr lang="en-US" sz="1700" dirty="0"/>
          </a:p>
        </p:txBody>
      </p:sp>
      <p:sp>
        <p:nvSpPr>
          <p:cNvPr id="6" name="Carte rendements"/>
          <p:cNvSpPr/>
          <p:nvPr/>
        </p:nvSpPr>
        <p:spPr>
          <a:xfrm>
            <a:off x="6126480" y="1600200"/>
            <a:ext cx="5486400" cy="2514600"/>
          </a:xfrm>
          <a:prstGeom prst="roundRect">
            <a:avLst>
              <a:gd name="adj" fmla="val 2909"/>
            </a:avLst>
          </a:prstGeom>
          <a:solidFill>
            <a:schemeClr val="bg2"/>
          </a:solidFill>
          <a:ln w="12700">
            <a:solidFill>
              <a:schemeClr val="bg2"/>
            </a:solidFill>
            <a:prstDash val="solid"/>
          </a:ln>
        </p:spPr>
      </p:sp>
      <p:sp>
        <p:nvSpPr>
          <p:cNvPr id="7" name="Text 5"/>
          <p:cNvSpPr txBox="1"/>
          <p:nvPr/>
        </p:nvSpPr>
        <p:spPr>
          <a:xfrm>
            <a:off x="6400800" y="1755648"/>
            <a:ext cx="5029200" cy="365760"/>
          </a:xfrm>
          <a:prstGeom prst="rect">
            <a:avLst/>
          </a:prstGeom>
          <a:noFill/>
          <a:ln/>
        </p:spPr>
        <p:txBody>
          <a:bodyPr wrap="square" lIns="0" tIns="0" rIns="0" bIns="0" rtlCol="0" anchor="ctr"/>
          <a:lstStyle/>
          <a:p>
            <a:pPr indent="0" marL="0">
              <a:buNone/>
            </a:pPr>
            <a:r>
              <a:rPr lang="en-US" sz="1600" b="1" dirty="0">
                <a:solidFill>
                  <a:schemeClr val="tx2"/>
                </a:solidFill>
              </a:rPr>
              <a:t>Rendement par an au-dessus de l'inflation</a:t>
            </a:r>
            <a:endParaRPr lang="en-US" sz="1600" dirty="0"/>
          </a:p>
        </p:txBody>
      </p:sp>
      <p:sp>
        <p:nvSpPr>
          <p:cNvPr id="8" name="Text 6"/>
          <p:cNvSpPr txBox="1"/>
          <p:nvPr/>
        </p:nvSpPr>
        <p:spPr>
          <a:xfrm>
            <a:off x="6400800" y="2212848"/>
            <a:ext cx="2194560" cy="548640"/>
          </a:xfrm>
          <a:prstGeom prst="rect">
            <a:avLst/>
          </a:prstGeom>
          <a:noFill/>
          <a:ln/>
        </p:spPr>
        <p:txBody>
          <a:bodyPr wrap="square" lIns="0" tIns="0" rIns="0" bIns="0" rtlCol="0" anchor="ctr"/>
          <a:lstStyle/>
          <a:p>
            <a:pPr indent="0" marL="0">
              <a:buNone/>
            </a:pPr>
            <a:r>
              <a:rPr lang="en-US" sz="1400" dirty="0">
                <a:solidFill>
                  <a:schemeClr val="tx1"/>
                </a:solidFill>
              </a:rPr>
              <a:t>Répartition</a:t>
            </a:r>
            <a:endParaRPr lang="en-US" sz="1400" dirty="0"/>
          </a:p>
        </p:txBody>
      </p:sp>
      <p:sp>
        <p:nvSpPr>
          <p:cNvPr id="9" name="Shape 7"/>
          <p:cNvSpPr/>
          <p:nvPr/>
        </p:nvSpPr>
        <p:spPr>
          <a:xfrm>
            <a:off x="8686800" y="2295144"/>
            <a:ext cx="283779" cy="384048"/>
          </a:xfrm>
          <a:prstGeom prst="rect">
            <a:avLst/>
          </a:prstGeom>
          <a:solidFill>
            <a:schemeClr val="accent4"/>
          </a:solidFill>
          <a:ln w="12700">
            <a:solidFill>
              <a:schemeClr val="accent4"/>
            </a:solidFill>
            <a:prstDash val="solid"/>
          </a:ln>
        </p:spPr>
      </p:sp>
      <p:sp>
        <p:nvSpPr>
          <p:cNvPr id="10" name="Text 8"/>
          <p:cNvSpPr txBox="1"/>
          <p:nvPr/>
        </p:nvSpPr>
        <p:spPr>
          <a:xfrm>
            <a:off x="9062019" y="2212848"/>
            <a:ext cx="1188720" cy="548640"/>
          </a:xfrm>
          <a:prstGeom prst="rect">
            <a:avLst/>
          </a:prstGeom>
          <a:noFill/>
          <a:ln/>
        </p:spPr>
        <p:txBody>
          <a:bodyPr wrap="square" lIns="0" tIns="0" rIns="0" bIns="0" rtlCol="0" anchor="ctr"/>
          <a:lstStyle/>
          <a:p>
            <a:pPr indent="0" marL="0">
              <a:buNone/>
            </a:pPr>
            <a:r>
              <a:rPr lang="en-US" sz="1800" b="1" dirty="0">
                <a:solidFill>
                  <a:schemeClr val="tx1"/>
                </a:solidFill>
              </a:rPr>
              <a:t>≈ 1 %</a:t>
            </a:r>
            <a:endParaRPr lang="en-US" sz="1800" dirty="0"/>
          </a:p>
        </p:txBody>
      </p:sp>
      <p:sp>
        <p:nvSpPr>
          <p:cNvPr id="11" name="Text 9"/>
          <p:cNvSpPr txBox="1"/>
          <p:nvPr/>
        </p:nvSpPr>
        <p:spPr>
          <a:xfrm>
            <a:off x="6400800" y="2761488"/>
            <a:ext cx="2194560" cy="548640"/>
          </a:xfrm>
          <a:prstGeom prst="rect">
            <a:avLst/>
          </a:prstGeom>
          <a:noFill/>
          <a:ln/>
        </p:spPr>
        <p:txBody>
          <a:bodyPr wrap="square" lIns="0" tIns="0" rIns="0" bIns="0" rtlCol="0" anchor="ctr"/>
          <a:lstStyle/>
          <a:p>
            <a:pPr indent="0" marL="0">
              <a:buNone/>
            </a:pPr>
            <a:r>
              <a:rPr lang="en-US" sz="1400" dirty="0">
                <a:solidFill>
                  <a:schemeClr val="tx1"/>
                </a:solidFill>
              </a:rPr>
              <a:t>Hypothèse Fondapol</a:t>
            </a:r>
            <a:endParaRPr lang="en-US" sz="1400" dirty="0"/>
          </a:p>
        </p:txBody>
      </p:sp>
      <p:sp>
        <p:nvSpPr>
          <p:cNvPr id="12" name="Shape 10"/>
          <p:cNvSpPr/>
          <p:nvPr/>
        </p:nvSpPr>
        <p:spPr>
          <a:xfrm>
            <a:off x="8686800" y="2843784"/>
            <a:ext cx="1135117" cy="384048"/>
          </a:xfrm>
          <a:prstGeom prst="rect">
            <a:avLst/>
          </a:prstGeom>
          <a:solidFill>
            <a:schemeClr val="accent2"/>
          </a:solidFill>
          <a:ln w="12700">
            <a:solidFill>
              <a:schemeClr val="accent2"/>
            </a:solidFill>
            <a:prstDash val="solid"/>
          </a:ln>
        </p:spPr>
      </p:sp>
      <p:sp>
        <p:nvSpPr>
          <p:cNvPr id="13" name="Text 11"/>
          <p:cNvSpPr txBox="1"/>
          <p:nvPr/>
        </p:nvSpPr>
        <p:spPr>
          <a:xfrm>
            <a:off x="9913357" y="2761488"/>
            <a:ext cx="1188720" cy="548640"/>
          </a:xfrm>
          <a:prstGeom prst="rect">
            <a:avLst/>
          </a:prstGeom>
          <a:noFill/>
          <a:ln/>
        </p:spPr>
        <p:txBody>
          <a:bodyPr wrap="square" lIns="0" tIns="0" rIns="0" bIns="0" rtlCol="0" anchor="ctr"/>
          <a:lstStyle/>
          <a:p>
            <a:pPr indent="0" marL="0">
              <a:buNone/>
            </a:pPr>
            <a:r>
              <a:rPr lang="en-US" sz="1800" b="1" dirty="0">
                <a:solidFill>
                  <a:schemeClr val="tx1"/>
                </a:solidFill>
              </a:rPr>
              <a:t>4 %</a:t>
            </a:r>
            <a:endParaRPr lang="en-US" sz="1800" dirty="0"/>
          </a:p>
        </p:txBody>
      </p:sp>
      <p:sp>
        <p:nvSpPr>
          <p:cNvPr id="14" name="Text 12"/>
          <p:cNvSpPr txBox="1"/>
          <p:nvPr/>
        </p:nvSpPr>
        <p:spPr>
          <a:xfrm>
            <a:off x="6400800" y="3310128"/>
            <a:ext cx="2194560" cy="548640"/>
          </a:xfrm>
          <a:prstGeom prst="rect">
            <a:avLst/>
          </a:prstGeom>
          <a:noFill/>
          <a:ln/>
        </p:spPr>
        <p:txBody>
          <a:bodyPr wrap="square" lIns="0" tIns="0" rIns="0" bIns="0" rtlCol="0" anchor="ctr"/>
          <a:lstStyle/>
          <a:p>
            <a:pPr indent="0" marL="0">
              <a:buNone/>
            </a:pPr>
            <a:r>
              <a:rPr lang="en-US" sz="1400" dirty="0">
                <a:solidFill>
                  <a:schemeClr val="tx1"/>
                </a:solidFill>
              </a:rPr>
              <a:t>Fonds suédois AP7</a:t>
            </a:r>
            <a:endParaRPr lang="en-US" sz="1400" dirty="0"/>
          </a:p>
        </p:txBody>
      </p:sp>
      <p:sp>
        <p:nvSpPr>
          <p:cNvPr id="15" name="Shape 13"/>
          <p:cNvSpPr/>
          <p:nvPr/>
        </p:nvSpPr>
        <p:spPr>
          <a:xfrm>
            <a:off x="8686800" y="3392424"/>
            <a:ext cx="1645920" cy="384048"/>
          </a:xfrm>
          <a:prstGeom prst="rect">
            <a:avLst/>
          </a:prstGeom>
          <a:solidFill>
            <a:schemeClr val="accent2"/>
          </a:solidFill>
          <a:ln w="12700">
            <a:solidFill>
              <a:schemeClr val="accent2"/>
            </a:solidFill>
            <a:prstDash val="solid"/>
          </a:ln>
        </p:spPr>
      </p:sp>
      <p:sp>
        <p:nvSpPr>
          <p:cNvPr id="16" name="Text 14"/>
          <p:cNvSpPr txBox="1"/>
          <p:nvPr/>
        </p:nvSpPr>
        <p:spPr>
          <a:xfrm>
            <a:off x="10424160" y="3310128"/>
            <a:ext cx="1188720" cy="548640"/>
          </a:xfrm>
          <a:prstGeom prst="rect">
            <a:avLst/>
          </a:prstGeom>
          <a:noFill/>
          <a:ln/>
        </p:spPr>
        <p:txBody>
          <a:bodyPr wrap="square" lIns="0" tIns="0" rIns="0" bIns="0" rtlCol="0" anchor="ctr"/>
          <a:lstStyle/>
          <a:p>
            <a:pPr indent="0" marL="0">
              <a:buNone/>
            </a:pPr>
            <a:r>
              <a:rPr lang="en-US" sz="1800" b="1" dirty="0">
                <a:solidFill>
                  <a:schemeClr val="tx1"/>
                </a:solidFill>
              </a:rPr>
              <a:t>5,8 %</a:t>
            </a:r>
            <a:endParaRPr lang="en-US" sz="1800" dirty="0"/>
          </a:p>
        </p:txBody>
      </p:sp>
      <p:sp>
        <p:nvSpPr>
          <p:cNvPr id="17" name="Chiffre clé"/>
          <p:cNvSpPr/>
          <p:nvPr/>
        </p:nvSpPr>
        <p:spPr>
          <a:xfrm>
            <a:off x="6126480" y="4343400"/>
            <a:ext cx="5486400" cy="1783080"/>
          </a:xfrm>
          <a:prstGeom prst="roundRect">
            <a:avLst>
              <a:gd name="adj" fmla="val 4103"/>
            </a:avLst>
          </a:prstGeom>
          <a:solidFill>
            <a:schemeClr val="bg2"/>
          </a:solidFill>
          <a:ln w="12700">
            <a:solidFill>
              <a:schemeClr val="bg2"/>
            </a:solidFill>
            <a:prstDash val="solid"/>
          </a:ln>
        </p:spPr>
      </p:sp>
      <p:sp>
        <p:nvSpPr>
          <p:cNvPr id="18" name="Text 16"/>
          <p:cNvSpPr txBox="1"/>
          <p:nvPr/>
        </p:nvSpPr>
        <p:spPr>
          <a:xfrm>
            <a:off x="6400800" y="4526280"/>
            <a:ext cx="4937760" cy="731520"/>
          </a:xfrm>
          <a:prstGeom prst="rect">
            <a:avLst/>
          </a:prstGeom>
          <a:noFill/>
          <a:ln/>
        </p:spPr>
        <p:txBody>
          <a:bodyPr wrap="square" lIns="0" tIns="0" rIns="0" bIns="0" rtlCol="0" anchor="b"/>
          <a:lstStyle/>
          <a:p>
            <a:pPr indent="0" marL="0">
              <a:buNone/>
            </a:pPr>
            <a:r>
              <a:rPr lang="en-US" sz="4000" b="1" dirty="0">
                <a:solidFill>
                  <a:schemeClr val="accent2"/>
                </a:solidFill>
                <a:latin typeface="Cambria" pitchFamily="34" charset="0"/>
                <a:ea typeface="Cambria" pitchFamily="34" charset="-122"/>
                <a:cs typeface="Cambria" pitchFamily="34" charset="-120"/>
              </a:rPr>
              <a:t>− 6 points</a:t>
            </a:r>
            <a:endParaRPr lang="en-US" sz="4000" dirty="0"/>
          </a:p>
        </p:txBody>
      </p:sp>
      <p:sp>
        <p:nvSpPr>
          <p:cNvPr id="19" name="Text 17"/>
          <p:cNvSpPr txBox="1"/>
          <p:nvPr/>
        </p:nvSpPr>
        <p:spPr>
          <a:xfrm>
            <a:off x="6400800" y="5303520"/>
            <a:ext cx="4937760" cy="685800"/>
          </a:xfrm>
          <a:prstGeom prst="rect">
            <a:avLst/>
          </a:prstGeom>
          <a:noFill/>
          <a:ln/>
        </p:spPr>
        <p:txBody>
          <a:bodyPr wrap="square" lIns="0" tIns="0" rIns="0" bIns="0" rtlCol="0" anchor="t"/>
          <a:lstStyle/>
          <a:p>
            <a:pPr indent="0" marL="0">
              <a:buNone/>
            </a:pPr>
            <a:r>
              <a:rPr lang="en-US" sz="1400" dirty="0">
                <a:solidFill>
                  <a:schemeClr val="accent5"/>
                </a:solidFill>
              </a:rPr>
              <a:t>de cotisations retraite à long terme, selon les simulations de la Fondapol</a:t>
            </a:r>
            <a:endParaRPr lang="en-US" sz="1400" dirty="0"/>
          </a:p>
        </p:txBody>
      </p:sp>
      <p:sp>
        <p:nvSpPr>
          <p:cNvPr id="20" name="Source"/>
          <p:cNvSpPr txBox="1"/>
          <p:nvPr/>
        </p:nvSpPr>
        <p:spPr>
          <a:xfrm>
            <a:off x="548640" y="6355080"/>
            <a:ext cx="10424160" cy="274320"/>
          </a:xfrm>
          <a:prstGeom prst="rect">
            <a:avLst/>
          </a:prstGeom>
          <a:noFill/>
          <a:ln/>
        </p:spPr>
        <p:txBody>
          <a:bodyPr wrap="square" lIns="0" tIns="0" rIns="0" bIns="0" rtlCol="0" anchor="ctr"/>
          <a:lstStyle/>
          <a:p>
            <a:pPr indent="0" marL="0">
              <a:buNone/>
            </a:pPr>
            <a:r>
              <a:rPr lang="en-US" sz="1000" dirty="0">
                <a:solidFill>
                  <a:schemeClr val="accent5"/>
                </a:solidFill>
              </a:rPr>
              <a:t>Source : Martinot, Gravier et Muret, « Vers un système de retraite mixte répartition-capitalisation », Fondapol, nov. 2025 ; répartition : Thesmar et Landier (2026)</a:t>
            </a:r>
            <a:endParaRPr lang="en-US" sz="10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Étiquette"/>
          <p:cNvSpPr txBox="1"/>
          <p:nvPr/>
        </p:nvSpPr>
        <p:spPr>
          <a:xfrm>
            <a:off x="548640" y="256032"/>
            <a:ext cx="2368296" cy="310896"/>
          </a:xfrm>
          <a:prstGeom prst="roundRect">
            <a:avLst>
              <a:gd name="adj" fmla="val 50000"/>
            </a:avLst>
          </a:prstGeom>
          <a:solidFill>
            <a:schemeClr val="accent1"/>
          </a:solidFill>
          <a:ln/>
        </p:spPr>
        <p:txBody>
          <a:bodyPr wrap="square" lIns="0" tIns="0" rIns="0" bIns="0" rtlCol="0" anchor="ctr"/>
          <a:lstStyle/>
          <a:p>
            <a:pPr algn="ctr" indent="0" marL="0">
              <a:buNone/>
            </a:pPr>
            <a:r>
              <a:rPr lang="en-US" sz="1200" b="1" spc="100" kern="0" dirty="0">
                <a:solidFill>
                  <a:schemeClr val="bg1"/>
                </a:solidFill>
              </a:rPr>
              <a:t>POSITION 2 · CONTRE</a:t>
            </a:r>
            <a:endParaRPr lang="en-US" sz="1200" dirty="0"/>
          </a:p>
        </p:txBody>
      </p:sp>
      <p:sp>
        <p:nvSpPr>
          <p:cNvPr id="3" name="Text 0"/>
          <p:cNvSpPr/>
          <p:nvPr>
            <p:ph idx="100" type="title" hasCustomPrompt="1"/>
          </p:nvPr>
        </p:nvSpPr>
        <p:spPr>
          <a:xfrm>
            <a:off x="548640" y="658368"/>
            <a:ext cx="11064240" cy="73152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 Une régression sociale »</a:t>
            </a:r>
            <a:endParaRPr lang="en-US" sz="3400" dirty="0"/>
          </a:p>
        </p:txBody>
      </p:sp>
      <p:sp>
        <p:nvSpPr>
          <p:cNvPr id="4" name="Auteur"/>
          <p:cNvSpPr txBox="1"/>
          <p:nvPr/>
        </p:nvSpPr>
        <p:spPr>
          <a:xfrm>
            <a:off x="548640" y="1572768"/>
            <a:ext cx="11064240" cy="329184"/>
          </a:xfrm>
          <a:prstGeom prst="rect">
            <a:avLst/>
          </a:prstGeom>
          <a:noFill/>
          <a:ln/>
        </p:spPr>
        <p:txBody>
          <a:bodyPr wrap="square" lIns="0" tIns="0" rIns="0" bIns="0" rtlCol="0" anchor="ctr"/>
          <a:lstStyle/>
          <a:p>
            <a:pPr indent="0" marL="0">
              <a:buNone/>
            </a:pPr>
            <a:r>
              <a:rPr lang="en-US" sz="1500" i="1" dirty="0">
                <a:solidFill>
                  <a:schemeClr val="accent5"/>
                </a:solidFill>
              </a:rPr>
              <a:t>CGT, janvier 2025 (et Eric Weil, La Grande Conversation, mai 2025)</a:t>
            </a:r>
            <a:endParaRPr lang="en-US" sz="1500" dirty="0"/>
          </a:p>
        </p:txBody>
      </p:sp>
      <p:sp>
        <p:nvSpPr>
          <p:cNvPr id="5" name="Text 3"/>
          <p:cNvSpPr txBox="1"/>
          <p:nvPr/>
        </p:nvSpPr>
        <p:spPr>
          <a:xfrm>
            <a:off x="548640" y="2103120"/>
            <a:ext cx="5120640" cy="3931920"/>
          </a:xfrm>
          <a:prstGeom prst="rect">
            <a:avLst/>
          </a:prstGeom>
          <a:noFill/>
          <a:ln/>
        </p:spPr>
        <p:txBody>
          <a:bodyPr wrap="square" lIns="0" tIns="0" rIns="0" bIns="0" rtlCol="0" anchor="t"/>
          <a:lstStyle/>
          <a:p>
            <a:pPr marL="228600" indent="-228600">
              <a:spcAft>
                <a:spcPts val="1000"/>
              </a:spcAft>
              <a:buSzPct val="100000"/>
              <a:buChar char="•"/>
            </a:pPr>
            <a:r>
              <a:rPr lang="en-US" sz="1700" b="1" dirty="0">
                <a:solidFill>
                  <a:schemeClr val="tx1"/>
                </a:solidFill>
              </a:rPr>
              <a:t>Fin de la solidarité : </a:t>
            </a:r>
            <a:pPr indent="0" marL="0">
              <a:buNone/>
            </a:pPr>
            <a:r>
              <a:rPr lang="en-US" sz="1700" dirty="0">
                <a:solidFill>
                  <a:schemeClr val="tx1"/>
                </a:solidFill>
              </a:rPr>
              <a:t>chômage, maladie ou maternité ne rapportent plus de droits</a:t>
            </a:r>
            <a:endParaRPr lang="en-US" sz="1700" dirty="0"/>
          </a:p>
          <a:p>
            <a:pPr marL="228600" indent="-228600">
              <a:spcAft>
                <a:spcPts val="1000"/>
              </a:spcAft>
              <a:buSzPct val="100000"/>
              <a:buChar char="•"/>
            </a:pPr>
            <a:r>
              <a:rPr lang="en-US" sz="1700" b="1" dirty="0">
                <a:solidFill>
                  <a:schemeClr val="tx1"/>
                </a:solidFill>
              </a:rPr>
              <a:t>Les inégalités de salaire </a:t>
            </a:r>
            <a:pPr indent="0" marL="0">
              <a:buNone/>
            </a:pPr>
            <a:r>
              <a:rPr lang="en-US" sz="1700" dirty="0">
                <a:solidFill>
                  <a:schemeClr val="tx1"/>
                </a:solidFill>
              </a:rPr>
              <a:t>se retrouvent à la retraite</a:t>
            </a:r>
            <a:endParaRPr lang="en-US" sz="1700" dirty="0"/>
          </a:p>
          <a:p>
            <a:pPr marL="228600" indent="-228600">
              <a:spcAft>
                <a:spcPts val="1000"/>
              </a:spcAft>
              <a:buSzPct val="100000"/>
              <a:buChar char="•"/>
            </a:pPr>
            <a:r>
              <a:rPr lang="en-US" sz="1700" b="1" dirty="0">
                <a:solidFill>
                  <a:schemeClr val="tx1"/>
                </a:solidFill>
              </a:rPr>
              <a:t>Le risque boursier : </a:t>
            </a:r>
            <a:pPr indent="0" marL="0">
              <a:buNone/>
            </a:pPr>
            <a:r>
              <a:rPr lang="en-US" sz="1700" dirty="0">
                <a:solidFill>
                  <a:schemeClr val="tx1"/>
                </a:solidFill>
              </a:rPr>
              <a:t>aux Pays-Bas, la crise de 2008 a fait fondre l'épargne retraite</a:t>
            </a:r>
            <a:endParaRPr lang="en-US" sz="1700" dirty="0"/>
          </a:p>
          <a:p>
            <a:pPr marL="228600" indent="-228600">
              <a:spcAft>
                <a:spcPts val="1000"/>
              </a:spcAft>
              <a:buSzPct val="100000"/>
              <a:buChar char="•"/>
            </a:pPr>
            <a:r>
              <a:rPr lang="en-US" sz="1700" b="1" dirty="0">
                <a:solidFill>
                  <a:schemeClr val="tx1"/>
                </a:solidFill>
              </a:rPr>
              <a:t>Payer deux fois : </a:t>
            </a:r>
            <a:pPr indent="0" marL="0">
              <a:buNone/>
            </a:pPr>
            <a:r>
              <a:rPr lang="en-US" sz="1700" dirty="0">
                <a:solidFill>
                  <a:schemeClr val="tx1"/>
                </a:solidFill>
              </a:rPr>
              <a:t>les pensions actuelles et sa propre épargne, une « génération sacrifiée »</a:t>
            </a:r>
            <a:endParaRPr lang="en-US" sz="1700" dirty="0"/>
          </a:p>
        </p:txBody>
      </p:sp>
      <p:sp>
        <p:nvSpPr>
          <p:cNvPr id="6" name="Chiffre clé"/>
          <p:cNvSpPr/>
          <p:nvPr/>
        </p:nvSpPr>
        <p:spPr>
          <a:xfrm>
            <a:off x="6126480" y="1600200"/>
            <a:ext cx="5486400" cy="2148840"/>
          </a:xfrm>
          <a:prstGeom prst="roundRect">
            <a:avLst>
              <a:gd name="adj" fmla="val 3404"/>
            </a:avLst>
          </a:prstGeom>
          <a:solidFill>
            <a:schemeClr val="bg2"/>
          </a:solidFill>
          <a:ln w="12700">
            <a:solidFill>
              <a:schemeClr val="bg2"/>
            </a:solidFill>
            <a:prstDash val="solid"/>
          </a:ln>
        </p:spPr>
      </p:sp>
      <p:sp>
        <p:nvSpPr>
          <p:cNvPr id="7" name="Text 5"/>
          <p:cNvSpPr txBox="1"/>
          <p:nvPr/>
        </p:nvSpPr>
        <p:spPr>
          <a:xfrm>
            <a:off x="6400800" y="1783080"/>
            <a:ext cx="4937760" cy="731520"/>
          </a:xfrm>
          <a:prstGeom prst="rect">
            <a:avLst/>
          </a:prstGeom>
          <a:noFill/>
          <a:ln/>
        </p:spPr>
        <p:txBody>
          <a:bodyPr wrap="square" lIns="0" tIns="0" rIns="0" bIns="0" rtlCol="0" anchor="b"/>
          <a:lstStyle/>
          <a:p>
            <a:pPr indent="0" marL="0">
              <a:buNone/>
            </a:pPr>
            <a:r>
              <a:rPr lang="en-US" sz="4000" b="1" dirty="0">
                <a:solidFill>
                  <a:schemeClr val="accent1"/>
                </a:solidFill>
                <a:latin typeface="Cambria" pitchFamily="34" charset="0"/>
                <a:ea typeface="Cambria" pitchFamily="34" charset="-122"/>
                <a:cs typeface="Cambria" pitchFamily="34" charset="-120"/>
              </a:rPr>
              <a:t>300 à 400 Md€</a:t>
            </a:r>
            <a:endParaRPr lang="en-US" sz="4000" dirty="0"/>
          </a:p>
        </p:txBody>
      </p:sp>
      <p:sp>
        <p:nvSpPr>
          <p:cNvPr id="8" name="Text 6"/>
          <p:cNvSpPr txBox="1"/>
          <p:nvPr/>
        </p:nvSpPr>
        <p:spPr>
          <a:xfrm>
            <a:off x="6400800" y="2560320"/>
            <a:ext cx="4937760" cy="1051560"/>
          </a:xfrm>
          <a:prstGeom prst="rect">
            <a:avLst/>
          </a:prstGeom>
          <a:noFill/>
          <a:ln/>
        </p:spPr>
        <p:txBody>
          <a:bodyPr wrap="square" lIns="0" tIns="0" rIns="0" bIns="0" rtlCol="0" anchor="t"/>
          <a:lstStyle/>
          <a:p>
            <a:pPr indent="0" marL="0">
              <a:buNone/>
            </a:pPr>
            <a:r>
              <a:rPr lang="en-US" sz="1400" dirty="0">
                <a:solidFill>
                  <a:schemeClr val="accent5"/>
                </a:solidFill>
              </a:rPr>
              <a:t>coût cumulé de la transition pour seulement 10 à 15 % de capitalisation (environ 20 Md€ de plus par an)</a:t>
            </a:r>
            <a:endParaRPr lang="en-US" sz="1400" dirty="0"/>
          </a:p>
        </p:txBody>
      </p:sp>
      <p:sp>
        <p:nvSpPr>
          <p:cNvPr id="9" name="Chiffre clé"/>
          <p:cNvSpPr/>
          <p:nvPr/>
        </p:nvSpPr>
        <p:spPr>
          <a:xfrm>
            <a:off x="6126480" y="3977640"/>
            <a:ext cx="5486400" cy="2148840"/>
          </a:xfrm>
          <a:prstGeom prst="roundRect">
            <a:avLst>
              <a:gd name="adj" fmla="val 3404"/>
            </a:avLst>
          </a:prstGeom>
          <a:solidFill>
            <a:schemeClr val="bg2"/>
          </a:solidFill>
          <a:ln w="12700">
            <a:solidFill>
              <a:schemeClr val="bg2"/>
            </a:solidFill>
            <a:prstDash val="solid"/>
          </a:ln>
        </p:spPr>
      </p:sp>
      <p:sp>
        <p:nvSpPr>
          <p:cNvPr id="10" name="Text 8"/>
          <p:cNvSpPr txBox="1"/>
          <p:nvPr/>
        </p:nvSpPr>
        <p:spPr>
          <a:xfrm>
            <a:off x="6400800" y="4160520"/>
            <a:ext cx="4937760" cy="731520"/>
          </a:xfrm>
          <a:prstGeom prst="rect">
            <a:avLst/>
          </a:prstGeom>
          <a:noFill/>
          <a:ln/>
        </p:spPr>
        <p:txBody>
          <a:bodyPr wrap="square" lIns="0" tIns="0" rIns="0" bIns="0" rtlCol="0" anchor="b"/>
          <a:lstStyle/>
          <a:p>
            <a:pPr indent="0" marL="0">
              <a:buNone/>
            </a:pPr>
            <a:r>
              <a:rPr lang="en-US" sz="4000" b="1" dirty="0">
                <a:solidFill>
                  <a:schemeClr val="accent1"/>
                </a:solidFill>
                <a:latin typeface="Cambria" pitchFamily="34" charset="0"/>
                <a:ea typeface="Cambria" pitchFamily="34" charset="-122"/>
                <a:cs typeface="Cambria" pitchFamily="34" charset="-120"/>
              </a:rPr>
              <a:t>30 à 40 ans</a:t>
            </a:r>
            <a:endParaRPr lang="en-US" sz="4000" dirty="0"/>
          </a:p>
        </p:txBody>
      </p:sp>
      <p:sp>
        <p:nvSpPr>
          <p:cNvPr id="11" name="Text 9"/>
          <p:cNvSpPr txBox="1"/>
          <p:nvPr/>
        </p:nvSpPr>
        <p:spPr>
          <a:xfrm>
            <a:off x="6400800" y="4937760"/>
            <a:ext cx="4937760" cy="1051560"/>
          </a:xfrm>
          <a:prstGeom prst="rect">
            <a:avLst/>
          </a:prstGeom>
          <a:noFill/>
          <a:ln/>
        </p:spPr>
        <p:txBody>
          <a:bodyPr wrap="square" lIns="0" tIns="0" rIns="0" bIns="0" rtlCol="0" anchor="t"/>
          <a:lstStyle/>
          <a:p>
            <a:pPr indent="0" marL="0">
              <a:buNone/>
            </a:pPr>
            <a:r>
              <a:rPr lang="en-US" sz="1400" dirty="0">
                <a:solidFill>
                  <a:schemeClr val="accent5"/>
                </a:solidFill>
              </a:rPr>
              <a:t>avant que la capitalisation ne produise des gains nets</a:t>
            </a:r>
            <a:endParaRPr lang="en-US" sz="1400" dirty="0"/>
          </a:p>
        </p:txBody>
      </p:sp>
      <p:sp>
        <p:nvSpPr>
          <p:cNvPr id="12" name="Source"/>
          <p:cNvSpPr txBox="1"/>
          <p:nvPr/>
        </p:nvSpPr>
        <p:spPr>
          <a:xfrm>
            <a:off x="548640" y="6355080"/>
            <a:ext cx="10424160" cy="274320"/>
          </a:xfrm>
          <a:prstGeom prst="rect">
            <a:avLst/>
          </a:prstGeom>
          <a:noFill/>
          <a:ln/>
        </p:spPr>
        <p:txBody>
          <a:bodyPr wrap="square" lIns="0" tIns="0" rIns="0" bIns="0" rtlCol="0" anchor="ctr"/>
          <a:lstStyle/>
          <a:p>
            <a:pPr indent="0" marL="0">
              <a:buNone/>
            </a:pPr>
            <a:r>
              <a:rPr lang="en-US" sz="1000" dirty="0">
                <a:solidFill>
                  <a:schemeClr val="accent5"/>
                </a:solidFill>
              </a:rPr>
              <a:t>Source : CGT, « La capitalisation n'est pas une solution : c'est une régression sociale », 31/01/2025 ; chiffres : Eric Weil, La Grande Conversation (Terra Nova), mai 2025</a:t>
            </a:r>
            <a:endParaRPr lang="en-US" sz="10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Étiquette"/>
          <p:cNvSpPr txBox="1"/>
          <p:nvPr/>
        </p:nvSpPr>
        <p:spPr>
          <a:xfrm>
            <a:off x="548640" y="256032"/>
            <a:ext cx="2066544" cy="310896"/>
          </a:xfrm>
          <a:prstGeom prst="roundRect">
            <a:avLst>
              <a:gd name="adj" fmla="val 50000"/>
            </a:avLst>
          </a:prstGeom>
          <a:solidFill>
            <a:schemeClr val="tx2"/>
          </a:solidFill>
          <a:ln/>
        </p:spPr>
        <p:txBody>
          <a:bodyPr wrap="square" lIns="0" tIns="0" rIns="0" bIns="0" rtlCol="0" anchor="ctr"/>
          <a:lstStyle/>
          <a:p>
            <a:pPr algn="ctr" indent="0" marL="0">
              <a:buNone/>
            </a:pPr>
            <a:r>
              <a:rPr lang="en-US" sz="1200" b="1" spc="100" kern="0" dirty="0">
                <a:solidFill>
                  <a:schemeClr val="bg1"/>
                </a:solidFill>
              </a:rPr>
              <a:t>LE CŒUR DU DÉBAT</a:t>
            </a:r>
            <a:endParaRPr lang="en-US" sz="1200" dirty="0"/>
          </a:p>
        </p:txBody>
      </p:sp>
      <p:sp>
        <p:nvSpPr>
          <p:cNvPr id="3" name="Text 0"/>
          <p:cNvSpPr/>
          <p:nvPr>
            <p:ph idx="100" type="title" hasCustomPrompt="1"/>
          </p:nvPr>
        </p:nvSpPr>
        <p:spPr>
          <a:xfrm>
            <a:off x="548640" y="658368"/>
            <a:ext cx="11064240" cy="73152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Qui paierait la transition ?</a:t>
            </a:r>
            <a:endParaRPr lang="en-US" sz="3400" dirty="0"/>
          </a:p>
        </p:txBody>
      </p:sp>
      <p:sp>
        <p:nvSpPr>
          <p:cNvPr id="4" name="Carte génération sacrifiée"/>
          <p:cNvSpPr/>
          <p:nvPr/>
        </p:nvSpPr>
        <p:spPr>
          <a:xfrm>
            <a:off x="548640" y="1600200"/>
            <a:ext cx="4206240" cy="4526280"/>
          </a:xfrm>
          <a:prstGeom prst="roundRect">
            <a:avLst>
              <a:gd name="adj" fmla="val 1739"/>
            </a:avLst>
          </a:prstGeom>
          <a:solidFill>
            <a:schemeClr val="bg2"/>
          </a:solidFill>
          <a:ln w="12700">
            <a:solidFill>
              <a:schemeClr val="bg2"/>
            </a:solidFill>
            <a:prstDash val="solid"/>
          </a:ln>
        </p:spPr>
      </p:sp>
      <p:sp>
        <p:nvSpPr>
          <p:cNvPr id="5" name="Text 3"/>
          <p:cNvSpPr txBox="1"/>
          <p:nvPr/>
        </p:nvSpPr>
        <p:spPr>
          <a:xfrm>
            <a:off x="822960" y="1828800"/>
            <a:ext cx="3657600" cy="822960"/>
          </a:xfrm>
          <a:prstGeom prst="rect">
            <a:avLst/>
          </a:prstGeom>
          <a:noFill/>
          <a:ln/>
        </p:spPr>
        <p:txBody>
          <a:bodyPr wrap="square" lIns="0" tIns="0" rIns="0" bIns="0" rtlCol="0" anchor="t"/>
          <a:lstStyle/>
          <a:p>
            <a:pPr indent="0" marL="0">
              <a:buNone/>
            </a:pPr>
            <a:r>
              <a:rPr lang="en-US" sz="2200" b="1" dirty="0">
                <a:solidFill>
                  <a:schemeClr val="tx2"/>
                </a:solidFill>
                <a:latin typeface="Cambria" pitchFamily="34" charset="0"/>
                <a:ea typeface="Cambria" pitchFamily="34" charset="-122"/>
                <a:cs typeface="Cambria" pitchFamily="34" charset="-120"/>
              </a:rPr>
              <a:t>« Une génération un peu sacrifiée »</a:t>
            </a:r>
            <a:endParaRPr lang="en-US" sz="2200" dirty="0"/>
          </a:p>
        </p:txBody>
      </p:sp>
      <p:sp>
        <p:nvSpPr>
          <p:cNvPr id="6" name="Text 4"/>
          <p:cNvSpPr txBox="1"/>
          <p:nvPr/>
        </p:nvSpPr>
        <p:spPr>
          <a:xfrm>
            <a:off x="822960" y="2788920"/>
            <a:ext cx="3657600" cy="2011680"/>
          </a:xfrm>
          <a:prstGeom prst="rect">
            <a:avLst/>
          </a:prstGeom>
          <a:noFill/>
          <a:ln/>
        </p:spPr>
        <p:txBody>
          <a:bodyPr wrap="square" lIns="0" tIns="0" rIns="0" bIns="0" rtlCol="0" anchor="t"/>
          <a:lstStyle/>
          <a:p>
            <a:pPr indent="0" marL="0">
              <a:buNone/>
            </a:pPr>
            <a:r>
              <a:rPr lang="en-US" sz="1600" dirty="0">
                <a:solidFill>
                  <a:schemeClr val="tx1"/>
                </a:solidFill>
              </a:rPr>
              <a:t>Pendant des décennies, les actifs devraient payer les pensions des retraités actuels ET remplir le nouveau fonds de capitalisation, jusqu'à ce que les engagements de la répartition diminuent.</a:t>
            </a:r>
            <a:endParaRPr lang="en-US" sz="1600" dirty="0"/>
          </a:p>
        </p:txBody>
      </p:sp>
      <p:sp>
        <p:nvSpPr>
          <p:cNvPr id="7" name="Text 5"/>
          <p:cNvSpPr txBox="1"/>
          <p:nvPr/>
        </p:nvSpPr>
        <p:spPr>
          <a:xfrm>
            <a:off x="822960" y="5120640"/>
            <a:ext cx="3657600" cy="731520"/>
          </a:xfrm>
          <a:prstGeom prst="rect">
            <a:avLst/>
          </a:prstGeom>
          <a:noFill/>
          <a:ln/>
        </p:spPr>
        <p:txBody>
          <a:bodyPr wrap="square" lIns="0" tIns="0" rIns="0" bIns="0" rtlCol="0" anchor="t"/>
          <a:lstStyle/>
          <a:p>
            <a:pPr indent="0" marL="0">
              <a:buNone/>
            </a:pPr>
            <a:r>
              <a:rPr lang="en-US" sz="1600" b="1" dirty="0">
                <a:solidFill>
                  <a:schemeClr val="tx2"/>
                </a:solidFill>
              </a:rPr>
              <a:t>C'est votre génération qui serait concernée.</a:t>
            </a:r>
            <a:endParaRPr lang="en-US" sz="1600" dirty="0"/>
          </a:p>
        </p:txBody>
      </p:sp>
      <p:sp>
        <p:nvSpPr>
          <p:cNvPr id="8" name="Text 6"/>
          <p:cNvSpPr txBox="1"/>
          <p:nvPr/>
        </p:nvSpPr>
        <p:spPr>
          <a:xfrm>
            <a:off x="5120640" y="1600200"/>
            <a:ext cx="6492240" cy="365760"/>
          </a:xfrm>
          <a:prstGeom prst="rect">
            <a:avLst/>
          </a:prstGeom>
          <a:noFill/>
          <a:ln/>
        </p:spPr>
        <p:txBody>
          <a:bodyPr wrap="square" lIns="0" tIns="0" rIns="0" bIns="0" rtlCol="0" anchor="ctr"/>
          <a:lstStyle/>
          <a:p>
            <a:pPr indent="0" marL="0">
              <a:buNone/>
            </a:pPr>
            <a:r>
              <a:rPr lang="en-US" sz="1600" b="1" dirty="0">
                <a:solidFill>
                  <a:schemeClr val="tx2"/>
                </a:solidFill>
              </a:rPr>
              <a:t>Les pistes pour financer le départ, et leurs limites</a:t>
            </a:r>
            <a:endParaRPr lang="en-US" sz="1600" dirty="0"/>
          </a:p>
        </p:txBody>
      </p:sp>
      <p:sp>
        <p:nvSpPr>
          <p:cNvPr id="9" name="Piste 1"/>
          <p:cNvSpPr/>
          <p:nvPr/>
        </p:nvSpPr>
        <p:spPr>
          <a:xfrm>
            <a:off x="5120640" y="2103120"/>
            <a:ext cx="6492240" cy="1234440"/>
          </a:xfrm>
          <a:prstGeom prst="roundRect">
            <a:avLst>
              <a:gd name="adj" fmla="val 5926"/>
            </a:avLst>
          </a:prstGeom>
          <a:solidFill>
            <a:schemeClr val="bg2"/>
          </a:solidFill>
          <a:ln w="12700">
            <a:solidFill>
              <a:schemeClr val="bg2"/>
            </a:solidFill>
            <a:prstDash val="solid"/>
          </a:ln>
        </p:spPr>
      </p:sp>
      <p:sp>
        <p:nvSpPr>
          <p:cNvPr id="10" name="Text 8"/>
          <p:cNvSpPr txBox="1"/>
          <p:nvPr/>
        </p:nvSpPr>
        <p:spPr>
          <a:xfrm>
            <a:off x="5349240" y="2240280"/>
            <a:ext cx="1737360" cy="960120"/>
          </a:xfrm>
          <a:prstGeom prst="rect">
            <a:avLst/>
          </a:prstGeom>
          <a:noFill/>
          <a:ln/>
        </p:spPr>
        <p:txBody>
          <a:bodyPr wrap="square" lIns="0" tIns="0" rIns="0" bIns="0" rtlCol="0" anchor="ctr"/>
          <a:lstStyle/>
          <a:p>
            <a:pPr indent="0" marL="0">
              <a:buNone/>
            </a:pPr>
            <a:r>
              <a:rPr lang="en-US" sz="2400" b="1" dirty="0">
                <a:solidFill>
                  <a:schemeClr val="tx2"/>
                </a:solidFill>
                <a:latin typeface="Cambria" pitchFamily="34" charset="0"/>
                <a:ea typeface="Cambria" pitchFamily="34" charset="-122"/>
                <a:cs typeface="Cambria" pitchFamily="34" charset="-120"/>
              </a:rPr>
              <a:t>≈ 91 Md€</a:t>
            </a:r>
            <a:endParaRPr lang="en-US" sz="2400" dirty="0"/>
          </a:p>
        </p:txBody>
      </p:sp>
      <p:sp>
        <p:nvSpPr>
          <p:cNvPr id="11" name="Text 9"/>
          <p:cNvSpPr txBox="1"/>
          <p:nvPr/>
        </p:nvSpPr>
        <p:spPr>
          <a:xfrm>
            <a:off x="7178040" y="2212848"/>
            <a:ext cx="4251960" cy="1005840"/>
          </a:xfrm>
          <a:prstGeom prst="rect">
            <a:avLst/>
          </a:prstGeom>
          <a:noFill/>
          <a:ln/>
        </p:spPr>
        <p:txBody>
          <a:bodyPr wrap="square" lIns="0" tIns="0" rIns="0" bIns="0" rtlCol="0" anchor="ctr"/>
          <a:lstStyle/>
          <a:p>
            <a:pPr indent="0" marL="0">
              <a:buNone/>
            </a:pPr>
            <a:r>
              <a:rPr lang="en-US" sz="1500" b="1" dirty="0">
                <a:solidFill>
                  <a:schemeClr val="tx1"/>
                </a:solidFill>
              </a:rPr>
              <a:t>Prendre les réserves de l'Agirc-Arrco</a:t>
            </a:r>
            <a:endParaRPr lang="en-US" sz="1500" dirty="0"/>
          </a:p>
          <a:p>
            <a:pPr indent="0" marL="0">
              <a:buNone/>
            </a:pPr>
            <a:r>
              <a:rPr lang="en-US" sz="1400" dirty="0">
                <a:solidFill>
                  <a:schemeClr val="accent5"/>
                </a:solidFill>
              </a:rPr>
              <a:t>Mais elles servent à payer les retraites en cas de crise financière</a:t>
            </a:r>
            <a:endParaRPr lang="en-US" sz="1500" dirty="0"/>
          </a:p>
        </p:txBody>
      </p:sp>
      <p:sp>
        <p:nvSpPr>
          <p:cNvPr id="12" name="Piste 2"/>
          <p:cNvSpPr/>
          <p:nvPr/>
        </p:nvSpPr>
        <p:spPr>
          <a:xfrm>
            <a:off x="5120640" y="3474720"/>
            <a:ext cx="6492240" cy="1234440"/>
          </a:xfrm>
          <a:prstGeom prst="roundRect">
            <a:avLst>
              <a:gd name="adj" fmla="val 5926"/>
            </a:avLst>
          </a:prstGeom>
          <a:solidFill>
            <a:schemeClr val="bg2"/>
          </a:solidFill>
          <a:ln w="12700">
            <a:solidFill>
              <a:schemeClr val="bg2"/>
            </a:solidFill>
            <a:prstDash val="solid"/>
          </a:ln>
        </p:spPr>
      </p:sp>
      <p:sp>
        <p:nvSpPr>
          <p:cNvPr id="13" name="Text 11"/>
          <p:cNvSpPr txBox="1"/>
          <p:nvPr/>
        </p:nvSpPr>
        <p:spPr>
          <a:xfrm>
            <a:off x="5349240" y="3611880"/>
            <a:ext cx="1737360" cy="960120"/>
          </a:xfrm>
          <a:prstGeom prst="rect">
            <a:avLst/>
          </a:prstGeom>
          <a:noFill/>
          <a:ln/>
        </p:spPr>
        <p:txBody>
          <a:bodyPr wrap="square" lIns="0" tIns="0" rIns="0" bIns="0" rtlCol="0" anchor="ctr"/>
          <a:lstStyle/>
          <a:p>
            <a:pPr indent="0" marL="0">
              <a:buNone/>
            </a:pPr>
            <a:r>
              <a:rPr lang="en-US" sz="2400" b="1" dirty="0">
                <a:solidFill>
                  <a:schemeClr val="tx2"/>
                </a:solidFill>
                <a:latin typeface="Cambria" pitchFamily="34" charset="0"/>
                <a:ea typeface="Cambria" pitchFamily="34" charset="-122"/>
                <a:cs typeface="Cambria" pitchFamily="34" charset="-120"/>
              </a:rPr>
              <a:t>≈ 80 Md€</a:t>
            </a:r>
            <a:endParaRPr lang="en-US" sz="2400" dirty="0"/>
          </a:p>
        </p:txBody>
      </p:sp>
      <p:sp>
        <p:nvSpPr>
          <p:cNvPr id="14" name="Text 12"/>
          <p:cNvSpPr txBox="1"/>
          <p:nvPr/>
        </p:nvSpPr>
        <p:spPr>
          <a:xfrm>
            <a:off x="7178040" y="3584448"/>
            <a:ext cx="4251960" cy="1005840"/>
          </a:xfrm>
          <a:prstGeom prst="rect">
            <a:avLst/>
          </a:prstGeom>
          <a:noFill/>
          <a:ln/>
        </p:spPr>
        <p:txBody>
          <a:bodyPr wrap="square" lIns="0" tIns="0" rIns="0" bIns="0" rtlCol="0" anchor="ctr"/>
          <a:lstStyle/>
          <a:p>
            <a:pPr indent="0" marL="0">
              <a:buNone/>
            </a:pPr>
            <a:r>
              <a:rPr lang="en-US" sz="1500" b="1" dirty="0">
                <a:solidFill>
                  <a:schemeClr val="tx1"/>
                </a:solidFill>
              </a:rPr>
              <a:t>Vendre des participations de l'État dans des entreprises</a:t>
            </a:r>
            <a:endParaRPr lang="en-US" sz="1500" dirty="0"/>
          </a:p>
          <a:p>
            <a:pPr indent="0" marL="0">
              <a:buNone/>
            </a:pPr>
            <a:r>
              <a:rPr lang="en-US" sz="1400" dirty="0">
                <a:solidFill>
                  <a:schemeClr val="accent5"/>
                </a:solidFill>
              </a:rPr>
              <a:t>Mais l'État perd leurs dividendes, et ça ne suffit pas</a:t>
            </a:r>
            <a:endParaRPr lang="en-US" sz="1500" dirty="0"/>
          </a:p>
        </p:txBody>
      </p:sp>
      <p:sp>
        <p:nvSpPr>
          <p:cNvPr id="15" name="Piste 3"/>
          <p:cNvSpPr/>
          <p:nvPr/>
        </p:nvSpPr>
        <p:spPr>
          <a:xfrm>
            <a:off x="5120640" y="4846320"/>
            <a:ext cx="6492240" cy="1234440"/>
          </a:xfrm>
          <a:prstGeom prst="roundRect">
            <a:avLst>
              <a:gd name="adj" fmla="val 5926"/>
            </a:avLst>
          </a:prstGeom>
          <a:solidFill>
            <a:schemeClr val="bg2"/>
          </a:solidFill>
          <a:ln w="12700">
            <a:solidFill>
              <a:schemeClr val="bg2"/>
            </a:solidFill>
            <a:prstDash val="solid"/>
          </a:ln>
        </p:spPr>
      </p:sp>
      <p:sp>
        <p:nvSpPr>
          <p:cNvPr id="16" name="Text 14"/>
          <p:cNvSpPr txBox="1"/>
          <p:nvPr/>
        </p:nvSpPr>
        <p:spPr>
          <a:xfrm>
            <a:off x="5349240" y="4983480"/>
            <a:ext cx="1737360" cy="960120"/>
          </a:xfrm>
          <a:prstGeom prst="rect">
            <a:avLst/>
          </a:prstGeom>
          <a:noFill/>
          <a:ln/>
        </p:spPr>
        <p:txBody>
          <a:bodyPr wrap="square" lIns="0" tIns="0" rIns="0" bIns="0" rtlCol="0" anchor="ctr"/>
          <a:lstStyle/>
          <a:p>
            <a:pPr indent="0" marL="0">
              <a:buNone/>
            </a:pPr>
            <a:r>
              <a:rPr lang="en-US" sz="2400" b="1" dirty="0">
                <a:solidFill>
                  <a:schemeClr val="tx2"/>
                </a:solidFill>
                <a:latin typeface="Cambria" pitchFamily="34" charset="0"/>
                <a:ea typeface="Cambria" pitchFamily="34" charset="-122"/>
                <a:cs typeface="Cambria" pitchFamily="34" charset="-120"/>
              </a:rPr>
              <a:t>Pensions</a:t>
            </a:r>
            <a:endParaRPr lang="en-US" sz="2400" dirty="0"/>
          </a:p>
        </p:txBody>
      </p:sp>
      <p:sp>
        <p:nvSpPr>
          <p:cNvPr id="17" name="Text 15"/>
          <p:cNvSpPr txBox="1"/>
          <p:nvPr/>
        </p:nvSpPr>
        <p:spPr>
          <a:xfrm>
            <a:off x="7178040" y="4956048"/>
            <a:ext cx="4251960" cy="1005840"/>
          </a:xfrm>
          <a:prstGeom prst="rect">
            <a:avLst/>
          </a:prstGeom>
          <a:noFill/>
          <a:ln/>
        </p:spPr>
        <p:txBody>
          <a:bodyPr wrap="square" lIns="0" tIns="0" rIns="0" bIns="0" rtlCol="0" anchor="ctr"/>
          <a:lstStyle/>
          <a:p>
            <a:pPr indent="0" marL="0">
              <a:buNone/>
            </a:pPr>
            <a:r>
              <a:rPr lang="en-US" sz="1500" b="1" dirty="0">
                <a:solidFill>
                  <a:schemeClr val="tx1"/>
                </a:solidFill>
              </a:rPr>
              <a:t>Les faire augmenter moins vite que l'inflation</a:t>
            </a:r>
            <a:endParaRPr lang="en-US" sz="1500" dirty="0"/>
          </a:p>
          <a:p>
            <a:pPr indent="0" marL="0">
              <a:buNone/>
            </a:pPr>
            <a:r>
              <a:rPr lang="en-US" sz="1400" dirty="0">
                <a:solidFill>
                  <a:schemeClr val="accent5"/>
                </a:solidFill>
              </a:rPr>
              <a:t>Ce sont alors les retraités actuels qui paient l'effort</a:t>
            </a:r>
            <a:endParaRPr lang="en-US" sz="1500" dirty="0"/>
          </a:p>
        </p:txBody>
      </p:sp>
      <p:sp>
        <p:nvSpPr>
          <p:cNvPr id="18" name="Source"/>
          <p:cNvSpPr txBox="1"/>
          <p:nvPr/>
        </p:nvSpPr>
        <p:spPr>
          <a:xfrm>
            <a:off x="548640" y="6355080"/>
            <a:ext cx="10424160" cy="274320"/>
          </a:xfrm>
          <a:prstGeom prst="rect">
            <a:avLst/>
          </a:prstGeom>
          <a:noFill/>
          <a:ln/>
        </p:spPr>
        <p:txBody>
          <a:bodyPr wrap="square" lIns="0" tIns="0" rIns="0" bIns="0" rtlCol="0" anchor="ctr"/>
          <a:lstStyle/>
          <a:p>
            <a:pPr indent="0" marL="0">
              <a:buNone/>
            </a:pPr>
            <a:r>
              <a:rPr lang="en-US" sz="1000" dirty="0">
                <a:solidFill>
                  <a:schemeClr val="accent5"/>
                </a:solidFill>
              </a:rPr>
              <a:t>Source : Agirc-Arrco (réserves au 31/12/2025) ; vidéo YouTube « Retraite par capitalisation : ce qu'il faut savoir » (80 Md€ : non vérifié) ; Fondapol (nov. 2025)</a:t>
            </a:r>
            <a:endParaRPr lang="en-US" sz="10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Étiquette"/>
          <p:cNvSpPr txBox="1"/>
          <p:nvPr/>
        </p:nvSpPr>
        <p:spPr>
          <a:xfrm>
            <a:off x="548640" y="256032"/>
            <a:ext cx="2368296" cy="310896"/>
          </a:xfrm>
          <a:prstGeom prst="roundRect">
            <a:avLst>
              <a:gd name="adj" fmla="val 50000"/>
            </a:avLst>
          </a:prstGeom>
          <a:solidFill>
            <a:schemeClr val="accent3"/>
          </a:solidFill>
          <a:ln/>
        </p:spPr>
        <p:txBody>
          <a:bodyPr wrap="square" lIns="0" tIns="0" rIns="0" bIns="0" rtlCol="0" anchor="ctr"/>
          <a:lstStyle/>
          <a:p>
            <a:pPr algn="ctr" indent="0" marL="0">
              <a:buNone/>
            </a:pPr>
            <a:r>
              <a:rPr lang="en-US" sz="1200" b="1" spc="100" kern="0" dirty="0">
                <a:solidFill>
                  <a:schemeClr val="bg1"/>
                </a:solidFill>
              </a:rPr>
              <a:t>POSITION 3 · MILIEU</a:t>
            </a:r>
            <a:endParaRPr lang="en-US" sz="1200" dirty="0"/>
          </a:p>
        </p:txBody>
      </p:sp>
      <p:sp>
        <p:nvSpPr>
          <p:cNvPr id="3" name="Text 0"/>
          <p:cNvSpPr/>
          <p:nvPr>
            <p:ph idx="100" type="title" hasCustomPrompt="1"/>
          </p:nvPr>
        </p:nvSpPr>
        <p:spPr>
          <a:xfrm>
            <a:off x="548640" y="658368"/>
            <a:ext cx="11064240" cy="73152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 Pas une recette miracle »</a:t>
            </a:r>
            <a:endParaRPr lang="en-US" sz="3400" dirty="0"/>
          </a:p>
        </p:txBody>
      </p:sp>
      <p:sp>
        <p:nvSpPr>
          <p:cNvPr id="4" name="Auteur"/>
          <p:cNvSpPr txBox="1"/>
          <p:nvPr/>
        </p:nvSpPr>
        <p:spPr>
          <a:xfrm>
            <a:off x="548640" y="1572768"/>
            <a:ext cx="11064240" cy="329184"/>
          </a:xfrm>
          <a:prstGeom prst="rect">
            <a:avLst/>
          </a:prstGeom>
          <a:noFill/>
          <a:ln/>
        </p:spPr>
        <p:txBody>
          <a:bodyPr wrap="square" lIns="0" tIns="0" rIns="0" bIns="0" rtlCol="0" anchor="ctr"/>
          <a:lstStyle/>
          <a:p>
            <a:pPr indent="0" marL="0">
              <a:buNone/>
            </a:pPr>
            <a:r>
              <a:rPr lang="en-US" sz="1500" i="1" dirty="0">
                <a:solidFill>
                  <a:schemeClr val="accent5"/>
                </a:solidFill>
              </a:rPr>
              <a:t>D. Thesmar (MIT) et A. Landier (HEC), L'Express, sept. 2026</a:t>
            </a:r>
            <a:endParaRPr lang="en-US" sz="1500" dirty="0"/>
          </a:p>
        </p:txBody>
      </p:sp>
      <p:sp>
        <p:nvSpPr>
          <p:cNvPr id="5" name="Text 3"/>
          <p:cNvSpPr txBox="1"/>
          <p:nvPr/>
        </p:nvSpPr>
        <p:spPr>
          <a:xfrm>
            <a:off x="548640" y="2103120"/>
            <a:ext cx="5120640" cy="2743200"/>
          </a:xfrm>
          <a:prstGeom prst="rect">
            <a:avLst/>
          </a:prstGeom>
          <a:noFill/>
          <a:ln/>
        </p:spPr>
        <p:txBody>
          <a:bodyPr wrap="square" lIns="0" tIns="0" rIns="0" bIns="0" rtlCol="0" anchor="t"/>
          <a:lstStyle/>
          <a:p>
            <a:pPr marL="228600" indent="-228600">
              <a:spcAft>
                <a:spcPts val="1000"/>
              </a:spcAft>
              <a:buSzPct val="100000"/>
              <a:buChar char="•"/>
            </a:pPr>
            <a:r>
              <a:rPr lang="en-US" sz="1700" b="1" dirty="0">
                <a:solidFill>
                  <a:schemeClr val="tx1"/>
                </a:solidFill>
              </a:rPr>
              <a:t>Oui à un complément </a:t>
            </a:r>
            <a:pPr indent="0" marL="0">
              <a:buNone/>
            </a:pPr>
            <a:r>
              <a:rPr lang="en-US" sz="1700" dirty="0">
                <a:solidFill>
                  <a:schemeClr val="tx1"/>
                </a:solidFill>
              </a:rPr>
              <a:t>de capitalisation, sur le modèle suédois</a:t>
            </a:r>
            <a:endParaRPr lang="en-US" sz="1700" dirty="0"/>
          </a:p>
          <a:p>
            <a:pPr marL="228600" indent="-228600">
              <a:spcAft>
                <a:spcPts val="1000"/>
              </a:spcAft>
              <a:buSzPct val="100000"/>
              <a:buChar char="•"/>
            </a:pPr>
            <a:r>
              <a:rPr lang="en-US" sz="1700" b="1" dirty="0">
                <a:solidFill>
                  <a:schemeClr val="tx1"/>
                </a:solidFill>
              </a:rPr>
              <a:t>Faux argument : </a:t>
            </a:r>
            <a:pPr indent="0" marL="0">
              <a:buNone/>
            </a:pPr>
            <a:r>
              <a:rPr lang="en-US" sz="1700" dirty="0">
                <a:solidFill>
                  <a:schemeClr val="tx1"/>
                </a:solidFill>
              </a:rPr>
              <a:t>le rendement de la Bourse ne suffira pas à « boucher le trou »</a:t>
            </a:r>
            <a:endParaRPr lang="en-US" sz="1700" dirty="0"/>
          </a:p>
          <a:p>
            <a:pPr marL="228600" indent="-228600">
              <a:spcAft>
                <a:spcPts val="1000"/>
              </a:spcAft>
              <a:buSzPct val="100000"/>
              <a:buChar char="•"/>
            </a:pPr>
            <a:r>
              <a:rPr lang="en-US" sz="1700" b="1" dirty="0">
                <a:solidFill>
                  <a:schemeClr val="tx1"/>
                </a:solidFill>
              </a:rPr>
              <a:t>Les pensions déjà promises </a:t>
            </a:r>
            <a:pPr indent="0" marL="0">
              <a:buNone/>
            </a:pPr>
            <a:r>
              <a:rPr lang="en-US" sz="1700" dirty="0">
                <a:solidFill>
                  <a:schemeClr val="tx1"/>
                </a:solidFill>
              </a:rPr>
              <a:t>doivent continuer à être payées</a:t>
            </a:r>
            <a:endParaRPr lang="en-US" sz="1700" dirty="0"/>
          </a:p>
          <a:p>
            <a:pPr marL="228600" indent="-228600">
              <a:spcAft>
                <a:spcPts val="1000"/>
              </a:spcAft>
              <a:buSzPct val="100000"/>
              <a:buChar char="•"/>
            </a:pPr>
            <a:r>
              <a:rPr lang="en-US" sz="1700" b="1" dirty="0">
                <a:solidFill>
                  <a:schemeClr val="tx1"/>
                </a:solidFill>
              </a:rPr>
              <a:t>Risques : </a:t>
            </a:r>
            <a:pPr indent="0" marL="0">
              <a:buNone/>
            </a:pPr>
            <a:r>
              <a:rPr lang="en-US" sz="1700" dirty="0">
                <a:solidFill>
                  <a:schemeClr val="tx1"/>
                </a:solidFill>
              </a:rPr>
              <a:t>frais de gestion élevés, épargne détournée par l'État ou des lobbies</a:t>
            </a:r>
            <a:endParaRPr lang="en-US" sz="1700" dirty="0"/>
          </a:p>
        </p:txBody>
      </p:sp>
      <p:sp>
        <p:nvSpPr>
          <p:cNvPr id="6" name="Leviers"/>
          <p:cNvSpPr txBox="1"/>
          <p:nvPr/>
        </p:nvSpPr>
        <p:spPr>
          <a:xfrm>
            <a:off x="548640" y="4846320"/>
            <a:ext cx="5120640" cy="1234440"/>
          </a:xfrm>
          <a:prstGeom prst="roundRect">
            <a:avLst>
              <a:gd name="adj" fmla="val 5926"/>
            </a:avLst>
          </a:prstGeom>
          <a:solidFill>
            <a:schemeClr val="accent3"/>
          </a:solidFill>
          <a:ln/>
        </p:spPr>
        <p:txBody>
          <a:bodyPr wrap="square" lIns="177800" tIns="177800" rIns="177800" bIns="177800" rtlCol="0" anchor="ctr"/>
          <a:lstStyle/>
          <a:p>
            <a:pPr indent="0" marL="0">
              <a:buNone/>
            </a:pPr>
            <a:r>
              <a:rPr lang="en-US" sz="1600" b="1" dirty="0">
                <a:solidFill>
                  <a:schemeClr val="bg1"/>
                </a:solidFill>
              </a:rPr>
              <a:t>Seuls deux leviers : </a:t>
            </a:r>
            <a:endParaRPr lang="en-US" sz="1600" dirty="0"/>
          </a:p>
          <a:p>
            <a:pPr indent="0" marL="0">
              <a:buNone/>
            </a:pPr>
            <a:r>
              <a:rPr lang="en-US" sz="1600" dirty="0">
                <a:solidFill>
                  <a:schemeClr val="bg1"/>
                </a:solidFill>
              </a:rPr>
              <a:t>l'âge de départ ou le niveau des pensions, avec un effort des générations nées entre 1950 et 1970</a:t>
            </a:r>
            <a:endParaRPr lang="en-US" sz="1600" dirty="0"/>
          </a:p>
        </p:txBody>
      </p:sp>
      <p:sp>
        <p:nvSpPr>
          <p:cNvPr id="7" name="Carte déficit"/>
          <p:cNvSpPr/>
          <p:nvPr/>
        </p:nvSpPr>
        <p:spPr>
          <a:xfrm>
            <a:off x="6126480" y="1600200"/>
            <a:ext cx="5486400" cy="4526280"/>
          </a:xfrm>
          <a:prstGeom prst="roundRect">
            <a:avLst>
              <a:gd name="adj" fmla="val 1616"/>
            </a:avLst>
          </a:prstGeom>
          <a:solidFill>
            <a:schemeClr val="bg2"/>
          </a:solidFill>
          <a:ln w="12700">
            <a:solidFill>
              <a:schemeClr val="bg2"/>
            </a:solidFill>
            <a:prstDash val="solid"/>
          </a:ln>
        </p:spPr>
      </p:sp>
      <p:sp>
        <p:nvSpPr>
          <p:cNvPr id="8" name="Text 6"/>
          <p:cNvSpPr txBox="1"/>
          <p:nvPr/>
        </p:nvSpPr>
        <p:spPr>
          <a:xfrm>
            <a:off x="6400800" y="1755648"/>
            <a:ext cx="5029200" cy="365760"/>
          </a:xfrm>
          <a:prstGeom prst="rect">
            <a:avLst/>
          </a:prstGeom>
          <a:noFill/>
          <a:ln/>
        </p:spPr>
        <p:txBody>
          <a:bodyPr wrap="square" lIns="0" tIns="0" rIns="0" bIns="0" rtlCol="0" anchor="ctr"/>
          <a:lstStyle/>
          <a:p>
            <a:pPr indent="0" marL="0">
              <a:buNone/>
            </a:pPr>
            <a:r>
              <a:rPr lang="en-US" sz="1600" b="1" dirty="0">
                <a:solidFill>
                  <a:schemeClr val="tx2"/>
                </a:solidFill>
              </a:rPr>
              <a:t>Le déficit public, en points de PIB</a:t>
            </a:r>
            <a:endParaRPr lang="en-US" sz="1600" dirty="0"/>
          </a:p>
        </p:txBody>
      </p:sp>
      <p:sp>
        <p:nvSpPr>
          <p:cNvPr id="9" name="Shape 7"/>
          <p:cNvSpPr/>
          <p:nvPr/>
        </p:nvSpPr>
        <p:spPr>
          <a:xfrm>
            <a:off x="6949440" y="2697480"/>
            <a:ext cx="1371600" cy="2560320"/>
          </a:xfrm>
          <a:prstGeom prst="rect">
            <a:avLst/>
          </a:prstGeom>
          <a:solidFill>
            <a:schemeClr val="accent4"/>
          </a:solidFill>
          <a:ln w="12700">
            <a:solidFill>
              <a:schemeClr val="accent4"/>
            </a:solidFill>
            <a:prstDash val="solid"/>
          </a:ln>
        </p:spPr>
      </p:sp>
      <p:sp>
        <p:nvSpPr>
          <p:cNvPr id="10" name="Text 8"/>
          <p:cNvSpPr txBox="1"/>
          <p:nvPr/>
        </p:nvSpPr>
        <p:spPr>
          <a:xfrm>
            <a:off x="6583680" y="2240280"/>
            <a:ext cx="2103120" cy="411480"/>
          </a:xfrm>
          <a:prstGeom prst="rect">
            <a:avLst/>
          </a:prstGeom>
          <a:noFill/>
          <a:ln/>
        </p:spPr>
        <p:txBody>
          <a:bodyPr wrap="square" lIns="0" tIns="0" rIns="0" bIns="0" rtlCol="0" anchor="ctr"/>
          <a:lstStyle/>
          <a:p>
            <a:pPr algn="ctr" indent="0" marL="0">
              <a:buNone/>
            </a:pPr>
            <a:r>
              <a:rPr lang="en-US" sz="2200" b="1" dirty="0">
                <a:solidFill>
                  <a:schemeClr val="tx1"/>
                </a:solidFill>
              </a:rPr>
              <a:t>≈ 5</a:t>
            </a:r>
            <a:endParaRPr lang="en-US" sz="2200" dirty="0"/>
          </a:p>
        </p:txBody>
      </p:sp>
      <p:sp>
        <p:nvSpPr>
          <p:cNvPr id="11" name="Text 9"/>
          <p:cNvSpPr txBox="1"/>
          <p:nvPr/>
        </p:nvSpPr>
        <p:spPr>
          <a:xfrm>
            <a:off x="6492240" y="5330952"/>
            <a:ext cx="2286000" cy="548640"/>
          </a:xfrm>
          <a:prstGeom prst="rect">
            <a:avLst/>
          </a:prstGeom>
          <a:noFill/>
          <a:ln/>
        </p:spPr>
        <p:txBody>
          <a:bodyPr wrap="square" lIns="0" tIns="0" rIns="0" bIns="0" rtlCol="0" anchor="ctr"/>
          <a:lstStyle/>
          <a:p>
            <a:pPr algn="ctr" indent="0" marL="0">
              <a:buNone/>
            </a:pPr>
            <a:r>
              <a:rPr lang="en-US" sz="1300" dirty="0">
                <a:solidFill>
                  <a:schemeClr val="tx1"/>
                </a:solidFill>
              </a:rPr>
              <a:t>Déficit public</a:t>
            </a:r>
            <a:endParaRPr lang="en-US" sz="1300" dirty="0"/>
          </a:p>
          <a:p>
            <a:pPr algn="ctr" indent="0" marL="0">
              <a:buNone/>
            </a:pPr>
            <a:r>
              <a:rPr lang="en-US" sz="1300" dirty="0">
                <a:solidFill>
                  <a:schemeClr val="tx1"/>
                </a:solidFill>
              </a:rPr>
              <a:t>total</a:t>
            </a:r>
            <a:endParaRPr lang="en-US" sz="1300" dirty="0"/>
          </a:p>
        </p:txBody>
      </p:sp>
      <p:sp>
        <p:nvSpPr>
          <p:cNvPr id="12" name="Shape 10"/>
          <p:cNvSpPr/>
          <p:nvPr/>
        </p:nvSpPr>
        <p:spPr>
          <a:xfrm>
            <a:off x="9418320" y="3721608"/>
            <a:ext cx="1371600" cy="1536192"/>
          </a:xfrm>
          <a:prstGeom prst="rect">
            <a:avLst/>
          </a:prstGeom>
          <a:solidFill>
            <a:schemeClr val="accent3"/>
          </a:solidFill>
          <a:ln w="12700">
            <a:solidFill>
              <a:schemeClr val="accent3"/>
            </a:solidFill>
            <a:prstDash val="solid"/>
          </a:ln>
        </p:spPr>
      </p:sp>
      <p:sp>
        <p:nvSpPr>
          <p:cNvPr id="13" name="Text 11"/>
          <p:cNvSpPr txBox="1"/>
          <p:nvPr/>
        </p:nvSpPr>
        <p:spPr>
          <a:xfrm>
            <a:off x="9052560" y="3264408"/>
            <a:ext cx="2103120" cy="411480"/>
          </a:xfrm>
          <a:prstGeom prst="rect">
            <a:avLst/>
          </a:prstGeom>
          <a:noFill/>
          <a:ln/>
        </p:spPr>
        <p:txBody>
          <a:bodyPr wrap="square" lIns="0" tIns="0" rIns="0" bIns="0" rtlCol="0" anchor="ctr"/>
          <a:lstStyle/>
          <a:p>
            <a:pPr algn="ctr" indent="0" marL="0">
              <a:buNone/>
            </a:pPr>
            <a:r>
              <a:rPr lang="en-US" sz="2200" b="1" dirty="0">
                <a:solidFill>
                  <a:schemeClr val="tx1"/>
                </a:solidFill>
              </a:rPr>
              <a:t>≈ 3</a:t>
            </a:r>
            <a:endParaRPr lang="en-US" sz="2200" dirty="0"/>
          </a:p>
        </p:txBody>
      </p:sp>
      <p:sp>
        <p:nvSpPr>
          <p:cNvPr id="14" name="Text 12"/>
          <p:cNvSpPr txBox="1"/>
          <p:nvPr/>
        </p:nvSpPr>
        <p:spPr>
          <a:xfrm>
            <a:off x="8961120" y="5330952"/>
            <a:ext cx="2286000" cy="548640"/>
          </a:xfrm>
          <a:prstGeom prst="rect">
            <a:avLst/>
          </a:prstGeom>
          <a:noFill/>
          <a:ln/>
        </p:spPr>
        <p:txBody>
          <a:bodyPr wrap="square" lIns="0" tIns="0" rIns="0" bIns="0" rtlCol="0" anchor="ctr"/>
          <a:lstStyle/>
          <a:p>
            <a:pPr algn="ctr" indent="0" marL="0">
              <a:buNone/>
            </a:pPr>
            <a:r>
              <a:rPr lang="en-US" sz="1300" dirty="0">
                <a:solidFill>
                  <a:schemeClr val="tx1"/>
                </a:solidFill>
              </a:rPr>
              <a:t>dont le déficit</a:t>
            </a:r>
            <a:endParaRPr lang="en-US" sz="1300" dirty="0"/>
          </a:p>
          <a:p>
            <a:pPr algn="ctr" indent="0" marL="0">
              <a:buNone/>
            </a:pPr>
            <a:r>
              <a:rPr lang="en-US" sz="1300" dirty="0">
                <a:solidFill>
                  <a:schemeClr val="tx1"/>
                </a:solidFill>
              </a:rPr>
              <a:t>des retraites</a:t>
            </a:r>
            <a:endParaRPr lang="en-US" sz="1300" dirty="0"/>
          </a:p>
        </p:txBody>
      </p:sp>
      <p:sp>
        <p:nvSpPr>
          <p:cNvPr id="15" name="Shape 13"/>
          <p:cNvSpPr/>
          <p:nvPr/>
        </p:nvSpPr>
        <p:spPr>
          <a:xfrm>
            <a:off x="6400800" y="5257800"/>
            <a:ext cx="5029200" cy="0"/>
          </a:xfrm>
          <a:prstGeom prst="line">
            <a:avLst/>
          </a:prstGeom>
          <a:noFill/>
          <a:ln w="12700">
            <a:solidFill>
              <a:schemeClr val="accent4"/>
            </a:solidFill>
            <a:prstDash val="solid"/>
          </a:ln>
        </p:spPr>
      </p:sp>
      <p:sp>
        <p:nvSpPr>
          <p:cNvPr id="16" name="Source"/>
          <p:cNvSpPr txBox="1"/>
          <p:nvPr/>
        </p:nvSpPr>
        <p:spPr>
          <a:xfrm>
            <a:off x="548640" y="6355080"/>
            <a:ext cx="10424160" cy="274320"/>
          </a:xfrm>
          <a:prstGeom prst="rect">
            <a:avLst/>
          </a:prstGeom>
          <a:noFill/>
          <a:ln/>
        </p:spPr>
        <p:txBody>
          <a:bodyPr wrap="square" lIns="0" tIns="0" rIns="0" bIns="0" rtlCol="0" anchor="ctr"/>
          <a:lstStyle/>
          <a:p>
            <a:pPr indent="0" marL="0">
              <a:buNone/>
            </a:pPr>
            <a:r>
              <a:rPr lang="en-US" sz="1000" dirty="0">
                <a:solidFill>
                  <a:schemeClr val="accent5"/>
                </a:solidFill>
              </a:rPr>
              <a:t>Source : D. Thesmar et A. Landier, interview, L'Express, 08/09/2026</a:t>
            </a:r>
            <a:endParaRPr lang="en-US" sz="10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Étiquette"/>
          <p:cNvSpPr txBox="1"/>
          <p:nvPr/>
        </p:nvSpPr>
        <p:spPr>
          <a:xfrm>
            <a:off x="548640" y="256032"/>
            <a:ext cx="1463040" cy="310896"/>
          </a:xfrm>
          <a:prstGeom prst="roundRect">
            <a:avLst>
              <a:gd name="adj" fmla="val 50000"/>
            </a:avLst>
          </a:prstGeom>
          <a:solidFill>
            <a:schemeClr val="tx2"/>
          </a:solidFill>
          <a:ln/>
        </p:spPr>
        <p:txBody>
          <a:bodyPr wrap="square" lIns="0" tIns="0" rIns="0" bIns="0" rtlCol="0" anchor="ctr"/>
          <a:lstStyle/>
          <a:p>
            <a:pPr algn="ctr" indent="0" marL="0">
              <a:buNone/>
            </a:pPr>
            <a:r>
              <a:rPr lang="en-US" sz="1200" b="1" spc="100" kern="0" dirty="0">
                <a:solidFill>
                  <a:schemeClr val="bg1"/>
                </a:solidFill>
              </a:rPr>
              <a:t>CONCLUSION</a:t>
            </a:r>
            <a:endParaRPr lang="en-US" sz="1200" dirty="0"/>
          </a:p>
        </p:txBody>
      </p:sp>
      <p:sp>
        <p:nvSpPr>
          <p:cNvPr id="3" name="Text 0"/>
          <p:cNvSpPr/>
          <p:nvPr>
            <p:ph idx="100" type="title" hasCustomPrompt="1"/>
          </p:nvPr>
        </p:nvSpPr>
        <p:spPr>
          <a:xfrm>
            <a:off x="548640" y="658368"/>
            <a:ext cx="11064240" cy="73152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Trois visions de nos retraites</a:t>
            </a:r>
            <a:endParaRPr lang="en-US" sz="3400" dirty="0"/>
          </a:p>
        </p:txBody>
      </p:sp>
      <p:graphicFrame>
        <p:nvGraphicFramePr>
          <p:cNvPr id="29" name="Tableau synthèse retraites"/>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914400"/>
        </p:xfrm>
        <a:graphic>
          <a:graphicData uri="http://schemas.openxmlformats.org/drawingml/2006/table">
            <a:tbl>
              <a:tblPr/>
              <a:tblGrid>
                <a:gridCol w="1737360"/>
                <a:gridCol w="3108960"/>
                <a:gridCol w="3108960"/>
                <a:gridCol w="3108960"/>
              </a:tblGrid>
              <a:tr h="548640">
                <a:tc>
                  <a:txBody>
                    <a:bodyPr/>
                    <a:lstStyle/>
                    <a:p>
                      <a:pPr indent="0" marL="0">
                        <a:buNone/>
                      </a:pPr>
                      <a:endParaRPr lang="en-US" sz="1500" dirty="0">
                        <a:latin typeface="Calibri" charset="0"/>
                        <a:ea typeface="Calibri" charset="0"/>
                        <a:cs typeface="Calibri" charset="0"/>
                      </a:endParaRPr>
                    </a:p>
                  </a:txBody>
                  <a:tcPr marL="73152" marR="73152" marT="73152" marB="73152">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tcPr>
                </a:tc>
                <a:tc>
                  <a:txBody>
                    <a:bodyPr/>
                    <a:lstStyle/>
                    <a:p>
                      <a:pPr algn="ctr" indent="0" marL="0">
                        <a:buNone/>
                      </a:pPr>
                      <a:r>
                        <a:rPr lang="en-US" sz="1500" b="1" dirty="0">
                          <a:solidFill>
                            <a:schemeClr val="bg1"/>
                          </a:solidFill>
                          <a:latin typeface="Calibri" pitchFamily="34" charset="0"/>
                          <a:ea typeface="Calibri" pitchFamily="34" charset="-122"/>
                          <a:cs typeface="Calibri" pitchFamily="34" charset="-120"/>
                        </a:rPr>
                        <a:t>Pour (Fondapol)</a:t>
                      </a:r>
                      <a:endParaRPr lang="en-US" sz="1500" dirty="0">
                        <a:latin typeface="Calibri" charset="0"/>
                        <a:ea typeface="Calibri" charset="0"/>
                        <a:cs typeface="Calibri" charset="0"/>
                      </a:endParaRPr>
                    </a:p>
                  </a:txBody>
                  <a:tcPr marL="73152" marR="73152" marT="73152" marB="73152"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solidFill>
                      <a:schemeClr val="accent2"/>
                    </a:solidFill>
                  </a:tcPr>
                </a:tc>
                <a:tc>
                  <a:txBody>
                    <a:bodyPr/>
                    <a:lstStyle/>
                    <a:p>
                      <a:pPr algn="ctr" indent="0" marL="0">
                        <a:buNone/>
                      </a:pPr>
                      <a:r>
                        <a:rPr lang="en-US" sz="1500" b="1" dirty="0">
                          <a:solidFill>
                            <a:schemeClr val="bg1"/>
                          </a:solidFill>
                          <a:latin typeface="Calibri" pitchFamily="34" charset="0"/>
                          <a:ea typeface="Calibri" pitchFamily="34" charset="-122"/>
                          <a:cs typeface="Calibri" pitchFamily="34" charset="-120"/>
                        </a:rPr>
                        <a:t>Milieu (Thesmar et Landier)</a:t>
                      </a:r>
                      <a:endParaRPr lang="en-US" sz="1500" dirty="0">
                        <a:latin typeface="Calibri" charset="0"/>
                        <a:ea typeface="Calibri" charset="0"/>
                        <a:cs typeface="Calibri" charset="0"/>
                      </a:endParaRPr>
                    </a:p>
                  </a:txBody>
                  <a:tcPr marL="73152" marR="73152" marT="73152" marB="73152"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solidFill>
                      <a:schemeClr val="accent3"/>
                    </a:solidFill>
                  </a:tcPr>
                </a:tc>
                <a:tc>
                  <a:txBody>
                    <a:bodyPr/>
                    <a:lstStyle/>
                    <a:p>
                      <a:pPr algn="ctr" indent="0" marL="0">
                        <a:buNone/>
                      </a:pPr>
                      <a:r>
                        <a:rPr lang="en-US" sz="1500" b="1" dirty="0">
                          <a:solidFill>
                            <a:schemeClr val="bg1"/>
                          </a:solidFill>
                          <a:latin typeface="Calibri" pitchFamily="34" charset="0"/>
                          <a:ea typeface="Calibri" pitchFamily="34" charset="-122"/>
                          <a:cs typeface="Calibri" pitchFamily="34" charset="-120"/>
                        </a:rPr>
                        <a:t>Contre (CGT)</a:t>
                      </a:r>
                      <a:endParaRPr lang="en-US" sz="1500" dirty="0">
                        <a:latin typeface="Calibri" charset="0"/>
                        <a:ea typeface="Calibri" charset="0"/>
                        <a:cs typeface="Calibri" charset="0"/>
                      </a:endParaRPr>
                    </a:p>
                  </a:txBody>
                  <a:tcPr marL="73152" marR="73152" marT="73152" marB="73152"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solidFill>
                      <a:schemeClr val="accent1"/>
                    </a:solidFill>
                  </a:tcPr>
                </a:tc>
              </a:tr>
              <a:tr h="658368">
                <a:tc>
                  <a:txBody>
                    <a:bodyPr/>
                    <a:lstStyle/>
                    <a:p>
                      <a:pPr indent="0" marL="0">
                        <a:buNone/>
                      </a:pPr>
                      <a:r>
                        <a:rPr lang="en-US" sz="1500" b="1" dirty="0">
                          <a:solidFill>
                            <a:schemeClr val="tx2"/>
                          </a:solidFill>
                          <a:latin typeface="Calibri" pitchFamily="34" charset="0"/>
                          <a:ea typeface="Calibri" pitchFamily="34" charset="-122"/>
                          <a:cs typeface="Calibri" pitchFamily="34" charset="-120"/>
                        </a:rPr>
                        <a:t>Le risque</a:t>
                      </a:r>
                      <a:endParaRPr lang="en-US" sz="1500" dirty="0">
                        <a:latin typeface="Calibri" charset="0"/>
                        <a:ea typeface="Calibri" charset="0"/>
                        <a:cs typeface="Calibri" charset="0"/>
                      </a:endParaRPr>
                    </a:p>
                  </a:txBody>
                  <a:tcPr marL="73152" marR="73152" marT="73152" marB="73152"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Maîtrisé : le fonds résiste aux crises</a:t>
                      </a:r>
                      <a:endParaRPr lang="en-US" sz="1500" dirty="0">
                        <a:latin typeface="Calibri" charset="0"/>
                        <a:ea typeface="Calibri" charset="0"/>
                        <a:cs typeface="Calibri" charset="0"/>
                      </a:endParaRPr>
                    </a:p>
                  </a:txBody>
                  <a:tcPr marL="73152" marR="73152" marT="73152" marB="73152"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Réel : frais, détournement de l'épargne</a:t>
                      </a:r>
                      <a:endParaRPr lang="en-US" sz="1500" dirty="0">
                        <a:latin typeface="Calibri" charset="0"/>
                        <a:ea typeface="Calibri" charset="0"/>
                        <a:cs typeface="Calibri" charset="0"/>
                      </a:endParaRPr>
                    </a:p>
                  </a:txBody>
                  <a:tcPr marL="73152" marR="73152" marT="73152" marB="73152"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Trop grand : krach de 2008</a:t>
                      </a:r>
                      <a:endParaRPr lang="en-US" sz="1500" dirty="0">
                        <a:latin typeface="Calibri" charset="0"/>
                        <a:ea typeface="Calibri" charset="0"/>
                        <a:cs typeface="Calibri" charset="0"/>
                      </a:endParaRPr>
                    </a:p>
                  </a:txBody>
                  <a:tcPr marL="73152" marR="73152" marT="73152" marB="73152"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tcPr>
                </a:tc>
              </a:tr>
              <a:tr h="658368">
                <a:tc>
                  <a:txBody>
                    <a:bodyPr/>
                    <a:lstStyle/>
                    <a:p>
                      <a:pPr indent="0" marL="0">
                        <a:buNone/>
                      </a:pPr>
                      <a:r>
                        <a:rPr lang="en-US" sz="1500" b="1" dirty="0">
                          <a:solidFill>
                            <a:schemeClr val="tx2"/>
                          </a:solidFill>
                          <a:latin typeface="Calibri" pitchFamily="34" charset="0"/>
                          <a:ea typeface="Calibri" pitchFamily="34" charset="-122"/>
                          <a:cs typeface="Calibri" pitchFamily="34" charset="-120"/>
                        </a:rPr>
                        <a:t>La transition</a:t>
                      </a:r>
                      <a:endParaRPr lang="en-US" sz="1500" dirty="0">
                        <a:latin typeface="Calibri" charset="0"/>
                        <a:ea typeface="Calibri" charset="0"/>
                        <a:cs typeface="Calibri" charset="0"/>
                      </a:endParaRPr>
                    </a:p>
                  </a:txBody>
                  <a:tcPr marL="73152" marR="73152" marT="73152" marB="73152"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Faisable avec un capital de départ</a:t>
                      </a:r>
                      <a:endParaRPr lang="en-US" sz="1500" dirty="0">
                        <a:latin typeface="Calibri" charset="0"/>
                        <a:ea typeface="Calibri" charset="0"/>
                        <a:cs typeface="Calibri" charset="0"/>
                      </a:endParaRPr>
                    </a:p>
                  </a:txBody>
                  <a:tcPr marL="73152" marR="73152" marT="73152" marB="73152"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Coûteuse : il faut payer les pensions promises</a:t>
                      </a:r>
                      <a:endParaRPr lang="en-US" sz="1500" dirty="0">
                        <a:latin typeface="Calibri" charset="0"/>
                        <a:ea typeface="Calibri" charset="0"/>
                        <a:cs typeface="Calibri" charset="0"/>
                      </a:endParaRPr>
                    </a:p>
                  </a:txBody>
                  <a:tcPr marL="73152" marR="73152" marT="73152" marB="73152"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Payer deux fois (300 à 400 Md€)</a:t>
                      </a:r>
                      <a:endParaRPr lang="en-US" sz="1500" dirty="0">
                        <a:latin typeface="Calibri" charset="0"/>
                        <a:ea typeface="Calibri" charset="0"/>
                        <a:cs typeface="Calibri" charset="0"/>
                      </a:endParaRPr>
                    </a:p>
                  </a:txBody>
                  <a:tcPr marL="73152" marR="73152" marT="73152" marB="73152"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tcPr>
                </a:tc>
              </a:tr>
              <a:tr h="658368">
                <a:tc>
                  <a:txBody>
                    <a:bodyPr/>
                    <a:lstStyle/>
                    <a:p>
                      <a:pPr indent="0" marL="0">
                        <a:buNone/>
                      </a:pPr>
                      <a:r>
                        <a:rPr lang="en-US" sz="1500" b="1" dirty="0">
                          <a:solidFill>
                            <a:schemeClr val="tx2"/>
                          </a:solidFill>
                          <a:latin typeface="Calibri" pitchFamily="34" charset="0"/>
                          <a:ea typeface="Calibri" pitchFamily="34" charset="-122"/>
                          <a:cs typeface="Calibri" pitchFamily="34" charset="-120"/>
                        </a:rPr>
                        <a:t>La solidarité</a:t>
                      </a:r>
                      <a:endParaRPr lang="en-US" sz="1500" dirty="0">
                        <a:latin typeface="Calibri" charset="0"/>
                        <a:ea typeface="Calibri" charset="0"/>
                        <a:cs typeface="Calibri" charset="0"/>
                      </a:endParaRPr>
                    </a:p>
                  </a:txBody>
                  <a:tcPr marL="73152" marR="73152" marT="73152" marB="73152"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Un patrimoine pour chaque salarié</a:t>
                      </a:r>
                      <a:endParaRPr lang="en-US" sz="1500" dirty="0">
                        <a:latin typeface="Calibri" charset="0"/>
                        <a:ea typeface="Calibri" charset="0"/>
                        <a:cs typeface="Calibri" charset="0"/>
                      </a:endParaRPr>
                    </a:p>
                  </a:txBody>
                  <a:tcPr marL="73152" marR="73152" marT="73152" marB="73152"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Effort des générations 1950-1970</a:t>
                      </a:r>
                      <a:endParaRPr lang="en-US" sz="1500" dirty="0">
                        <a:latin typeface="Calibri" charset="0"/>
                        <a:ea typeface="Calibri" charset="0"/>
                        <a:cs typeface="Calibri" charset="0"/>
                      </a:endParaRPr>
                    </a:p>
                  </a:txBody>
                  <a:tcPr marL="73152" marR="73152" marT="73152" marB="73152"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La répartition protège les carrières hachées</a:t>
                      </a:r>
                      <a:endParaRPr lang="en-US" sz="1500" dirty="0">
                        <a:latin typeface="Calibri" charset="0"/>
                        <a:ea typeface="Calibri" charset="0"/>
                        <a:cs typeface="Calibri" charset="0"/>
                      </a:endParaRPr>
                    </a:p>
                  </a:txBody>
                  <a:tcPr marL="73152" marR="73152" marT="73152" marB="73152"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tcPr>
                </a:tc>
              </a:tr>
              <a:tr h="658368">
                <a:tc>
                  <a:txBody>
                    <a:bodyPr/>
                    <a:lstStyle/>
                    <a:p>
                      <a:pPr indent="0" marL="0">
                        <a:buNone/>
                      </a:pPr>
                      <a:r>
                        <a:rPr lang="en-US" sz="1500" b="1" dirty="0">
                          <a:solidFill>
                            <a:schemeClr val="tx2"/>
                          </a:solidFill>
                          <a:latin typeface="Calibri" pitchFamily="34" charset="0"/>
                          <a:ea typeface="Calibri" pitchFamily="34" charset="-122"/>
                          <a:cs typeface="Calibri" pitchFamily="34" charset="-120"/>
                        </a:rPr>
                        <a:t>Solution</a:t>
                      </a:r>
                      <a:endParaRPr lang="en-US" sz="1500" dirty="0">
                        <a:latin typeface="Calibri" charset="0"/>
                        <a:ea typeface="Calibri" charset="0"/>
                        <a:cs typeface="Calibri" charset="0"/>
                      </a:endParaRPr>
                    </a:p>
                  </a:txBody>
                  <a:tcPr marL="73152" marR="73152" marT="73152" marB="73152"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25 % de capitalisation obligatoire</a:t>
                      </a:r>
                      <a:endParaRPr lang="en-US" sz="1500" dirty="0">
                        <a:latin typeface="Calibri" charset="0"/>
                        <a:ea typeface="Calibri" charset="0"/>
                        <a:cs typeface="Calibri" charset="0"/>
                      </a:endParaRPr>
                    </a:p>
                  </a:txBody>
                  <a:tcPr marL="73152" marR="73152" marT="73152" marB="73152"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Petit complément + âge ou pensions</a:t>
                      </a:r>
                      <a:endParaRPr lang="en-US" sz="1500" dirty="0">
                        <a:latin typeface="Calibri" charset="0"/>
                        <a:ea typeface="Calibri" charset="0"/>
                        <a:cs typeface="Calibri" charset="0"/>
                      </a:endParaRPr>
                    </a:p>
                  </a:txBody>
                  <a:tcPr marL="73152" marR="73152" marT="73152" marB="73152"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Rester en répartition</a:t>
                      </a:r>
                      <a:endParaRPr lang="en-US" sz="1500" dirty="0">
                        <a:latin typeface="Calibri" charset="0"/>
                        <a:ea typeface="Calibri" charset="0"/>
                        <a:cs typeface="Calibri" charset="0"/>
                      </a:endParaRPr>
                    </a:p>
                  </a:txBody>
                  <a:tcPr marL="73152" marR="73152" marT="73152" marB="73152" anchor="ctr">
                    <a:lnL w="12700" cap="flat" cmpd="sng" algn="ctr">
                      <a:solidFill>
                        <a:srgbClr val="C9C8C2"/>
                      </a:solidFill>
                      <a:prstDash val="solid"/>
                      <a:round/>
                      <a:headEnd type="none" w="med" len="med"/>
                      <a:tailEnd type="none" w="med" len="med"/>
                    </a:lnL>
                    <a:lnR w="12700" cap="flat" cmpd="sng" algn="ctr">
                      <a:solidFill>
                        <a:srgbClr val="C9C8C2"/>
                      </a:solidFill>
                      <a:prstDash val="solid"/>
                      <a:round/>
                      <a:headEnd type="none" w="med" len="med"/>
                      <a:tailEnd type="none" w="med" len="med"/>
                    </a:lnR>
                    <a:lnT w="12700" cap="flat" cmpd="sng" algn="ctr">
                      <a:solidFill>
                        <a:srgbClr val="C9C8C2"/>
                      </a:solidFill>
                      <a:prstDash val="solid"/>
                      <a:round/>
                      <a:headEnd type="none" w="med" len="med"/>
                      <a:tailEnd type="none" w="med" len="med"/>
                    </a:lnT>
                    <a:lnB w="12700" cap="flat" cmpd="sng" algn="ctr">
                      <a:solidFill>
                        <a:srgbClr val="C9C8C2"/>
                      </a:solidFill>
                      <a:prstDash val="solid"/>
                      <a:round/>
                      <a:headEnd type="none" w="med" len="med"/>
                      <a:tailEnd type="none" w="med" len="med"/>
                    </a:lnB>
                  </a:tcPr>
                </a:tc>
              </a:tr>
            </a:tbl>
          </a:graphicData>
        </a:graphic>
      </p:graphicFrame>
      <p:sp>
        <p:nvSpPr>
          <p:cNvPr id="5" name="Question"/>
          <p:cNvSpPr txBox="1"/>
          <p:nvPr/>
        </p:nvSpPr>
        <p:spPr>
          <a:xfrm>
            <a:off x="548640" y="5166360"/>
            <a:ext cx="11064240" cy="914400"/>
          </a:xfrm>
          <a:prstGeom prst="roundRect">
            <a:avLst>
              <a:gd name="adj" fmla="val 10000"/>
            </a:avLst>
          </a:prstGeom>
          <a:solidFill>
            <a:schemeClr val="tx2"/>
          </a:solidFill>
          <a:ln/>
        </p:spPr>
        <p:txBody>
          <a:bodyPr wrap="square" lIns="1270" tIns="1270" rIns="1270" bIns="1270" rtlCol="0" anchor="ctr"/>
          <a:lstStyle/>
          <a:p>
            <a:pPr algn="ctr" indent="0" marL="0">
              <a:buNone/>
            </a:pPr>
            <a:r>
              <a:rPr lang="en-US" sz="2100" b="1" dirty="0">
                <a:solidFill>
                  <a:schemeClr val="bg1"/>
                </a:solidFill>
              </a:rPr>
              <a:t>Pour votre retraite : solidarité entre générations ou votre propre épargne ?</a:t>
            </a:r>
            <a:endParaRPr lang="en-US" sz="21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Étiquette"/>
          <p:cNvSpPr txBox="1"/>
          <p:nvPr/>
        </p:nvSpPr>
        <p:spPr>
          <a:xfrm>
            <a:off x="548640" y="256032"/>
            <a:ext cx="1463040" cy="310896"/>
          </a:xfrm>
          <a:prstGeom prst="roundRect">
            <a:avLst>
              <a:gd name="adj" fmla="val 50000"/>
            </a:avLst>
          </a:prstGeom>
          <a:solidFill>
            <a:schemeClr val="tx2"/>
          </a:solidFill>
          <a:ln/>
        </p:spPr>
        <p:txBody>
          <a:bodyPr wrap="square" lIns="0" tIns="0" rIns="0" bIns="0" rtlCol="0" anchor="ctr"/>
          <a:lstStyle/>
          <a:p>
            <a:pPr algn="ctr" indent="0" marL="0">
              <a:buNone/>
            </a:pPr>
            <a:r>
              <a:rPr lang="en-US" sz="1200" b="1" spc="100" kern="0" dirty="0">
                <a:solidFill>
                  <a:schemeClr val="bg1"/>
                </a:solidFill>
              </a:rPr>
              <a:t>SOURCES</a:t>
            </a:r>
            <a:endParaRPr lang="en-US" sz="1200" dirty="0"/>
          </a:p>
        </p:txBody>
      </p:sp>
      <p:sp>
        <p:nvSpPr>
          <p:cNvPr id="3" name="Text 0"/>
          <p:cNvSpPr/>
          <p:nvPr>
            <p:ph idx="100" type="title" hasCustomPrompt="1"/>
          </p:nvPr>
        </p:nvSpPr>
        <p:spPr>
          <a:xfrm>
            <a:off x="548640" y="658368"/>
            <a:ext cx="11064240" cy="73152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Sources</a:t>
            </a:r>
            <a:endParaRPr lang="en-US" sz="3400" dirty="0"/>
          </a:p>
        </p:txBody>
      </p:sp>
      <p:sp>
        <p:nvSpPr>
          <p:cNvPr id="4" name="Shape 2"/>
          <p:cNvSpPr/>
          <p:nvPr/>
        </p:nvSpPr>
        <p:spPr>
          <a:xfrm>
            <a:off x="548640" y="1691640"/>
            <a:ext cx="329184" cy="329184"/>
          </a:xfrm>
          <a:prstGeom prst="ellipse">
            <a:avLst/>
          </a:prstGeom>
          <a:solidFill>
            <a:schemeClr val="accent2"/>
          </a:solidFill>
          <a:ln w="12700">
            <a:solidFill>
              <a:schemeClr val="accent2"/>
            </a:solidFill>
            <a:prstDash val="solid"/>
          </a:ln>
        </p:spPr>
      </p:sp>
      <p:sp>
        <p:nvSpPr>
          <p:cNvPr id="5" name="Text 3"/>
          <p:cNvSpPr txBox="1"/>
          <p:nvPr/>
        </p:nvSpPr>
        <p:spPr>
          <a:xfrm>
            <a:off x="1097280" y="1600200"/>
            <a:ext cx="10515600" cy="777240"/>
          </a:xfrm>
          <a:prstGeom prst="rect">
            <a:avLst/>
          </a:prstGeom>
          <a:noFill/>
          <a:ln/>
        </p:spPr>
        <p:txBody>
          <a:bodyPr wrap="square" lIns="0" tIns="0" rIns="0" bIns="0" rtlCol="0" anchor="t"/>
          <a:lstStyle/>
          <a:p>
            <a:pPr indent="0" marL="0">
              <a:buNone/>
            </a:pPr>
            <a:r>
              <a:rPr lang="en-US" sz="1600" b="1" dirty="0">
                <a:solidFill>
                  <a:schemeClr val="tx1"/>
                </a:solidFill>
              </a:rPr>
              <a:t>Martinot, Gravier et Muret — </a:t>
            </a:r>
            <a:pPr indent="0" marL="0">
              <a:buNone/>
            </a:pPr>
            <a:r>
              <a:rPr lang="en-US" sz="1600" u="sng" dirty="0">
                <a:solidFill>
                  <a:schemeClr val="tx1"/>
                </a:solidFill>
                <a:hlinkClick r:id="rId1" invalidUrl="" action="" tgtFrame="" tooltip="" history="1" highlightClick="0" endSnd="0">
                  <a:extLst>
                    <a:ext uri="{A12FA001-AC4F-418D-AE19-62706E023703}">
                      <ahyp:hlinkClr xmlns:ahyp="http://schemas.microsoft.com/office/drawing/2018/hyperlinkcolor" val="tx"/>
                    </a:ext>
                  </a:extLst>
                </a:hlinkClick>
              </a:rPr>
              <a:t>Vers un système de retraite mixte répartition-capitalisation</a:t>
            </a:r>
            <a:endParaRPr lang="en-US" sz="1600" dirty="0"/>
          </a:p>
          <a:p>
            <a:pPr indent="0" marL="0">
              <a:buNone/>
            </a:pPr>
            <a:r>
              <a:rPr lang="en-US" sz="1400" dirty="0">
                <a:solidFill>
                  <a:schemeClr val="accent5"/>
                </a:solidFill>
              </a:rPr>
              <a:t>Fondapol, novembre 2025</a:t>
            </a:r>
            <a:endParaRPr lang="en-US" sz="1600" dirty="0"/>
          </a:p>
        </p:txBody>
      </p:sp>
      <p:sp>
        <p:nvSpPr>
          <p:cNvPr id="6" name="Shape 4"/>
          <p:cNvSpPr/>
          <p:nvPr/>
        </p:nvSpPr>
        <p:spPr>
          <a:xfrm>
            <a:off x="548640" y="2459736"/>
            <a:ext cx="329184" cy="329184"/>
          </a:xfrm>
          <a:prstGeom prst="ellipse">
            <a:avLst/>
          </a:prstGeom>
          <a:solidFill>
            <a:schemeClr val="accent1"/>
          </a:solidFill>
          <a:ln w="12700">
            <a:solidFill>
              <a:schemeClr val="accent1"/>
            </a:solidFill>
            <a:prstDash val="solid"/>
          </a:ln>
        </p:spPr>
      </p:sp>
      <p:sp>
        <p:nvSpPr>
          <p:cNvPr id="7" name="Text 5"/>
          <p:cNvSpPr txBox="1"/>
          <p:nvPr/>
        </p:nvSpPr>
        <p:spPr>
          <a:xfrm>
            <a:off x="1097280" y="2368296"/>
            <a:ext cx="10515600" cy="777240"/>
          </a:xfrm>
          <a:prstGeom prst="rect">
            <a:avLst/>
          </a:prstGeom>
          <a:noFill/>
          <a:ln/>
        </p:spPr>
        <p:txBody>
          <a:bodyPr wrap="square" lIns="0" tIns="0" rIns="0" bIns="0" rtlCol="0" anchor="t"/>
          <a:lstStyle/>
          <a:p>
            <a:pPr indent="0" marL="0">
              <a:buNone/>
            </a:pPr>
            <a:r>
              <a:rPr lang="en-US" sz="1600" b="1" dirty="0">
                <a:solidFill>
                  <a:schemeClr val="tx1"/>
                </a:solidFill>
              </a:rPr>
              <a:t>CGT — </a:t>
            </a:r>
            <a:pPr indent="0" marL="0">
              <a:buNone/>
            </a:pPr>
            <a:r>
              <a:rPr lang="en-US" sz="1600" u="sng" dirty="0">
                <a:solidFill>
                  <a:schemeClr val="tx1"/>
                </a:solidFill>
                <a:hlinkClick r:id="rId2" invalidUrl="" action="" tgtFrame="" tooltip="" history="1" highlightClick="0" endSnd="0">
                  <a:extLst>
                    <a:ext uri="{A12FA001-AC4F-418D-AE19-62706E023703}">
                      <ahyp:hlinkClr xmlns:ahyp="http://schemas.microsoft.com/office/drawing/2018/hyperlinkcolor" val="tx"/>
                    </a:ext>
                  </a:extLst>
                </a:hlinkClick>
              </a:rPr>
              <a:t>La capitalisation n'est pas une solution : c'est une régression sociale</a:t>
            </a:r>
            <a:endParaRPr lang="en-US" sz="1600" dirty="0"/>
          </a:p>
          <a:p>
            <a:pPr indent="0" marL="0">
              <a:buNone/>
            </a:pPr>
            <a:r>
              <a:rPr lang="en-US" sz="1400" dirty="0">
                <a:solidFill>
                  <a:schemeClr val="accent5"/>
                </a:solidFill>
              </a:rPr>
              <a:t>31 janvier 2025</a:t>
            </a:r>
            <a:endParaRPr lang="en-US" sz="1600" dirty="0"/>
          </a:p>
        </p:txBody>
      </p:sp>
      <p:sp>
        <p:nvSpPr>
          <p:cNvPr id="8" name="Shape 6"/>
          <p:cNvSpPr/>
          <p:nvPr/>
        </p:nvSpPr>
        <p:spPr>
          <a:xfrm>
            <a:off x="548640" y="3227832"/>
            <a:ext cx="329184" cy="329184"/>
          </a:xfrm>
          <a:prstGeom prst="ellipse">
            <a:avLst/>
          </a:prstGeom>
          <a:solidFill>
            <a:schemeClr val="accent1"/>
          </a:solidFill>
          <a:ln w="12700">
            <a:solidFill>
              <a:schemeClr val="accent1"/>
            </a:solidFill>
            <a:prstDash val="solid"/>
          </a:ln>
        </p:spPr>
      </p:sp>
      <p:sp>
        <p:nvSpPr>
          <p:cNvPr id="9" name="Text 7"/>
          <p:cNvSpPr txBox="1"/>
          <p:nvPr/>
        </p:nvSpPr>
        <p:spPr>
          <a:xfrm>
            <a:off x="1097280" y="3136392"/>
            <a:ext cx="10515600" cy="777240"/>
          </a:xfrm>
          <a:prstGeom prst="rect">
            <a:avLst/>
          </a:prstGeom>
          <a:noFill/>
          <a:ln/>
        </p:spPr>
        <p:txBody>
          <a:bodyPr wrap="square" lIns="0" tIns="0" rIns="0" bIns="0" rtlCol="0" anchor="t"/>
          <a:lstStyle/>
          <a:p>
            <a:pPr indent="0" marL="0">
              <a:buNone/>
            </a:pPr>
            <a:r>
              <a:rPr lang="en-US" sz="1600" b="1" dirty="0">
                <a:solidFill>
                  <a:schemeClr val="tx1"/>
                </a:solidFill>
              </a:rPr>
              <a:t>Eric Weil — </a:t>
            </a:r>
            <a:pPr indent="0" marL="0">
              <a:buNone/>
            </a:pPr>
            <a:r>
              <a:rPr lang="en-US" sz="1600" u="sng" dirty="0">
                <a:solidFill>
                  <a:schemeClr val="tx1"/>
                </a:solidFill>
                <a:hlinkClick r:id="rId3" invalidUrl="" action="" tgtFrame="" tooltip="" history="1" highlightClick="0" endSnd="0">
                  <a:extLst>
                    <a:ext uri="{A12FA001-AC4F-418D-AE19-62706E023703}">
                      <ahyp:hlinkClr xmlns:ahyp="http://schemas.microsoft.com/office/drawing/2018/hyperlinkcolor" val="tx"/>
                    </a:ext>
                  </a:extLst>
                </a:hlinkClick>
              </a:rPr>
              <a:t>Retraites par capitalisation : est-ce utile ? Est-ce faisable ?</a:t>
            </a:r>
            <a:endParaRPr lang="en-US" sz="1600" dirty="0"/>
          </a:p>
          <a:p>
            <a:pPr indent="0" marL="0">
              <a:buNone/>
            </a:pPr>
            <a:r>
              <a:rPr lang="en-US" sz="1400" dirty="0">
                <a:solidFill>
                  <a:schemeClr val="accent5"/>
                </a:solidFill>
              </a:rPr>
              <a:t>La Grande Conversation (Terra Nova), mai 2025</a:t>
            </a:r>
            <a:endParaRPr lang="en-US" sz="1600" dirty="0"/>
          </a:p>
        </p:txBody>
      </p:sp>
      <p:sp>
        <p:nvSpPr>
          <p:cNvPr id="10" name="Shape 8"/>
          <p:cNvSpPr/>
          <p:nvPr/>
        </p:nvSpPr>
        <p:spPr>
          <a:xfrm>
            <a:off x="548640" y="3995928"/>
            <a:ext cx="329184" cy="329184"/>
          </a:xfrm>
          <a:prstGeom prst="ellipse">
            <a:avLst/>
          </a:prstGeom>
          <a:solidFill>
            <a:schemeClr val="accent3"/>
          </a:solidFill>
          <a:ln w="12700">
            <a:solidFill>
              <a:schemeClr val="accent3"/>
            </a:solidFill>
            <a:prstDash val="solid"/>
          </a:ln>
        </p:spPr>
      </p:sp>
      <p:sp>
        <p:nvSpPr>
          <p:cNvPr id="11" name="Text 9"/>
          <p:cNvSpPr txBox="1"/>
          <p:nvPr/>
        </p:nvSpPr>
        <p:spPr>
          <a:xfrm>
            <a:off x="1097280" y="3904488"/>
            <a:ext cx="10515600" cy="777240"/>
          </a:xfrm>
          <a:prstGeom prst="rect">
            <a:avLst/>
          </a:prstGeom>
          <a:noFill/>
          <a:ln/>
        </p:spPr>
        <p:txBody>
          <a:bodyPr wrap="square" lIns="0" tIns="0" rIns="0" bIns="0" rtlCol="0" anchor="t"/>
          <a:lstStyle/>
          <a:p>
            <a:pPr indent="0" marL="0">
              <a:buNone/>
            </a:pPr>
            <a:r>
              <a:rPr lang="en-US" sz="1600" b="1" dirty="0">
                <a:solidFill>
                  <a:schemeClr val="tx1"/>
                </a:solidFill>
              </a:rPr>
              <a:t>D. Thesmar et A. Landier — </a:t>
            </a:r>
            <a:pPr indent="0" marL="0">
              <a:buNone/>
            </a:pPr>
            <a:r>
              <a:rPr lang="en-US" sz="1600" u="sng" dirty="0">
                <a:solidFill>
                  <a:schemeClr val="tx1"/>
                </a:solidFill>
                <a:hlinkClick r:id="rId4" invalidUrl="" action="" tgtFrame="" tooltip="" history="1" highlightClick="0" endSnd="0">
                  <a:extLst>
                    <a:ext uri="{A12FA001-AC4F-418D-AE19-62706E023703}">
                      <ahyp:hlinkClr xmlns:ahyp="http://schemas.microsoft.com/office/drawing/2018/hyperlinkcolor" val="tx"/>
                    </a:ext>
                  </a:extLst>
                </a:hlinkClick>
              </a:rPr>
              <a:t>« La capitalisation n'est pas la recette miracle pour les retraites »</a:t>
            </a:r>
            <a:endParaRPr lang="en-US" sz="1600" dirty="0"/>
          </a:p>
          <a:p>
            <a:pPr indent="0" marL="0">
              <a:buNone/>
            </a:pPr>
            <a:r>
              <a:rPr lang="en-US" sz="1400" dirty="0">
                <a:solidFill>
                  <a:schemeClr val="accent5"/>
                </a:solidFill>
              </a:rPr>
              <a:t>L'Express, 8 septembre 2026</a:t>
            </a:r>
            <a:endParaRPr lang="en-US" sz="1600" dirty="0"/>
          </a:p>
        </p:txBody>
      </p:sp>
      <p:sp>
        <p:nvSpPr>
          <p:cNvPr id="12" name="Shape 10"/>
          <p:cNvSpPr/>
          <p:nvPr/>
        </p:nvSpPr>
        <p:spPr>
          <a:xfrm>
            <a:off x="548640" y="4764024"/>
            <a:ext cx="329184" cy="329184"/>
          </a:xfrm>
          <a:prstGeom prst="ellipse">
            <a:avLst/>
          </a:prstGeom>
          <a:solidFill>
            <a:schemeClr val="tx2"/>
          </a:solidFill>
          <a:ln w="12700">
            <a:solidFill>
              <a:schemeClr val="tx2"/>
            </a:solidFill>
            <a:prstDash val="solid"/>
          </a:ln>
        </p:spPr>
      </p:sp>
      <p:sp>
        <p:nvSpPr>
          <p:cNvPr id="13" name="Text 11"/>
          <p:cNvSpPr txBox="1"/>
          <p:nvPr/>
        </p:nvSpPr>
        <p:spPr>
          <a:xfrm>
            <a:off x="1097280" y="4672584"/>
            <a:ext cx="10515600" cy="777240"/>
          </a:xfrm>
          <a:prstGeom prst="rect">
            <a:avLst/>
          </a:prstGeom>
          <a:noFill/>
          <a:ln/>
        </p:spPr>
        <p:txBody>
          <a:bodyPr wrap="square" lIns="0" tIns="0" rIns="0" bIns="0" rtlCol="0" anchor="t"/>
          <a:lstStyle/>
          <a:p>
            <a:pPr indent="0" marL="0">
              <a:buNone/>
            </a:pPr>
            <a:r>
              <a:rPr lang="en-US" sz="1600" b="1" dirty="0">
                <a:solidFill>
                  <a:schemeClr val="tx1"/>
                </a:solidFill>
              </a:rPr>
              <a:t>Adrien Bar Hiyé — </a:t>
            </a:r>
            <a:pPr indent="0" marL="0">
              <a:buNone/>
            </a:pPr>
            <a:r>
              <a:rPr lang="en-US" sz="1600" u="sng" dirty="0">
                <a:solidFill>
                  <a:schemeClr val="tx1"/>
                </a:solidFill>
                <a:hlinkClick r:id="rId5" invalidUrl="" action="" tgtFrame="" tooltip="" history="1" highlightClick="0" endSnd="0">
                  <a:extLst>
                    <a:ext uri="{A12FA001-AC4F-418D-AE19-62706E023703}">
                      <ahyp:hlinkClr xmlns:ahyp="http://schemas.microsoft.com/office/drawing/2018/hyperlinkcolor" val="tx"/>
                    </a:ext>
                  </a:extLst>
                </a:hlinkClick>
              </a:rPr>
              <a:t>La retraite par capitalisation a le vent en poupe dans la campagne présidentielle 2027</a:t>
            </a:r>
            <a:endParaRPr lang="en-US" sz="1600" dirty="0"/>
          </a:p>
          <a:p>
            <a:pPr indent="0" marL="0">
              <a:buNone/>
            </a:pPr>
            <a:r>
              <a:rPr lang="en-US" sz="1400" dirty="0">
                <a:solidFill>
                  <a:schemeClr val="accent5"/>
                </a:solidFill>
              </a:rPr>
              <a:t>Journal du Net, 21 août 2026</a:t>
            </a:r>
            <a:endParaRPr lang="en-US" sz="1600" dirty="0"/>
          </a:p>
        </p:txBody>
      </p:sp>
      <p:sp>
        <p:nvSpPr>
          <p:cNvPr id="14" name="Shape 12"/>
          <p:cNvSpPr/>
          <p:nvPr/>
        </p:nvSpPr>
        <p:spPr>
          <a:xfrm>
            <a:off x="548640" y="5532120"/>
            <a:ext cx="329184" cy="329184"/>
          </a:xfrm>
          <a:prstGeom prst="ellipse">
            <a:avLst/>
          </a:prstGeom>
          <a:solidFill>
            <a:schemeClr val="tx2"/>
          </a:solidFill>
          <a:ln w="12700">
            <a:solidFill>
              <a:schemeClr val="tx2"/>
            </a:solidFill>
            <a:prstDash val="solid"/>
          </a:ln>
        </p:spPr>
      </p:sp>
      <p:sp>
        <p:nvSpPr>
          <p:cNvPr id="15" name="Text 13"/>
          <p:cNvSpPr txBox="1"/>
          <p:nvPr/>
        </p:nvSpPr>
        <p:spPr>
          <a:xfrm>
            <a:off x="1097280" y="5440680"/>
            <a:ext cx="10515600" cy="777240"/>
          </a:xfrm>
          <a:prstGeom prst="rect">
            <a:avLst/>
          </a:prstGeom>
          <a:noFill/>
          <a:ln/>
        </p:spPr>
        <p:txBody>
          <a:bodyPr wrap="square" lIns="0" tIns="0" rIns="0" bIns="0" rtlCol="0" anchor="t"/>
          <a:lstStyle/>
          <a:p>
            <a:pPr indent="0" marL="0">
              <a:buNone/>
            </a:pPr>
            <a:r>
              <a:rPr lang="en-US" sz="1600" b="1" dirty="0">
                <a:solidFill>
                  <a:schemeClr val="tx1"/>
                </a:solidFill>
              </a:rPr>
              <a:t>Vidéo YouTube — </a:t>
            </a:r>
            <a:pPr indent="0" marL="0">
              <a:buNone/>
            </a:pPr>
            <a:r>
              <a:rPr lang="en-US" sz="1600" u="sng" dirty="0">
                <a:solidFill>
                  <a:schemeClr val="tx1"/>
                </a:solidFill>
                <a:hlinkClick r:id="rId6" invalidUrl="" action="" tgtFrame="" tooltip="" history="1" highlightClick="0" endSnd="0">
                  <a:extLst>
                    <a:ext uri="{A12FA001-AC4F-418D-AE19-62706E023703}">
                      <ahyp:hlinkClr xmlns:ahyp="http://schemas.microsoft.com/office/drawing/2018/hyperlinkcolor" val="tx"/>
                    </a:ext>
                  </a:extLst>
                </a:hlinkClick>
              </a:rPr>
              <a:t>Retraite par capitalisation : ce qu'il faut savoir</a:t>
            </a:r>
            <a:endParaRPr lang="en-US" sz="1600" dirty="0"/>
          </a:p>
          <a:p>
            <a:pPr indent="0" marL="0">
              <a:buNone/>
            </a:pPr>
            <a:r>
              <a:rPr lang="en-US" sz="1400" dirty="0">
                <a:solidFill>
                  <a:schemeClr val="accent5"/>
                </a:solidFill>
              </a:rPr>
              <a:t>Chaîne non identifiée</a:t>
            </a:r>
            <a:endParaRPr lang="en-US" sz="16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29</a:t>
            </a:fld>
            <a:endParaRPr lang="en-US"/>
          </a:p>
        </p:txBody>
      </p:sp>
    </p:spTree>
  </p:cSld>
  <p:clrMapOvr>
    <a:masterClrMapping/>
  </p:clrMapOvr>
</p:sld>
</file>

<file path=ppt/theme/theme1.xml><?xml version="1.0" encoding="utf-8"?>
<a:theme xmlns:a="http://schemas.openxmlformats.org/drawingml/2006/main" name="Pauvrete France">
  <a:themeElements>
    <a:clrScheme name="Pauvrete France">
      <a:dk1>
        <a:srgbClr val="1A1A1A"/>
      </a:dk1>
      <a:lt1>
        <a:srgbClr val="FFFFFF"/>
      </a:lt1>
      <a:dk2>
        <a:srgbClr val="1F2A44"/>
      </a:dk2>
      <a:lt2>
        <a:srgbClr val="F1F3F7"/>
      </a:lt2>
      <a:accent1>
        <a:srgbClr val="2A6FC9"/>
      </a:accent1>
      <a:accent2>
        <a:srgbClr val="C8541F"/>
      </a:accent2>
      <a:accent3>
        <a:srgbClr val="12805A"/>
      </a:accent3>
      <a:accent4>
        <a:srgbClr val="C9C8C2"/>
      </a:accent4>
      <a:accent5>
        <a:srgbClr val="5A5955"/>
      </a:accent5>
      <a:accent6>
        <a:srgbClr val="CADCFC"/>
      </a:accent6>
      <a:hlink>
        <a:srgbClr val="2A6FC9"/>
      </a:hlink>
      <a:folHlink>
        <a:srgbClr val="6250D6"/>
      </a:folHlink>
    </a:clrScheme>
    <a:fontScheme name="Pauvrete Fran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Trois débats économiques</dc:title>
  <dc:subject>PptxGenJS Presentation</dc:subject>
  <dc:creator>PptxGenJS</dc:creator>
  <cp:lastModifiedBy>PptxGenJS</cp:lastModifiedBy>
  <cp:revision>1</cp:revision>
  <dcterms:created xsi:type="dcterms:W3CDTF">2026-10-19T21:12:02Z</dcterms:created>
  <dcterms:modified xsi:type="dcterms:W3CDTF">2026-10-19T21:12:02Z</dcterms:modified>
</cp:coreProperties>
</file>